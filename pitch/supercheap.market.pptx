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SuperCheap is an AI-native B2C marketplace for affordable products from Chinese factories and suppliers. Shoppers can buy on the web, in the app, or through an MCP-compatible AI assistant.</a:t>
            </a:r>
          </a:p>
          <a:p/>
          <a:p>
            <a:r>
              <a:t>Image note: the phone composition is a polished illustration based on real SuperCheap app screens (app home and catalog results). It is not a raw evidence screenshot. Prices shown are in THB, as in the source screens; they are not converted and do not represent current U.S. pricing.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frictions are qualitative descriptions of the category, based on the founder's operating experience and the earlier marketplace launch.</a:t>
            </a:r>
          </a:p>
          <a:p/>
          <a:p>
            <a:r>
              <a:t>Size hesitation is supported by the earlier survey (see slide 5). Do not read it as a share of all shoppers.</a:t>
            </a:r>
          </a:p>
          <a:p/>
          <a:p>
            <a:r>
              <a:t>"People start in an AI assistant": AI-referred visits to U.S. retail sites are growing quickly (Adobe, see slide 7). These are referral visits, not purchases made by agents.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unedited SuperCheap screenshots supplied by the founder (English UI): catalog search results for "vintage hoodie" in the SuperCheap app, and SuperCheap product results rendered inside Claude through the SuperCheap MCP connector.</a:t>
            </a:r>
          </a:p>
          <a:p/>
          <a:p>
            <a:r>
              <a:t>The warm frame and serif caption on the right only signal "this is Claude"; they are not an Anthropic logo or an endorsement. No partnership is implied.</a:t>
            </a:r>
          </a:p>
          <a:p/>
          <a:p>
            <a:r>
              <a:t>Prices are in Thai baht (THB) because the screens were captured on the Thai market setting. They are not converted and do not represent U.S. pricing.</a:t>
            </a:r>
          </a:p>
          <a:p/>
          <a:p>
            <a:r>
              <a:t>"Same checkout": the assistant prepares a quote and payment link; the shopper pays through SuperCheap's secure checkout.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chat panel is an illustrative conversation mapped to the four steps. It is not a screenshot; the real Claude result view is on slide 3. The panel is deliberately generic: it represents the shopper's own assistant, not a SuperCheap-built chat.</a:t>
            </a:r>
          </a:p>
          <a:p/>
          <a:p>
            <a:r>
              <a:t>Client chips: Claude and ChatGPT are the clients demonstrated in our materials. "+ other MCP clients" is the interoperability direction. Grok and Meta AI are not shown because their support for third-party MCP connectors has not been verified; add them once it is. No partnership with OpenAI, Anthropic, xAI or Meta is implied. ChatGPT app approval was described as pending; do not call it published unless verified.</a:t>
            </a:r>
          </a:p>
          <a:p/>
          <a:p>
            <a:r>
              <a:t>What exists in the customer MCP: catalog search and product details, cart, checkout quote and payment link, order list and tracking, and support conversations.</a:t>
            </a:r>
          </a:p>
          <a:p>
            <a:r>
              <a:t>- Anonymous discovery is a founder-described capability; the repository supports public discovery when enabled by configuration. It has not been independently production-tested in this handoff.</a:t>
            </a:r>
          </a:p>
          <a:p>
            <a:r>
              <a:t>- Cart, checkout, orders and support require the shopper to sign in.</a:t>
            </a:r>
          </a:p>
          <a:p>
            <a:r>
              <a:t>- Checkout is customer-approved: the assistant prepares a quote and payment link; the shopper reviews and pays in SuperCheap's secure checkout. The agent cannot charge without approval.</a:t>
            </a:r>
          </a:p>
          <a:p>
            <a:r>
              <a:t>- Size guidance relies on available supplier size charts and the shopper's measurements. A dedicated personalized-measurement MCP tool has not been verified.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Survey: in the earlier marketplace launch, uncertainty about size was the most frequently named reason for hesitation before payment. It averaged about 32% of survey responses (26–41% by week), from self-selected weekly samples of n=50–393. This is 32% of responses, not 32% of all shoppers. No controlled experiment has measured a conversion uplift from fit guidance.</a:t>
            </a:r>
          </a:p>
          <a:p/>
          <a:p>
            <a:r>
              <a:t>How it works:</a:t>
            </a:r>
          </a:p>
          <a:p>
            <a:r>
              <a:t>- AI extracts and translates size information from supplier listings.</a:t>
            </a:r>
          </a:p>
          <a:p>
            <a:r>
              <a:t>- The fit recommendation itself is measurement- and chart-based (a standard algorithm, not an LLM).</a:t>
            </a:r>
          </a:p>
          <a:p>
            <a:r>
              <a:t>- Warehouse photos: the founder describes the shopper seeing photos of the actual item at the warehouse and being able to decline the parcel before it ships. The customer MCP includes order tools for replacement decisions and cancellation requests. Refund terms for a declined item are not stated here; confirm before presenting externally.</a:t>
            </a:r>
          </a:p>
          <a:p>
            <a:r>
              <a:t>- Post-order warehouse photo and safety checks can also use AI. These are separate systems from fit guidance.</a:t>
            </a:r>
          </a:p>
          <a:p/>
          <a:p>
            <a:r>
              <a:t>The image is a generated illustration, not a product screenshot.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Thesis: AI now handles work that used to need a reseller layer and a large manual team. This is a claim about the operating model, not about Temu's scale, catalog, sales or logistics.</a:t>
            </a:r>
          </a:p>
          <a:p/>
          <a:p>
            <a:r>
              <a:t>What the code confirms:</a:t>
            </a:r>
          </a:p>
          <a:p>
            <a:r>
              <a:t>- Catalog: AI structures and translates supplier/factory text, photos, attributes and size charts. Missing specifications are not fabricated. Sources include suppliers and platforms; the share that are factories is unverified. The current catalog size is not verified (the 13M SKU figure from the older deck is not used).</a:t>
            </a:r>
          </a:p>
          <a:p>
            <a:r>
              <a:t>- Support: an internal ticket board feeds customer requests and order snapshots to agents, which gather status/tracking and prepare replies or actions. Staff replies via MCP are reviewed; people can intervene or take over. Some direct logistics actions are staff REST endpoints rather than SuperCheap MCP tools; the workflow is not fully autonomous.</a:t>
            </a:r>
          </a:p>
          <a:p>
            <a:r>
              <a:t>- Growth: creator discovery/evaluation, email outreach and campaign/publication and cost records through MCP tooling. Outreach is reviewed. No automatic revenue attribution or measured campaign ROI is claimed.</a:t>
            </a:r>
          </a:p>
          <a:p/>
          <a:p>
            <a:r>
              <a:t>Economics: reducing reliance on resellers should reduce added markup and operating expense, supporting lower average prices. This is an expected benefit, not a measured current price or cost advantage.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(recheck before external use):</a:t>
            </a:r>
          </a:p>
          <a:p>
            <a:r>
              <a:t>- U.S. Census Bureau, Quarterly Retail E-Commerce Sales, 2nd Quarter 2026 (released 18 Aug 2026): $340.2B, seasonally adjusted, +12.2% YoY, 17.1% of total retail sales. https://www2.census.gov/retail/releases/historical/ecomm/26q2.pdf</a:t>
            </a:r>
          </a:p>
          <a:p>
            <a:r>
              <a:t>  This is one quarter's total for all U.S. e-commerce. It is not an annual TAM and not the market for affordable imports.</a:t>
            </a:r>
          </a:p>
          <a:p>
            <a:r>
              <a:t>- Adobe Digital Insights: AI-referred visits to U.S. retail sites rose 71% YoY in September 2026. These are visits from links clicked in AI interfaces, not purchases made by agents. Adobe also reports higher conversion (+90%) and revenue per visit (+83%) than non-AI referrals; that is correlational and says nothing about SuperCheap performance. https://business.adobe.com/blog/ai-traffic-higher-revenue-per-visit-retail-holiday</a:t>
            </a:r>
          </a:p>
          <a:p>
            <a:r>
              <a:t>- OpenAI DevDay 2026 recap: 1.2B weekly ChatGPT users globally. Not U.S.-only, not shopping users, not app/connector users. https://openai.com/index/devday-2026-recap/</a:t>
            </a:r>
          </a:p>
          <a:p/>
          <a:p>
            <a:r>
              <a:t>These three figures are not summed into a TAM, and the ChatGPT audience is not an estimate of shoppers SuperCheap can reach. No official Claude consumer WAU/MAU or connector usage figures were verified.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review as of 31 October 2026 (official public sources only):</a:t>
            </a:r>
          </a:p>
          <a:p>
            <a:r>
              <a:t>- Temu: the partner platform documentation covers seller and ISV integrations with scoped seller authorization. No publicly documented end-to-end buyer shopping MCP was found. https://partner.temu.com/documentation?menu_code=38e79b35d2cb463d85619c1c786dd303</a:t>
            </a:r>
          </a:p>
          <a:p>
            <a:r>
              <a:t>- AliExpress: product, affiliate and developer APIs exist. These are not equivalent to a documented customer MCP lifecycle from shopping to order support. https://developer.alibaba.com/docs/doc.htm?articleId=45803&amp;docType=2&amp;treeId=674 (older reference; availability uncertain)</a:t>
            </a:r>
          </a:p>
          <a:p>
            <a:r>
              <a:t>- SuperCheap: customer-facing MCP with search, product details, cart, quote/payment link, order updates and support.</a:t>
            </a:r>
          </a:p>
          <a:p/>
          <a:p>
            <a:r>
              <a:t>Reseller row: "Common" reflects the founder's market view that both marketplaces host many third-party reseller listings that add markup on top of supplier prices. It is not an audited share. "Reduced by design" means SuperCheap sources from suppliers and platforms and uses AI instead of a reseller layer; not every source is a factory, and lower prices are an expected effect, not a measured one.</a:t>
            </a:r>
          </a:p>
          <a:p/>
          <a:p>
            <a:r>
              <a:t>This does not prove competitors have no private integrations. Temu and AliExpress terms restrict scraping and some automated access or purchasing (regional terms: https://www.temu.com/mt/terms-of-use.html ; https://terms.alicdn.com/legal-agreement/terms/suit_bu1_aliexpress/suit_bu1_aliexpress202204182115_66077.html ), but that does not establish that all user-authorized AI assistance is forbidden, and there is no evidence they are losing sales because of it.</a:t>
            </a:r>
          </a:p>
          <a:p/>
          <a:p>
            <a:r>
              <a:t>Context, not direct comparables: Shopify's Shop MCP spans a Global Catalog and Storefront Catalog (1B+ products across merchants, carts, Shop Pay checkout, order lookup). Walmart and eBay have official agent initiatives. SuperCheap is therefore not "the only agent-friendly commerce platform". The opportunity is the combination on the slide.</a:t>
            </a:r>
          </a:p>
          <a:p>
            <a:r>
              <a:t>https://shopify.dev/docs/agents/catalog</a:t>
            </a:r>
          </a:p>
          <a:p>
            <a:r>
              <a:t>https://shopify.dev/changelog/posts/add-shopping-and-shop-pay-checkout-to-any-agent-with-shop-mcp</a:t>
            </a:r>
          </a:p>
          <a:p>
            <a:r>
              <a:t>https://corporate.walmart.com/news/2026/10/Making-It-Possible-for-Agents-to-Shop-on-Behalf-of-Customers</a:t>
            </a:r>
          </a:p>
          <a:p>
            <a:r>
              <a:t>https://www.developer.ebay.com/develop/tools/ai-tools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rate: the founder states current pricing targets about 20% per order (the earlier 10% figure is obsolete). This is platform commission/revenue before costs. It is not net profit and not a demonstrated average from completed SuperCheap orders. Costs include payments, fulfillment-related expenses, refunds, acquisition and service. GMV, commission, margin and net profit are not interchangeable.</a:t>
            </a:r>
          </a:p>
          <a:p/>
          <a:p>
            <a:r>
              <a:t>The three "later" revenue lines are prospective roadmap options, not current revenue. No fundraising amount or market-share revenue projection is included.</a:t>
            </a:r>
          </a:p>
          <a:p/>
          <a:p>
            <a:r>
              <a:t>An unclear dictated word ("Samsung") was mentioned in relation to this slide. No Samsung partnership or business fact was supplied, so it is left out pending clarification.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Historical results from the founder's earlier marketplace launch of the same model in a different region. They are not SuperCheap orders and not current traction. The prior product name and region are intentionally omitted per the founder.</a:t>
            </a:r>
          </a:p>
          <a:p/>
          <a:p>
            <a:r>
              <a:t>Provenance: $489K GMV, 14.3K orders, 7.6K buyers and ~$8 paid CAC per buyer appear in the prior application and legacy deck. They have not been independently reconciled to raw financial exports.</a:t>
            </a:r>
          </a:p>
          <a:p/>
          <a:p>
            <a:r>
              <a:t>Other legacy figures ($1.3M annualized GMV run-rate, ~$0.09 TikTok CPI, AOV, repeat rate) exist but are omitted. The annualized run-rate is GMV, never ARR.</a:t>
            </a:r>
          </a:p>
          <a:p/>
          <a:p>
            <a:r>
              <a:t>Legacy funnel: checkout to proceed-to-payment conversion was 22%, 17% and 12% across reported periods. This is one funnel step, not all visitors, and size was not the only reason for drop-off.</a:t>
            </a:r>
          </a:p>
          <a:p/>
          <a:p>
            <a:r>
              <a:t>Current launch (background only, as of 28 Oct 2026): web marketplace live, app in review, no purchases reported yet. Not shown on slides per the founder.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Aleksei Balchunas, solo founder and technical lead.</a:t>
            </a:r>
          </a:p>
          <a:p>
            <a:r>
              <a:t>- Hypee (photo/video editor): acquired by Yandex in a transaction valued at roughly $3.1M.</a:t>
            </a:r>
          </a:p>
          <a:p>
            <a:r>
              <a:t>- AI Boost (AI photo/video product): sold for roughly $450K.</a:t>
            </a:r>
          </a:p>
          <a:p>
            <a:r>
              <a:t>- Built SuperCheap's AI and software stack himself.</a:t>
            </a:r>
          </a:p>
          <a:p>
            <a:r>
              <a:t>- Previously launched the same marketplace model and scaled it to real orders (slide 10).</a:t>
            </a:r>
          </a:p>
          <a:p/>
          <a:p>
            <a:r>
              <a:t>Full-time since August 2026. Self-funded; no outside investment. Not actively fundraising yet: the focus is first traction, funnel improvement and an initial viable business. No round or ask is stated.</a:t>
            </a:r>
          </a:p>
          <a:p/>
          <a:p>
            <a:r>
              <a:t>Background, not slide content: HARD TAB LLC is the umbrella for MVP launches; a successful project can move its IP into a dedicated company. Singapore is the preferred long-term base; a Delaware C Corp is acceptable. Nothing here is a committed legal structure.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for less" is the goal of the model (no reseller layer, lean AI operations), not a measured price advantage.</a:t>
            </a:r>
          </a:p>
          <a:p/>
          <a:p>
            <a:r>
              <a:t>Next steps reflect the founder's stated focus: first U.S. traction, funnel improvement and an initial viable business before fundraising. The acquisition playbook was validated in a different region (slide 10); it has not yet been proven in the U.S. No funding round or ask is stated.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jp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EFCF8"/>
        </a:solidFill>
        <a:effectLst/>
      </p:bgPr>
    </p:bg>
    <p:spTree>
      <p:nvGrpSpPr>
        <p:cNvPr id="1" name=""/>
        <p:cNvGrpSpPr/>
        <p:nvPr/>
      </p:nvGrpSpPr>
      <p:grpSpPr/>
      <p:pic>
        <p:nvPicPr>
          <p:cNvPr id="2" name="Picture 1" descr="wordmark_tight.png"/>
          <p:cNvPicPr>
            <a:picLocks noChangeAspect="1"/>
          </p:cNvPicPr>
          <p:nvPr/>
        </p:nvPicPr>
        <p:blipFill>
          <a:blip r:embed="rId2"/>
          <a:stretch>
            <a:fillRect/>
          </a:stretch>
        </p:blipFill>
        <p:spPr>
          <a:xfrm>
            <a:off x="713232" y="713232"/>
            <a:ext cx="2286000" cy="298360"/>
          </a:xfrm>
          <a:prstGeom prst="rect">
            <a:avLst/>
          </a:prstGeom>
        </p:spPr>
      </p:pic>
      <p:sp>
        <p:nvSpPr>
          <p:cNvPr id="3" name="TextBox 2"/>
          <p:cNvSpPr txBox="1"/>
          <p:nvPr/>
        </p:nvSpPr>
        <p:spPr>
          <a:xfrm>
            <a:off x="658368" y="1783080"/>
            <a:ext cx="5852160" cy="2194560"/>
          </a:xfrm>
          <a:prstGeom prst="rect">
            <a:avLst/>
          </a:prstGeom>
          <a:noFill/>
        </p:spPr>
        <p:txBody>
          <a:bodyPr wrap="square" lIns="0" rIns="0" tIns="0" bIns="0" anchor="t"/>
          <a:lstStyle/>
          <a:p>
            <a:pPr algn="l">
              <a:lnSpc>
                <a:spcPct val="92000"/>
              </a:lnSpc>
            </a:pPr>
            <a:r>
              <a:rPr sz="6200" b="1" i="0" spc="-150">
                <a:solidFill>
                  <a:srgbClr val="151515"/>
                </a:solidFill>
                <a:latin typeface="Arial"/>
                <a:ea typeface="Arial"/>
                <a:cs typeface="Arial"/>
              </a:rPr>
              <a:t>AI-native</a:t>
            </a:r>
          </a:p>
          <a:p>
            <a:pPr algn="l">
              <a:lnSpc>
                <a:spcPct val="92000"/>
              </a:lnSpc>
            </a:pPr>
            <a:r>
              <a:rPr sz="6200" b="1" i="0" spc="-150">
                <a:solidFill>
                  <a:srgbClr val="151515"/>
                </a:solidFill>
                <a:latin typeface="Arial"/>
                <a:ea typeface="Arial"/>
                <a:cs typeface="Arial"/>
              </a:rPr>
              <a:t>marketplace</a:t>
            </a:r>
          </a:p>
        </p:txBody>
      </p:sp>
      <p:sp>
        <p:nvSpPr>
          <p:cNvPr id="4" name="TextBox 3"/>
          <p:cNvSpPr txBox="1"/>
          <p:nvPr/>
        </p:nvSpPr>
        <p:spPr>
          <a:xfrm>
            <a:off x="713232" y="3767328"/>
            <a:ext cx="4937760" cy="822960"/>
          </a:xfrm>
          <a:prstGeom prst="rect">
            <a:avLst/>
          </a:prstGeom>
          <a:noFill/>
        </p:spPr>
        <p:txBody>
          <a:bodyPr wrap="square" lIns="0" rIns="0" tIns="0" bIns="0" anchor="t"/>
          <a:lstStyle/>
          <a:p>
            <a:pPr algn="l">
              <a:lnSpc>
                <a:spcPct val="110000"/>
              </a:lnSpc>
            </a:pPr>
            <a:r>
              <a:rPr sz="2100" b="0" i="0">
                <a:solidFill>
                  <a:srgbClr val="666A68"/>
                </a:solidFill>
                <a:latin typeface="Arial"/>
                <a:ea typeface="Arial"/>
                <a:cs typeface="Arial"/>
              </a:rPr>
              <a:t>Shop on the web, in the app,</a:t>
            </a:r>
          </a:p>
          <a:p>
            <a:pPr algn="l">
              <a:lnSpc>
                <a:spcPct val="110000"/>
              </a:lnSpc>
            </a:pPr>
            <a:r>
              <a:rPr sz="2100" b="0" i="0">
                <a:solidFill>
                  <a:srgbClr val="666A68"/>
                </a:solidFill>
                <a:latin typeface="Arial"/>
                <a:ea typeface="Arial"/>
                <a:cs typeface="Arial"/>
              </a:rPr>
              <a:t>or through an AI agent.</a:t>
            </a:r>
          </a:p>
        </p:txBody>
      </p:sp>
      <p:sp>
        <p:nvSpPr>
          <p:cNvPr id="5" name="Oval 4"/>
          <p:cNvSpPr/>
          <p:nvPr/>
        </p:nvSpPr>
        <p:spPr>
          <a:xfrm>
            <a:off x="713232" y="4754880"/>
            <a:ext cx="786384" cy="786384"/>
          </a:xfrm>
          <a:prstGeom prst="ellipse">
            <a:avLst/>
          </a:prstGeom>
          <a:solidFill>
            <a:srgbClr val="F0FFD9"/>
          </a:solidFill>
          <a:ln>
            <a:noFill/>
          </a:ln>
          <a:effectLst/>
        </p:spPr>
        <p:txBody>
          <a:bodyPr rtlCol="0" anchor="ctr"/>
          <a:lstStyle/>
          <a:p>
            <a:pPr algn="ctr"/>
          </a:p>
        </p:txBody>
      </p:sp>
      <p:pic>
        <p:nvPicPr>
          <p:cNvPr id="6" name="Picture 5" descr="globe_dark.png"/>
          <p:cNvPicPr>
            <a:picLocks noChangeAspect="1"/>
          </p:cNvPicPr>
          <p:nvPr/>
        </p:nvPicPr>
        <p:blipFill>
          <a:blip r:embed="rId3"/>
          <a:stretch>
            <a:fillRect/>
          </a:stretch>
        </p:blipFill>
        <p:spPr>
          <a:xfrm>
            <a:off x="925555" y="4967203"/>
            <a:ext cx="361736" cy="361736"/>
          </a:xfrm>
          <a:prstGeom prst="rect">
            <a:avLst/>
          </a:prstGeom>
        </p:spPr>
      </p:pic>
      <p:sp>
        <p:nvSpPr>
          <p:cNvPr id="7" name="TextBox 6"/>
          <p:cNvSpPr txBox="1"/>
          <p:nvPr/>
        </p:nvSpPr>
        <p:spPr>
          <a:xfrm>
            <a:off x="438912" y="5596128"/>
            <a:ext cx="1335024" cy="274320"/>
          </a:xfrm>
          <a:prstGeom prst="rect">
            <a:avLst/>
          </a:prstGeom>
          <a:noFill/>
        </p:spPr>
        <p:txBody>
          <a:bodyPr wrap="square" lIns="0" rIns="0" tIns="0" bIns="0" anchor="t"/>
          <a:lstStyle/>
          <a:p>
            <a:pPr algn="ctr"/>
            <a:r>
              <a:rPr sz="1200" b="1" i="0">
                <a:solidFill>
                  <a:srgbClr val="151515"/>
                </a:solidFill>
                <a:latin typeface="Arial"/>
                <a:ea typeface="Arial"/>
                <a:cs typeface="Arial"/>
              </a:rPr>
              <a:t>Web</a:t>
            </a:r>
          </a:p>
        </p:txBody>
      </p:sp>
      <p:sp>
        <p:nvSpPr>
          <p:cNvPr id="8" name="Oval 7"/>
          <p:cNvSpPr/>
          <p:nvPr/>
        </p:nvSpPr>
        <p:spPr>
          <a:xfrm>
            <a:off x="1920240" y="4754880"/>
            <a:ext cx="786384" cy="786384"/>
          </a:xfrm>
          <a:prstGeom prst="ellipse">
            <a:avLst/>
          </a:prstGeom>
          <a:solidFill>
            <a:srgbClr val="F0FFD9"/>
          </a:solidFill>
          <a:ln>
            <a:noFill/>
          </a:ln>
          <a:effectLst/>
        </p:spPr>
        <p:txBody>
          <a:bodyPr rtlCol="0" anchor="ctr"/>
          <a:lstStyle/>
          <a:p>
            <a:pPr algn="ctr"/>
          </a:p>
        </p:txBody>
      </p:sp>
      <p:pic>
        <p:nvPicPr>
          <p:cNvPr id="9" name="Picture 8" descr="phone_dark.png"/>
          <p:cNvPicPr>
            <a:picLocks noChangeAspect="1"/>
          </p:cNvPicPr>
          <p:nvPr/>
        </p:nvPicPr>
        <p:blipFill>
          <a:blip r:embed="rId4"/>
          <a:stretch>
            <a:fillRect/>
          </a:stretch>
        </p:blipFill>
        <p:spPr>
          <a:xfrm>
            <a:off x="2132563" y="4967203"/>
            <a:ext cx="361736" cy="361736"/>
          </a:xfrm>
          <a:prstGeom prst="rect">
            <a:avLst/>
          </a:prstGeom>
        </p:spPr>
      </p:pic>
      <p:sp>
        <p:nvSpPr>
          <p:cNvPr id="10" name="TextBox 9"/>
          <p:cNvSpPr txBox="1"/>
          <p:nvPr/>
        </p:nvSpPr>
        <p:spPr>
          <a:xfrm>
            <a:off x="1645920" y="5596128"/>
            <a:ext cx="1335024" cy="274320"/>
          </a:xfrm>
          <a:prstGeom prst="rect">
            <a:avLst/>
          </a:prstGeom>
          <a:noFill/>
        </p:spPr>
        <p:txBody>
          <a:bodyPr wrap="square" lIns="0" rIns="0" tIns="0" bIns="0" anchor="t"/>
          <a:lstStyle/>
          <a:p>
            <a:pPr algn="ctr"/>
            <a:r>
              <a:rPr sz="1200" b="1" i="0">
                <a:solidFill>
                  <a:srgbClr val="151515"/>
                </a:solidFill>
                <a:latin typeface="Arial"/>
                <a:ea typeface="Arial"/>
                <a:cs typeface="Arial"/>
              </a:rPr>
              <a:t>App</a:t>
            </a:r>
          </a:p>
        </p:txBody>
      </p:sp>
      <p:sp>
        <p:nvSpPr>
          <p:cNvPr id="11" name="Oval 10"/>
          <p:cNvSpPr/>
          <p:nvPr/>
        </p:nvSpPr>
        <p:spPr>
          <a:xfrm>
            <a:off x="3127248" y="4754880"/>
            <a:ext cx="786384" cy="786384"/>
          </a:xfrm>
          <a:prstGeom prst="ellipse">
            <a:avLst/>
          </a:prstGeom>
          <a:solidFill>
            <a:srgbClr val="F0FFD9"/>
          </a:solidFill>
          <a:ln>
            <a:noFill/>
          </a:ln>
          <a:effectLst/>
        </p:spPr>
        <p:txBody>
          <a:bodyPr rtlCol="0" anchor="ctr"/>
          <a:lstStyle/>
          <a:p>
            <a:pPr algn="ctr"/>
          </a:p>
        </p:txBody>
      </p:sp>
      <p:pic>
        <p:nvPicPr>
          <p:cNvPr id="12" name="Picture 11" descr="sparkle_dark.png"/>
          <p:cNvPicPr>
            <a:picLocks noChangeAspect="1"/>
          </p:cNvPicPr>
          <p:nvPr/>
        </p:nvPicPr>
        <p:blipFill>
          <a:blip r:embed="rId5"/>
          <a:stretch>
            <a:fillRect/>
          </a:stretch>
        </p:blipFill>
        <p:spPr>
          <a:xfrm>
            <a:off x="3339571" y="4967203"/>
            <a:ext cx="361736" cy="361736"/>
          </a:xfrm>
          <a:prstGeom prst="rect">
            <a:avLst/>
          </a:prstGeom>
        </p:spPr>
      </p:pic>
      <p:sp>
        <p:nvSpPr>
          <p:cNvPr id="13" name="TextBox 12"/>
          <p:cNvSpPr txBox="1"/>
          <p:nvPr/>
        </p:nvSpPr>
        <p:spPr>
          <a:xfrm>
            <a:off x="2852928" y="5596128"/>
            <a:ext cx="1335024" cy="274320"/>
          </a:xfrm>
          <a:prstGeom prst="rect">
            <a:avLst/>
          </a:prstGeom>
          <a:noFill/>
        </p:spPr>
        <p:txBody>
          <a:bodyPr wrap="square" lIns="0" rIns="0" tIns="0" bIns="0" anchor="t"/>
          <a:lstStyle/>
          <a:p>
            <a:pPr algn="ctr"/>
            <a:r>
              <a:rPr sz="1200" b="1" i="0">
                <a:solidFill>
                  <a:srgbClr val="151515"/>
                </a:solidFill>
                <a:latin typeface="Arial"/>
                <a:ea typeface="Arial"/>
                <a:cs typeface="Arial"/>
              </a:rPr>
              <a:t>AI agent</a:t>
            </a:r>
          </a:p>
        </p:txBody>
      </p:sp>
      <p:sp>
        <p:nvSpPr>
          <p:cNvPr id="14" name="Oval 13"/>
          <p:cNvSpPr/>
          <p:nvPr/>
        </p:nvSpPr>
        <p:spPr>
          <a:xfrm>
            <a:off x="3127248" y="4754880"/>
            <a:ext cx="786384" cy="786384"/>
          </a:xfrm>
          <a:prstGeom prst="ellipse">
            <a:avLst/>
          </a:prstGeom>
          <a:solidFill>
            <a:srgbClr val="F0FFD9"/>
          </a:solidFill>
          <a:ln w="28575">
            <a:solidFill>
              <a:srgbClr val="A3F75C"/>
            </a:solidFill>
          </a:ln>
          <a:effectLst/>
        </p:spPr>
        <p:txBody>
          <a:bodyPr rtlCol="0" anchor="ctr"/>
          <a:lstStyle/>
          <a:p>
            <a:pPr algn="ctr"/>
          </a:p>
        </p:txBody>
      </p:sp>
      <p:pic>
        <p:nvPicPr>
          <p:cNvPr id="15" name="Picture 14" descr="sparkle_dark.png"/>
          <p:cNvPicPr>
            <a:picLocks noChangeAspect="1"/>
          </p:cNvPicPr>
          <p:nvPr/>
        </p:nvPicPr>
        <p:blipFill>
          <a:blip r:embed="rId5"/>
          <a:stretch>
            <a:fillRect/>
          </a:stretch>
        </p:blipFill>
        <p:spPr>
          <a:xfrm>
            <a:off x="3339388" y="4967020"/>
            <a:ext cx="362102" cy="362102"/>
          </a:xfrm>
          <a:prstGeom prst="rect">
            <a:avLst/>
          </a:prstGeom>
        </p:spPr>
      </p:pic>
      <p:pic>
        <p:nvPicPr>
          <p:cNvPr id="16" name="Picture 15" descr="cover_phones_crop.png"/>
          <p:cNvPicPr>
            <a:picLocks noChangeAspect="1"/>
          </p:cNvPicPr>
          <p:nvPr/>
        </p:nvPicPr>
        <p:blipFill>
          <a:blip r:embed="rId6"/>
          <a:stretch>
            <a:fillRect/>
          </a:stretch>
        </p:blipFill>
        <p:spPr>
          <a:xfrm>
            <a:off x="5897880" y="347472"/>
            <a:ext cx="6240697" cy="6510528"/>
          </a:xfrm>
          <a:prstGeom prst="rect">
            <a:avLst/>
          </a:prstGeom>
        </p:spPr>
      </p:pic>
      <p:sp>
        <p:nvSpPr>
          <p:cNvPr id="17" name="TextBox 16"/>
          <p:cNvSpPr txBox="1"/>
          <p:nvPr/>
        </p:nvSpPr>
        <p:spPr>
          <a:xfrm>
            <a:off x="713232" y="6291072"/>
            <a:ext cx="3657600" cy="274320"/>
          </a:xfrm>
          <a:prstGeom prst="rect">
            <a:avLst/>
          </a:prstGeom>
          <a:noFill/>
        </p:spPr>
        <p:txBody>
          <a:bodyPr wrap="square" lIns="0" rIns="0" tIns="0" bIns="0" anchor="t"/>
          <a:lstStyle/>
          <a:p>
            <a:pPr algn="l"/>
            <a:r>
              <a:rPr sz="1100" b="0" i="0">
                <a:solidFill>
                  <a:srgbClr val="8A8F8C"/>
                </a:solidFill>
                <a:latin typeface="Arial"/>
                <a:ea typeface="Arial"/>
                <a:cs typeface="Arial"/>
              </a:rPr>
              <a:t>supercheap.market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6F4"/>
        </a:solidFill>
        <a:effectLst/>
      </p:bgPr>
    </p:bg>
    <p:spTree>
      <p:nvGrpSpPr>
        <p:cNvPr id="1" name=""/>
        <p:cNvGrpSpPr/>
        <p:nvPr/>
      </p:nvGrpSpPr>
      <p:grpSpPr/>
      <p:sp>
        <p:nvSpPr>
          <p:cNvPr id="2" name="TextBox 1"/>
          <p:cNvSpPr txBox="1"/>
          <p:nvPr/>
        </p:nvSpPr>
        <p:spPr>
          <a:xfrm>
            <a:off x="685800" y="566928"/>
            <a:ext cx="7315200" cy="274320"/>
          </a:xfrm>
          <a:prstGeom prst="rect">
            <a:avLst/>
          </a:prstGeom>
          <a:noFill/>
        </p:spPr>
        <p:txBody>
          <a:bodyPr wrap="square" lIns="0" rIns="0" tIns="0" bIns="0" anchor="t"/>
          <a:lstStyle/>
          <a:p>
            <a:pPr algn="l"/>
            <a:r>
              <a:rPr sz="1100" b="1" i="0" spc="200">
                <a:solidFill>
                  <a:srgbClr val="087F5B"/>
                </a:solidFill>
                <a:latin typeface="Arial"/>
                <a:ea typeface="Arial"/>
                <a:cs typeface="Arial"/>
              </a:rPr>
              <a:t>PROBLEM</a:t>
            </a:r>
          </a:p>
        </p:txBody>
      </p:sp>
      <p:sp>
        <p:nvSpPr>
          <p:cNvPr id="3" name="TextBox 2"/>
          <p:cNvSpPr txBox="1"/>
          <p:nvPr/>
        </p:nvSpPr>
        <p:spPr>
          <a:xfrm>
            <a:off x="685800" y="914400"/>
            <a:ext cx="4937760" cy="2377440"/>
          </a:xfrm>
          <a:prstGeom prst="rect">
            <a:avLst/>
          </a:prstGeom>
          <a:noFill/>
        </p:spPr>
        <p:txBody>
          <a:bodyPr wrap="square" lIns="0" rIns="0" tIns="0" bIns="0" anchor="t"/>
          <a:lstStyle/>
          <a:p>
            <a:pPr algn="l">
              <a:lnSpc>
                <a:spcPct val="95000"/>
              </a:lnSpc>
            </a:pPr>
            <a:r>
              <a:rPr sz="4200" b="1" i="0" spc="-100">
                <a:solidFill>
                  <a:srgbClr val="151515"/>
                </a:solidFill>
                <a:latin typeface="Arial"/>
                <a:ea typeface="Arial"/>
                <a:cs typeface="Arial"/>
              </a:rPr>
              <a:t>Cheap cross-border</a:t>
            </a:r>
          </a:p>
          <a:p>
            <a:pPr algn="l">
              <a:lnSpc>
                <a:spcPct val="95000"/>
              </a:lnSpc>
            </a:pPr>
            <a:r>
              <a:rPr sz="4200" b="1" i="0" spc="-100">
                <a:solidFill>
                  <a:srgbClr val="151515"/>
                </a:solidFill>
                <a:latin typeface="Arial"/>
                <a:ea typeface="Arial"/>
                <a:cs typeface="Arial"/>
              </a:rPr>
              <a:t>shopping is still</a:t>
            </a:r>
          </a:p>
          <a:p>
            <a:pPr algn="l">
              <a:lnSpc>
                <a:spcPct val="95000"/>
              </a:lnSpc>
            </a:pPr>
            <a:r>
              <a:rPr sz="4200" b="1" i="0" spc="-100">
                <a:solidFill>
                  <a:srgbClr val="151515"/>
                </a:solidFill>
                <a:latin typeface="Arial"/>
                <a:ea typeface="Arial"/>
                <a:cs typeface="Arial"/>
              </a:rPr>
              <a:t>hard work</a:t>
            </a:r>
          </a:p>
        </p:txBody>
      </p:sp>
      <p:sp>
        <p:nvSpPr>
          <p:cNvPr id="4" name="TextBox 3"/>
          <p:cNvSpPr txBox="1"/>
          <p:nvPr/>
        </p:nvSpPr>
        <p:spPr>
          <a:xfrm>
            <a:off x="685800" y="3017520"/>
            <a:ext cx="4480560" cy="1371600"/>
          </a:xfrm>
          <a:prstGeom prst="rect">
            <a:avLst/>
          </a:prstGeom>
          <a:noFill/>
        </p:spPr>
        <p:txBody>
          <a:bodyPr wrap="square" lIns="0" rIns="0" tIns="0" bIns="0" anchor="t"/>
          <a:lstStyle/>
          <a:p>
            <a:pPr algn="l">
              <a:lnSpc>
                <a:spcPct val="115000"/>
              </a:lnSpc>
            </a:pPr>
            <a:r>
              <a:rPr sz="1700" b="0" i="0">
                <a:solidFill>
                  <a:srgbClr val="666A68"/>
                </a:solidFill>
                <a:latin typeface="Arial"/>
                <a:ea typeface="Arial"/>
                <a:cs typeface="Arial"/>
              </a:rPr>
              <a:t>Prices are low, but four problems stand between the shopper and a confident purchase.</a:t>
            </a:r>
          </a:p>
        </p:txBody>
      </p:sp>
      <p:sp>
        <p:nvSpPr>
          <p:cNvPr id="5" name="TextBox 4"/>
          <p:cNvSpPr txBox="1"/>
          <p:nvPr/>
        </p:nvSpPr>
        <p:spPr>
          <a:xfrm>
            <a:off x="5989320" y="960120"/>
            <a:ext cx="640080" cy="457200"/>
          </a:xfrm>
          <a:prstGeom prst="rect">
            <a:avLst/>
          </a:prstGeom>
          <a:noFill/>
        </p:spPr>
        <p:txBody>
          <a:bodyPr wrap="square" lIns="0" rIns="0" tIns="0" bIns="0" anchor="t"/>
          <a:lstStyle/>
          <a:p>
            <a:pPr algn="l"/>
            <a:r>
              <a:rPr sz="2000" b="1" i="0">
                <a:solidFill>
                  <a:srgbClr val="087F5B"/>
                </a:solidFill>
                <a:latin typeface="Arial"/>
                <a:ea typeface="Arial"/>
                <a:cs typeface="Arial"/>
              </a:rPr>
              <a:t>01</a:t>
            </a:r>
          </a:p>
        </p:txBody>
      </p:sp>
      <p:sp>
        <p:nvSpPr>
          <p:cNvPr id="6" name="TextBox 5"/>
          <p:cNvSpPr txBox="1"/>
          <p:nvPr/>
        </p:nvSpPr>
        <p:spPr>
          <a:xfrm>
            <a:off x="6720840" y="960120"/>
            <a:ext cx="4800600" cy="1051560"/>
          </a:xfrm>
          <a:prstGeom prst="rect">
            <a:avLst/>
          </a:prstGeom>
          <a:noFill/>
        </p:spPr>
        <p:txBody>
          <a:bodyPr wrap="square" lIns="0" rIns="0" tIns="0" bIns="0" anchor="t"/>
          <a:lstStyle/>
          <a:p>
            <a:pPr algn="l">
              <a:spcAft>
                <a:spcPts val="400"/>
              </a:spcAft>
            </a:pPr>
            <a:r>
              <a:rPr sz="1900" b="1" i="0">
                <a:solidFill>
                  <a:srgbClr val="151515"/>
                </a:solidFill>
                <a:latin typeface="Arial"/>
                <a:ea typeface="Arial"/>
                <a:cs typeface="Arial"/>
              </a:rPr>
              <a:t>Listings are messy</a:t>
            </a:r>
          </a:p>
          <a:p>
            <a:pPr algn="l">
              <a:lnSpc>
                <a:spcPct val="112000"/>
              </a:lnSpc>
            </a:pPr>
            <a:r>
              <a:rPr sz="1400" b="0" i="0">
                <a:solidFill>
                  <a:srgbClr val="666A68"/>
                </a:solidFill>
                <a:latin typeface="Arial"/>
                <a:ea typeface="Arial"/>
                <a:cs typeface="Arial"/>
              </a:rPr>
              <a:t>Supplier pages arrive with rough translations, missing attributes and inconsistent size charts.</a:t>
            </a:r>
          </a:p>
        </p:txBody>
      </p:sp>
      <p:cxnSp>
        <p:nvCxnSpPr>
          <p:cNvPr id="7" name="Connector 6"/>
          <p:cNvCxnSpPr/>
          <p:nvPr/>
        </p:nvCxnSpPr>
        <p:spPr>
          <a:xfrm>
            <a:off x="5989320" y="2039112"/>
            <a:ext cx="5532120" cy="0"/>
          </a:xfrm>
          <a:prstGeom prst="line">
            <a:avLst/>
          </a:prstGeom>
          <a:ln w="9525">
            <a:solidFill>
              <a:srgbClr val="D7DAD8"/>
            </a:solidFill>
          </a:ln>
        </p:spPr>
      </p:cxnSp>
      <p:sp>
        <p:nvSpPr>
          <p:cNvPr id="8" name="TextBox 7"/>
          <p:cNvSpPr txBox="1"/>
          <p:nvPr/>
        </p:nvSpPr>
        <p:spPr>
          <a:xfrm>
            <a:off x="5989320" y="2203704"/>
            <a:ext cx="640080" cy="457200"/>
          </a:xfrm>
          <a:prstGeom prst="rect">
            <a:avLst/>
          </a:prstGeom>
          <a:noFill/>
        </p:spPr>
        <p:txBody>
          <a:bodyPr wrap="square" lIns="0" rIns="0" tIns="0" bIns="0" anchor="t"/>
          <a:lstStyle/>
          <a:p>
            <a:pPr algn="l"/>
            <a:r>
              <a:rPr sz="2000" b="1" i="0">
                <a:solidFill>
                  <a:srgbClr val="087F5B"/>
                </a:solidFill>
                <a:latin typeface="Arial"/>
                <a:ea typeface="Arial"/>
                <a:cs typeface="Arial"/>
              </a:rPr>
              <a:t>02</a:t>
            </a:r>
          </a:p>
        </p:txBody>
      </p:sp>
      <p:sp>
        <p:nvSpPr>
          <p:cNvPr id="9" name="TextBox 8"/>
          <p:cNvSpPr txBox="1"/>
          <p:nvPr/>
        </p:nvSpPr>
        <p:spPr>
          <a:xfrm>
            <a:off x="6720840" y="2203704"/>
            <a:ext cx="4800600" cy="1051560"/>
          </a:xfrm>
          <a:prstGeom prst="rect">
            <a:avLst/>
          </a:prstGeom>
          <a:noFill/>
        </p:spPr>
        <p:txBody>
          <a:bodyPr wrap="square" lIns="0" rIns="0" tIns="0" bIns="0" anchor="t"/>
          <a:lstStyle/>
          <a:p>
            <a:pPr algn="l">
              <a:spcAft>
                <a:spcPts val="400"/>
              </a:spcAft>
            </a:pPr>
            <a:r>
              <a:rPr sz="1900" b="1" i="0">
                <a:solidFill>
                  <a:srgbClr val="151515"/>
                </a:solidFill>
                <a:latin typeface="Arial"/>
                <a:ea typeface="Arial"/>
                <a:cs typeface="Arial"/>
              </a:rPr>
              <a:t>Size is hard to judge</a:t>
            </a:r>
          </a:p>
          <a:p>
            <a:pPr algn="l">
              <a:lnSpc>
                <a:spcPct val="112000"/>
              </a:lnSpc>
            </a:pPr>
            <a:r>
              <a:rPr sz="1400" b="0" i="0">
                <a:solidFill>
                  <a:srgbClr val="666A68"/>
                </a:solidFill>
                <a:latin typeface="Arial"/>
                <a:ea typeface="Arial"/>
                <a:cs typeface="Arial"/>
              </a:rPr>
              <a:t>Shoppers hesitate at payment because they can’t tell what will fit.</a:t>
            </a:r>
          </a:p>
        </p:txBody>
      </p:sp>
      <p:cxnSp>
        <p:nvCxnSpPr>
          <p:cNvPr id="10" name="Connector 9"/>
          <p:cNvCxnSpPr/>
          <p:nvPr/>
        </p:nvCxnSpPr>
        <p:spPr>
          <a:xfrm>
            <a:off x="5989320" y="3282696"/>
            <a:ext cx="5532120" cy="0"/>
          </a:xfrm>
          <a:prstGeom prst="line">
            <a:avLst/>
          </a:prstGeom>
          <a:ln w="9525">
            <a:solidFill>
              <a:srgbClr val="D7DAD8"/>
            </a:solidFill>
          </a:ln>
        </p:spPr>
      </p:cxnSp>
      <p:sp>
        <p:nvSpPr>
          <p:cNvPr id="11" name="TextBox 10"/>
          <p:cNvSpPr txBox="1"/>
          <p:nvPr/>
        </p:nvSpPr>
        <p:spPr>
          <a:xfrm>
            <a:off x="5989320" y="3447288"/>
            <a:ext cx="640080" cy="457200"/>
          </a:xfrm>
          <a:prstGeom prst="rect">
            <a:avLst/>
          </a:prstGeom>
          <a:noFill/>
        </p:spPr>
        <p:txBody>
          <a:bodyPr wrap="square" lIns="0" rIns="0" tIns="0" bIns="0" anchor="t"/>
          <a:lstStyle/>
          <a:p>
            <a:pPr algn="l"/>
            <a:r>
              <a:rPr sz="2000" b="1" i="0">
                <a:solidFill>
                  <a:srgbClr val="087F5B"/>
                </a:solidFill>
                <a:latin typeface="Arial"/>
                <a:ea typeface="Arial"/>
                <a:cs typeface="Arial"/>
              </a:rPr>
              <a:t>03</a:t>
            </a:r>
          </a:p>
        </p:txBody>
      </p:sp>
      <p:sp>
        <p:nvSpPr>
          <p:cNvPr id="12" name="TextBox 11"/>
          <p:cNvSpPr txBox="1"/>
          <p:nvPr/>
        </p:nvSpPr>
        <p:spPr>
          <a:xfrm>
            <a:off x="6720840" y="3447288"/>
            <a:ext cx="4800600" cy="1051560"/>
          </a:xfrm>
          <a:prstGeom prst="rect">
            <a:avLst/>
          </a:prstGeom>
          <a:noFill/>
        </p:spPr>
        <p:txBody>
          <a:bodyPr wrap="square" lIns="0" rIns="0" tIns="0" bIns="0" anchor="t"/>
          <a:lstStyle/>
          <a:p>
            <a:pPr algn="l">
              <a:spcAft>
                <a:spcPts val="400"/>
              </a:spcAft>
            </a:pPr>
            <a:r>
              <a:rPr sz="1900" b="1" i="0">
                <a:solidFill>
                  <a:srgbClr val="151515"/>
                </a:solidFill>
                <a:latin typeface="Arial"/>
                <a:ea typeface="Arial"/>
                <a:cs typeface="Arial"/>
              </a:rPr>
              <a:t>Middlemen add markup</a:t>
            </a:r>
          </a:p>
          <a:p>
            <a:pPr algn="l">
              <a:lnSpc>
                <a:spcPct val="112000"/>
              </a:lnSpc>
            </a:pPr>
            <a:r>
              <a:rPr sz="1400" b="0" i="0">
                <a:solidFill>
                  <a:srgbClr val="666A68"/>
                </a:solidFill>
                <a:latin typeface="Arial"/>
                <a:ea typeface="Arial"/>
                <a:cs typeface="Arial"/>
              </a:rPr>
              <a:t>Resellers and large manual teams sit between the supplier and the shopper.</a:t>
            </a:r>
          </a:p>
        </p:txBody>
      </p:sp>
      <p:cxnSp>
        <p:nvCxnSpPr>
          <p:cNvPr id="13" name="Connector 12"/>
          <p:cNvCxnSpPr/>
          <p:nvPr/>
        </p:nvCxnSpPr>
        <p:spPr>
          <a:xfrm>
            <a:off x="5989320" y="4526280"/>
            <a:ext cx="5532120" cy="0"/>
          </a:xfrm>
          <a:prstGeom prst="line">
            <a:avLst/>
          </a:prstGeom>
          <a:ln w="9525">
            <a:solidFill>
              <a:srgbClr val="D7DAD8"/>
            </a:solidFill>
          </a:ln>
        </p:spPr>
      </p:cxnSp>
      <p:sp>
        <p:nvSpPr>
          <p:cNvPr id="14" name="TextBox 13"/>
          <p:cNvSpPr txBox="1"/>
          <p:nvPr/>
        </p:nvSpPr>
        <p:spPr>
          <a:xfrm>
            <a:off x="5989320" y="4690872"/>
            <a:ext cx="640080" cy="457200"/>
          </a:xfrm>
          <a:prstGeom prst="rect">
            <a:avLst/>
          </a:prstGeom>
          <a:noFill/>
        </p:spPr>
        <p:txBody>
          <a:bodyPr wrap="square" lIns="0" rIns="0" tIns="0" bIns="0" anchor="t"/>
          <a:lstStyle/>
          <a:p>
            <a:pPr algn="l"/>
            <a:r>
              <a:rPr sz="2000" b="1" i="0">
                <a:solidFill>
                  <a:srgbClr val="087F5B"/>
                </a:solidFill>
                <a:latin typeface="Arial"/>
                <a:ea typeface="Arial"/>
                <a:cs typeface="Arial"/>
              </a:rPr>
              <a:t>04</a:t>
            </a:r>
          </a:p>
        </p:txBody>
      </p:sp>
      <p:sp>
        <p:nvSpPr>
          <p:cNvPr id="15" name="TextBox 14"/>
          <p:cNvSpPr txBox="1"/>
          <p:nvPr/>
        </p:nvSpPr>
        <p:spPr>
          <a:xfrm>
            <a:off x="6720840" y="4690872"/>
            <a:ext cx="4800600" cy="1051560"/>
          </a:xfrm>
          <a:prstGeom prst="rect">
            <a:avLst/>
          </a:prstGeom>
          <a:noFill/>
        </p:spPr>
        <p:txBody>
          <a:bodyPr wrap="square" lIns="0" rIns="0" tIns="0" bIns="0" anchor="t"/>
          <a:lstStyle/>
          <a:p>
            <a:pPr algn="l">
              <a:spcAft>
                <a:spcPts val="400"/>
              </a:spcAft>
            </a:pPr>
            <a:r>
              <a:rPr sz="1900" b="1" i="0">
                <a:solidFill>
                  <a:srgbClr val="151515"/>
                </a:solidFill>
                <a:latin typeface="Arial"/>
                <a:ea typeface="Arial"/>
                <a:cs typeface="Arial"/>
              </a:rPr>
              <a:t>The AI chat hands off</a:t>
            </a:r>
          </a:p>
          <a:p>
            <a:pPr algn="l">
              <a:lnSpc>
                <a:spcPct val="112000"/>
              </a:lnSpc>
            </a:pPr>
            <a:r>
              <a:rPr sz="1400" b="0" i="0">
                <a:solidFill>
                  <a:srgbClr val="666A68"/>
                </a:solidFill>
                <a:latin typeface="Arial"/>
                <a:ea typeface="Arial"/>
                <a:cs typeface="Arial"/>
              </a:rPr>
              <a:t>People start in an AI assistant, then get sent to a website to finish alone.</a:t>
            </a:r>
          </a:p>
        </p:txBody>
      </p:sp>
      <p:sp>
        <p:nvSpPr>
          <p:cNvPr id="16" name="TextBox 15"/>
          <p:cNvSpPr txBox="1"/>
          <p:nvPr/>
        </p:nvSpPr>
        <p:spPr>
          <a:xfrm>
            <a:off x="10972800" y="6355080"/>
            <a:ext cx="548640" cy="274320"/>
          </a:xfrm>
          <a:prstGeom prst="rect">
            <a:avLst/>
          </a:prstGeom>
          <a:noFill/>
        </p:spPr>
        <p:txBody>
          <a:bodyPr wrap="square" lIns="0" rIns="0" tIns="0" bIns="0" anchor="t"/>
          <a:lstStyle/>
          <a:p>
            <a:pPr algn="r"/>
            <a:r>
              <a:rPr sz="1000" b="0" i="0">
                <a:solidFill>
                  <a:srgbClr val="8A8F8C"/>
                </a:solidFill>
                <a:latin typeface="Arial"/>
                <a:ea typeface="Arial"/>
                <a:cs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7315200" cy="274320"/>
          </a:xfrm>
          <a:prstGeom prst="rect">
            <a:avLst/>
          </a:prstGeom>
          <a:noFill/>
        </p:spPr>
        <p:txBody>
          <a:bodyPr wrap="square" lIns="0" rIns="0" tIns="0" bIns="0" anchor="t"/>
          <a:lstStyle/>
          <a:p>
            <a:pPr algn="l"/>
            <a:r>
              <a:rPr sz="1100" b="1" i="0" spc="200">
                <a:solidFill>
                  <a:srgbClr val="087F5B"/>
                </a:solidFill>
                <a:latin typeface="Arial"/>
                <a:ea typeface="Arial"/>
                <a:cs typeface="Arial"/>
              </a:rPr>
              <a:t>PRODUCT</a:t>
            </a:r>
          </a:p>
        </p:txBody>
      </p:sp>
      <p:sp>
        <p:nvSpPr>
          <p:cNvPr id="3" name="TextBox 2"/>
          <p:cNvSpPr txBox="1"/>
          <p:nvPr/>
        </p:nvSpPr>
        <p:spPr>
          <a:xfrm>
            <a:off x="685800" y="914400"/>
            <a:ext cx="4206240" cy="2377440"/>
          </a:xfrm>
          <a:prstGeom prst="rect">
            <a:avLst/>
          </a:prstGeom>
          <a:noFill/>
        </p:spPr>
        <p:txBody>
          <a:bodyPr wrap="square" lIns="0" rIns="0" tIns="0" bIns="0" anchor="t"/>
          <a:lstStyle/>
          <a:p>
            <a:pPr algn="l">
              <a:lnSpc>
                <a:spcPct val="95000"/>
              </a:lnSpc>
            </a:pPr>
            <a:r>
              <a:rPr sz="4000" b="1" i="0" spc="-100">
                <a:solidFill>
                  <a:srgbClr val="151515"/>
                </a:solidFill>
                <a:latin typeface="Arial"/>
                <a:ea typeface="Arial"/>
                <a:cs typeface="Arial"/>
              </a:rPr>
              <a:t>One catalog,</a:t>
            </a:r>
          </a:p>
          <a:p>
            <a:pPr algn="l">
              <a:lnSpc>
                <a:spcPct val="95000"/>
              </a:lnSpc>
            </a:pPr>
            <a:r>
              <a:rPr sz="4000" b="1" i="0" spc="-100">
                <a:solidFill>
                  <a:srgbClr val="151515"/>
                </a:solidFill>
                <a:latin typeface="Arial"/>
                <a:ea typeface="Arial"/>
                <a:cs typeface="Arial"/>
              </a:rPr>
              <a:t>wherever the</a:t>
            </a:r>
          </a:p>
          <a:p>
            <a:pPr algn="l">
              <a:lnSpc>
                <a:spcPct val="95000"/>
              </a:lnSpc>
            </a:pPr>
            <a:r>
              <a:rPr sz="4000" b="1" i="0" spc="-100">
                <a:solidFill>
                  <a:srgbClr val="151515"/>
                </a:solidFill>
                <a:latin typeface="Arial"/>
                <a:ea typeface="Arial"/>
                <a:cs typeface="Arial"/>
              </a:rPr>
              <a:t>shopper starts</a:t>
            </a:r>
          </a:p>
        </p:txBody>
      </p:sp>
      <p:sp>
        <p:nvSpPr>
          <p:cNvPr id="4" name="TextBox 3"/>
          <p:cNvSpPr txBox="1"/>
          <p:nvPr/>
        </p:nvSpPr>
        <p:spPr>
          <a:xfrm>
            <a:off x="685800" y="2834640"/>
            <a:ext cx="3931920" cy="1463040"/>
          </a:xfrm>
          <a:prstGeom prst="rect">
            <a:avLst/>
          </a:prstGeom>
          <a:noFill/>
        </p:spPr>
        <p:txBody>
          <a:bodyPr wrap="square" lIns="0" rIns="0" tIns="0" bIns="0" anchor="t"/>
          <a:lstStyle/>
          <a:p>
            <a:pPr algn="l">
              <a:lnSpc>
                <a:spcPct val="115000"/>
              </a:lnSpc>
            </a:pPr>
            <a:r>
              <a:rPr sz="1700" b="0" i="0">
                <a:solidFill>
                  <a:srgbClr val="666A68"/>
                </a:solidFill>
                <a:latin typeface="Arial"/>
                <a:ea typeface="Arial"/>
                <a:cs typeface="Arial"/>
              </a:rPr>
              <a:t>Shop in the SuperCheap app, or ask an AI assistant like Claude. Same products, same checkout.</a:t>
            </a:r>
          </a:p>
        </p:txBody>
      </p:sp>
      <p:sp>
        <p:nvSpPr>
          <p:cNvPr id="5" name="TextBox 4"/>
          <p:cNvSpPr txBox="1"/>
          <p:nvPr/>
        </p:nvSpPr>
        <p:spPr>
          <a:xfrm>
            <a:off x="685800" y="5440680"/>
            <a:ext cx="3840480" cy="731520"/>
          </a:xfrm>
          <a:prstGeom prst="rect">
            <a:avLst/>
          </a:prstGeom>
          <a:noFill/>
        </p:spPr>
        <p:txBody>
          <a:bodyPr wrap="square" lIns="0" rIns="0" tIns="0" bIns="0" anchor="t"/>
          <a:lstStyle/>
          <a:p>
            <a:pPr algn="l">
              <a:spcAft>
                <a:spcPts val="200"/>
              </a:spcAft>
            </a:pPr>
            <a:r>
              <a:rPr sz="1200" b="1" i="0">
                <a:solidFill>
                  <a:srgbClr val="151515"/>
                </a:solidFill>
                <a:latin typeface="Arial"/>
                <a:ea typeface="Arial"/>
                <a:cs typeface="Arial"/>
              </a:rPr>
              <a:t>Real product screens.</a:t>
            </a:r>
          </a:p>
          <a:p>
            <a:pPr algn="l"/>
            <a:r>
              <a:rPr sz="1200" b="0" i="0">
                <a:solidFill>
                  <a:srgbClr val="8A8F8C"/>
                </a:solidFill>
                <a:latin typeface="Arial"/>
                <a:ea typeface="Arial"/>
                <a:cs typeface="Arial"/>
              </a:rPr>
              <a:t>Prices shown in THB, as captured.</a:t>
            </a:r>
          </a:p>
        </p:txBody>
      </p:sp>
      <p:sp>
        <p:nvSpPr>
          <p:cNvPr id="6" name="Rounded Rectangle 5"/>
          <p:cNvSpPr/>
          <p:nvPr/>
        </p:nvSpPr>
        <p:spPr>
          <a:xfrm>
            <a:off x="5440680" y="530352"/>
            <a:ext cx="2971800" cy="5669280"/>
          </a:xfrm>
          <a:prstGeom prst="roundRect">
            <a:avLst>
              <a:gd name="adj" fmla="val 9846"/>
            </a:avLst>
          </a:prstGeom>
          <a:solidFill>
            <a:srgbClr val="F0FFD9"/>
          </a:solidFill>
          <a:ln w="25400">
            <a:solidFill>
              <a:srgbClr val="A3F75C"/>
            </a:solidFill>
          </a:ln>
          <a:effectLst/>
        </p:spPr>
        <p:txBody>
          <a:bodyPr rtlCol="0" anchor="ctr"/>
          <a:lstStyle/>
          <a:p/>
        </p:txBody>
      </p:sp>
      <p:pic>
        <p:nvPicPr>
          <p:cNvPr id="7" name="Picture 6" descr="app_search.jpg"/>
          <p:cNvPicPr>
            <a:picLocks noChangeAspect="1"/>
          </p:cNvPicPr>
          <p:nvPr/>
        </p:nvPicPr>
        <p:blipFill>
          <a:blip r:embed="rId2"/>
          <a:stretch>
            <a:fillRect/>
          </a:stretch>
        </p:blipFill>
        <p:spPr>
          <a:xfrm>
            <a:off x="5851802" y="786384"/>
            <a:ext cx="2149554" cy="4663440"/>
          </a:xfrm>
          <a:prstGeom prst="roundRect">
            <a:avLst>
              <a:gd name="adj" fmla="val 9358"/>
            </a:avLst>
          </a:prstGeom>
          <a:ln w="9525">
            <a:solidFill>
              <a:srgbClr val="D7DAD8"/>
            </a:solidFill>
          </a:ln>
        </p:spPr>
      </p:pic>
      <p:sp>
        <p:nvSpPr>
          <p:cNvPr id="8" name="Rounded Rectangle 7"/>
          <p:cNvSpPr/>
          <p:nvPr/>
        </p:nvSpPr>
        <p:spPr>
          <a:xfrm>
            <a:off x="8549640" y="530352"/>
            <a:ext cx="2971800" cy="5669280"/>
          </a:xfrm>
          <a:prstGeom prst="roundRect">
            <a:avLst>
              <a:gd name="adj" fmla="val 9846"/>
            </a:avLst>
          </a:prstGeom>
          <a:solidFill>
            <a:srgbClr val="F4F1EA"/>
          </a:solidFill>
          <a:ln w="25400">
            <a:solidFill>
              <a:srgbClr val="D97757"/>
            </a:solidFill>
          </a:ln>
          <a:effectLst/>
        </p:spPr>
        <p:txBody>
          <a:bodyPr rtlCol="0" anchor="ctr"/>
          <a:lstStyle/>
          <a:p/>
        </p:txBody>
      </p:sp>
      <p:pic>
        <p:nvPicPr>
          <p:cNvPr id="9" name="Picture 8" descr="claude_mcp.jpg"/>
          <p:cNvPicPr>
            <a:picLocks noChangeAspect="1"/>
          </p:cNvPicPr>
          <p:nvPr/>
        </p:nvPicPr>
        <p:blipFill>
          <a:blip r:embed="rId3"/>
          <a:stretch>
            <a:fillRect/>
          </a:stretch>
        </p:blipFill>
        <p:spPr>
          <a:xfrm>
            <a:off x="8960762" y="786384"/>
            <a:ext cx="2149554" cy="4663440"/>
          </a:xfrm>
          <a:prstGeom prst="roundRect">
            <a:avLst>
              <a:gd name="adj" fmla="val 9358"/>
            </a:avLst>
          </a:prstGeom>
          <a:ln w="9525">
            <a:solidFill>
              <a:srgbClr val="D7DAD8"/>
            </a:solidFill>
          </a:ln>
        </p:spPr>
      </p:pic>
      <p:sp>
        <p:nvSpPr>
          <p:cNvPr id="10" name="Rounded Rectangle 9"/>
          <p:cNvSpPr/>
          <p:nvPr/>
        </p:nvSpPr>
        <p:spPr>
          <a:xfrm>
            <a:off x="5920740" y="5650992"/>
            <a:ext cx="2011680" cy="402336"/>
          </a:xfrm>
          <a:prstGeom prst="roundRect">
            <a:avLst>
              <a:gd name="adj" fmla="val 50000"/>
            </a:avLst>
          </a:prstGeom>
          <a:solidFill>
            <a:srgbClr val="A3F75C"/>
          </a:solidFill>
          <a:ln>
            <a:noFill/>
          </a:ln>
          <a:effectLst/>
        </p:spPr>
        <p:txBody>
          <a:bodyPr rtlCol="0" anchor="ctr"/>
          <a:lstStyle/>
          <a:p/>
        </p:txBody>
      </p:sp>
      <p:sp>
        <p:nvSpPr>
          <p:cNvPr id="11" name="TextBox 10"/>
          <p:cNvSpPr txBox="1"/>
          <p:nvPr/>
        </p:nvSpPr>
        <p:spPr>
          <a:xfrm>
            <a:off x="5920740" y="5650992"/>
            <a:ext cx="2011680" cy="402336"/>
          </a:xfrm>
          <a:prstGeom prst="rect">
            <a:avLst/>
          </a:prstGeom>
          <a:noFill/>
        </p:spPr>
        <p:txBody>
          <a:bodyPr wrap="square" lIns="0" rIns="0" tIns="0" bIns="0" anchor="ctr"/>
          <a:lstStyle/>
          <a:p>
            <a:pPr algn="ctr"/>
            <a:r>
              <a:rPr sz="1300" b="1" i="0">
                <a:solidFill>
                  <a:srgbClr val="14210E"/>
                </a:solidFill>
                <a:latin typeface="Arial"/>
                <a:ea typeface="Arial"/>
                <a:cs typeface="Arial"/>
              </a:rPr>
              <a:t>SuperCheap app</a:t>
            </a:r>
          </a:p>
        </p:txBody>
      </p:sp>
      <p:sp>
        <p:nvSpPr>
          <p:cNvPr id="12" name="TextBox 11"/>
          <p:cNvSpPr txBox="1"/>
          <p:nvPr/>
        </p:nvSpPr>
        <p:spPr>
          <a:xfrm>
            <a:off x="8549640" y="5632704"/>
            <a:ext cx="2971800" cy="457200"/>
          </a:xfrm>
          <a:prstGeom prst="rect">
            <a:avLst/>
          </a:prstGeom>
          <a:noFill/>
        </p:spPr>
        <p:txBody>
          <a:bodyPr wrap="square" lIns="0" rIns="0" tIns="0" bIns="0" anchor="ctr"/>
          <a:lstStyle/>
          <a:p>
            <a:pPr algn="ctr"/>
            <a:r>
              <a:rPr sz="1600" b="0" i="0">
                <a:solidFill>
                  <a:srgbClr val="B5532F"/>
                </a:solidFill>
                <a:latin typeface="Georgia"/>
                <a:ea typeface="Georgia"/>
                <a:cs typeface="Georgia"/>
              </a:rPr>
              <a:t>Inside Claude, via MCP</a:t>
            </a:r>
          </a:p>
        </p:txBody>
      </p:sp>
      <p:sp>
        <p:nvSpPr>
          <p:cNvPr id="13" name="TextBox 12"/>
          <p:cNvSpPr txBox="1"/>
          <p:nvPr/>
        </p:nvSpPr>
        <p:spPr>
          <a:xfrm>
            <a:off x="10972800" y="6355080"/>
            <a:ext cx="548640" cy="274320"/>
          </a:xfrm>
          <a:prstGeom prst="rect">
            <a:avLst/>
          </a:prstGeom>
          <a:noFill/>
        </p:spPr>
        <p:txBody>
          <a:bodyPr wrap="square" lIns="0" rIns="0" tIns="0" bIns="0" anchor="t"/>
          <a:lstStyle/>
          <a:p>
            <a:pPr algn="r"/>
            <a:r>
              <a:rPr sz="1000" b="0" i="0">
                <a:solidFill>
                  <a:srgbClr val="8A8F8C"/>
                </a:solidFill>
                <a:latin typeface="Arial"/>
                <a:ea typeface="Arial"/>
                <a:cs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6F4"/>
        </a:solidFill>
        <a:effectLst/>
      </p:bgPr>
    </p:bg>
    <p:spTree>
      <p:nvGrpSpPr>
        <p:cNvPr id="1" name=""/>
        <p:cNvGrpSpPr/>
        <p:nvPr/>
      </p:nvGrpSpPr>
      <p:grpSpPr/>
      <p:sp>
        <p:nvSpPr>
          <p:cNvPr id="2" name="TextBox 1"/>
          <p:cNvSpPr txBox="1"/>
          <p:nvPr/>
        </p:nvSpPr>
        <p:spPr>
          <a:xfrm>
            <a:off x="685800" y="566928"/>
            <a:ext cx="7315200" cy="274320"/>
          </a:xfrm>
          <a:prstGeom prst="rect">
            <a:avLst/>
          </a:prstGeom>
          <a:noFill/>
        </p:spPr>
        <p:txBody>
          <a:bodyPr wrap="square" lIns="0" rIns="0" tIns="0" bIns="0" anchor="t"/>
          <a:lstStyle/>
          <a:p>
            <a:pPr algn="l"/>
            <a:r>
              <a:rPr sz="1100" b="1" i="0" spc="200">
                <a:solidFill>
                  <a:srgbClr val="087F5B"/>
                </a:solidFill>
                <a:latin typeface="Arial"/>
                <a:ea typeface="Arial"/>
                <a:cs typeface="Arial"/>
              </a:rPr>
              <a:t>AGENT SHOPPING</a:t>
            </a:r>
          </a:p>
        </p:txBody>
      </p:sp>
      <p:sp>
        <p:nvSpPr>
          <p:cNvPr id="3" name="TextBox 2"/>
          <p:cNvSpPr txBox="1"/>
          <p:nvPr/>
        </p:nvSpPr>
        <p:spPr>
          <a:xfrm>
            <a:off x="685800" y="896112"/>
            <a:ext cx="6126480" cy="1554480"/>
          </a:xfrm>
          <a:prstGeom prst="rect">
            <a:avLst/>
          </a:prstGeom>
          <a:noFill/>
        </p:spPr>
        <p:txBody>
          <a:bodyPr wrap="square" lIns="0" rIns="0" tIns="0" bIns="0" anchor="t"/>
          <a:lstStyle/>
          <a:p>
            <a:pPr algn="l">
              <a:lnSpc>
                <a:spcPct val="96000"/>
              </a:lnSpc>
            </a:pPr>
            <a:r>
              <a:rPr sz="3200" b="1" i="0" spc="-80">
                <a:solidFill>
                  <a:srgbClr val="151515"/>
                </a:solidFill>
                <a:latin typeface="Arial"/>
                <a:ea typeface="Arial"/>
                <a:cs typeface="Arial"/>
              </a:rPr>
              <a:t>One agent can stay with</a:t>
            </a:r>
          </a:p>
          <a:p>
            <a:pPr algn="l">
              <a:lnSpc>
                <a:spcPct val="96000"/>
              </a:lnSpc>
            </a:pPr>
            <a:r>
              <a:rPr sz="3200" b="1" i="0" spc="-80">
                <a:solidFill>
                  <a:srgbClr val="151515"/>
                </a:solidFill>
                <a:latin typeface="Arial"/>
                <a:ea typeface="Arial"/>
                <a:cs typeface="Arial"/>
              </a:rPr>
              <a:t>the shopper from search</a:t>
            </a:r>
          </a:p>
          <a:p>
            <a:pPr algn="l">
              <a:lnSpc>
                <a:spcPct val="96000"/>
              </a:lnSpc>
            </a:pPr>
            <a:r>
              <a:rPr sz="3200" b="1" i="0" spc="-80">
                <a:solidFill>
                  <a:srgbClr val="151515"/>
                </a:solidFill>
                <a:latin typeface="Arial"/>
                <a:ea typeface="Arial"/>
                <a:cs typeface="Arial"/>
              </a:rPr>
              <a:t>through support</a:t>
            </a:r>
          </a:p>
        </p:txBody>
      </p:sp>
      <p:cxnSp>
        <p:nvCxnSpPr>
          <p:cNvPr id="4" name="Connector 3"/>
          <p:cNvCxnSpPr/>
          <p:nvPr/>
        </p:nvCxnSpPr>
        <p:spPr>
          <a:xfrm>
            <a:off x="969264" y="2825496"/>
            <a:ext cx="0" cy="2468880"/>
          </a:xfrm>
          <a:prstGeom prst="line">
            <a:avLst/>
          </a:prstGeom>
          <a:ln w="38100">
            <a:solidFill>
              <a:srgbClr val="A3F75C"/>
            </a:solidFill>
          </a:ln>
        </p:spPr>
      </p:cxnSp>
      <p:sp>
        <p:nvSpPr>
          <p:cNvPr id="5" name="Oval 4"/>
          <p:cNvSpPr/>
          <p:nvPr/>
        </p:nvSpPr>
        <p:spPr>
          <a:xfrm>
            <a:off x="685800" y="2542032"/>
            <a:ext cx="566928" cy="566928"/>
          </a:xfrm>
          <a:prstGeom prst="ellipse">
            <a:avLst/>
          </a:prstGeom>
          <a:solidFill>
            <a:srgbClr val="A3F75C"/>
          </a:solidFill>
          <a:ln>
            <a:noFill/>
          </a:ln>
          <a:effectLst/>
        </p:spPr>
        <p:txBody>
          <a:bodyPr rtlCol="0" anchor="ctr"/>
          <a:lstStyle/>
          <a:p>
            <a:pPr algn="ctr"/>
          </a:p>
        </p:txBody>
      </p:sp>
      <p:pic>
        <p:nvPicPr>
          <p:cNvPr id="6" name="Picture 5" descr="search_dark.png"/>
          <p:cNvPicPr>
            <a:picLocks noChangeAspect="1"/>
          </p:cNvPicPr>
          <p:nvPr/>
        </p:nvPicPr>
        <p:blipFill>
          <a:blip r:embed="rId2"/>
          <a:stretch>
            <a:fillRect/>
          </a:stretch>
        </p:blipFill>
        <p:spPr>
          <a:xfrm>
            <a:off x="827532" y="2683763"/>
            <a:ext cx="283464" cy="283464"/>
          </a:xfrm>
          <a:prstGeom prst="rect">
            <a:avLst/>
          </a:prstGeom>
        </p:spPr>
      </p:pic>
      <p:sp>
        <p:nvSpPr>
          <p:cNvPr id="7" name="TextBox 6"/>
          <p:cNvSpPr txBox="1"/>
          <p:nvPr/>
        </p:nvSpPr>
        <p:spPr>
          <a:xfrm>
            <a:off x="1508760" y="2523744"/>
            <a:ext cx="4937760" cy="822960"/>
          </a:xfrm>
          <a:prstGeom prst="rect">
            <a:avLst/>
          </a:prstGeom>
          <a:noFill/>
        </p:spPr>
        <p:txBody>
          <a:bodyPr wrap="square" lIns="0" rIns="0" tIns="0" bIns="0" anchor="t"/>
          <a:lstStyle/>
          <a:p>
            <a:pPr algn="l">
              <a:spcAft>
                <a:spcPts val="200"/>
              </a:spcAft>
            </a:pPr>
            <a:r>
              <a:rPr sz="1800" b="1" i="0">
                <a:solidFill>
                  <a:srgbClr val="151515"/>
                </a:solidFill>
                <a:latin typeface="Arial"/>
                <a:ea typeface="Arial"/>
                <a:cs typeface="Arial"/>
              </a:rPr>
              <a:t>Search</a:t>
            </a:r>
          </a:p>
          <a:p>
            <a:pPr algn="l"/>
            <a:r>
              <a:rPr sz="1350" b="0" i="0">
                <a:solidFill>
                  <a:srgbClr val="666A68"/>
                </a:solidFill>
                <a:latin typeface="Arial"/>
                <a:ea typeface="Arial"/>
                <a:cs typeface="Arial"/>
              </a:rPr>
              <a:t>Browse the catalog anonymously. No account needed.</a:t>
            </a:r>
          </a:p>
        </p:txBody>
      </p:sp>
      <p:sp>
        <p:nvSpPr>
          <p:cNvPr id="8" name="Oval 7"/>
          <p:cNvSpPr/>
          <p:nvPr/>
        </p:nvSpPr>
        <p:spPr>
          <a:xfrm>
            <a:off x="685800" y="3364991"/>
            <a:ext cx="566928" cy="566928"/>
          </a:xfrm>
          <a:prstGeom prst="ellipse">
            <a:avLst/>
          </a:prstGeom>
          <a:solidFill>
            <a:srgbClr val="FFFFFF"/>
          </a:solidFill>
          <a:ln w="12700">
            <a:solidFill>
              <a:srgbClr val="D7DAD8"/>
            </a:solidFill>
          </a:ln>
          <a:effectLst/>
        </p:spPr>
        <p:txBody>
          <a:bodyPr rtlCol="0" anchor="ctr"/>
          <a:lstStyle/>
          <a:p>
            <a:pPr algn="ctr"/>
          </a:p>
        </p:txBody>
      </p:sp>
      <p:pic>
        <p:nvPicPr>
          <p:cNvPr id="9" name="Picture 8" descr="shirt_dark.png"/>
          <p:cNvPicPr>
            <a:picLocks noChangeAspect="1"/>
          </p:cNvPicPr>
          <p:nvPr/>
        </p:nvPicPr>
        <p:blipFill>
          <a:blip r:embed="rId3"/>
          <a:stretch>
            <a:fillRect/>
          </a:stretch>
        </p:blipFill>
        <p:spPr>
          <a:xfrm>
            <a:off x="827532" y="3506723"/>
            <a:ext cx="283464" cy="283464"/>
          </a:xfrm>
          <a:prstGeom prst="rect">
            <a:avLst/>
          </a:prstGeom>
        </p:spPr>
      </p:pic>
      <p:sp>
        <p:nvSpPr>
          <p:cNvPr id="10" name="TextBox 9"/>
          <p:cNvSpPr txBox="1"/>
          <p:nvPr/>
        </p:nvSpPr>
        <p:spPr>
          <a:xfrm>
            <a:off x="1508760" y="3346703"/>
            <a:ext cx="4937760" cy="822960"/>
          </a:xfrm>
          <a:prstGeom prst="rect">
            <a:avLst/>
          </a:prstGeom>
          <a:noFill/>
        </p:spPr>
        <p:txBody>
          <a:bodyPr wrap="square" lIns="0" rIns="0" tIns="0" bIns="0" anchor="t"/>
          <a:lstStyle/>
          <a:p>
            <a:pPr algn="l">
              <a:spcAft>
                <a:spcPts val="200"/>
              </a:spcAft>
            </a:pPr>
            <a:r>
              <a:rPr sz="1800" b="1" i="0">
                <a:solidFill>
                  <a:srgbClr val="151515"/>
                </a:solidFill>
                <a:latin typeface="Arial"/>
                <a:ea typeface="Arial"/>
                <a:cs typeface="Arial"/>
              </a:rPr>
              <a:t>Choose</a:t>
            </a:r>
          </a:p>
          <a:p>
            <a:pPr algn="l"/>
            <a:r>
              <a:rPr sz="1350" b="0" i="0">
                <a:solidFill>
                  <a:srgbClr val="666A68"/>
                </a:solidFill>
                <a:latin typeface="Arial"/>
                <a:ea typeface="Arial"/>
                <a:cs typeface="Arial"/>
              </a:rPr>
              <a:t>Compare details, materials and available size info.</a:t>
            </a:r>
          </a:p>
        </p:txBody>
      </p:sp>
      <p:sp>
        <p:nvSpPr>
          <p:cNvPr id="11" name="Oval 10"/>
          <p:cNvSpPr/>
          <p:nvPr/>
        </p:nvSpPr>
        <p:spPr>
          <a:xfrm>
            <a:off x="685800" y="4187952"/>
            <a:ext cx="566928" cy="566928"/>
          </a:xfrm>
          <a:prstGeom prst="ellipse">
            <a:avLst/>
          </a:prstGeom>
          <a:solidFill>
            <a:srgbClr val="FFFFFF"/>
          </a:solidFill>
          <a:ln w="12700">
            <a:solidFill>
              <a:srgbClr val="D7DAD8"/>
            </a:solidFill>
          </a:ln>
          <a:effectLst/>
        </p:spPr>
        <p:txBody>
          <a:bodyPr rtlCol="0" anchor="ctr"/>
          <a:lstStyle/>
          <a:p>
            <a:pPr algn="ctr"/>
          </a:p>
        </p:txBody>
      </p:sp>
      <p:pic>
        <p:nvPicPr>
          <p:cNvPr id="12" name="Picture 11" descr="cart_dark.png"/>
          <p:cNvPicPr>
            <a:picLocks noChangeAspect="1"/>
          </p:cNvPicPr>
          <p:nvPr/>
        </p:nvPicPr>
        <p:blipFill>
          <a:blip r:embed="rId4"/>
          <a:stretch>
            <a:fillRect/>
          </a:stretch>
        </p:blipFill>
        <p:spPr>
          <a:xfrm>
            <a:off x="827532" y="4329684"/>
            <a:ext cx="283464" cy="283464"/>
          </a:xfrm>
          <a:prstGeom prst="rect">
            <a:avLst/>
          </a:prstGeom>
        </p:spPr>
      </p:pic>
      <p:sp>
        <p:nvSpPr>
          <p:cNvPr id="13" name="TextBox 12"/>
          <p:cNvSpPr txBox="1"/>
          <p:nvPr/>
        </p:nvSpPr>
        <p:spPr>
          <a:xfrm>
            <a:off x="1508760" y="4169664"/>
            <a:ext cx="4937760" cy="822960"/>
          </a:xfrm>
          <a:prstGeom prst="rect">
            <a:avLst/>
          </a:prstGeom>
          <a:noFill/>
        </p:spPr>
        <p:txBody>
          <a:bodyPr wrap="square" lIns="0" rIns="0" tIns="0" bIns="0" anchor="t"/>
          <a:lstStyle/>
          <a:p>
            <a:pPr algn="l">
              <a:spcAft>
                <a:spcPts val="200"/>
              </a:spcAft>
            </a:pPr>
            <a:r>
              <a:rPr sz="1800" b="1" i="0">
                <a:solidFill>
                  <a:srgbClr val="151515"/>
                </a:solidFill>
                <a:latin typeface="Arial"/>
                <a:ea typeface="Arial"/>
                <a:cs typeface="Arial"/>
              </a:rPr>
              <a:t>Buy</a:t>
            </a:r>
          </a:p>
          <a:p>
            <a:pPr algn="l"/>
            <a:r>
              <a:rPr sz="1350" b="0" i="0">
                <a:solidFill>
                  <a:srgbClr val="666A68"/>
                </a:solidFill>
                <a:latin typeface="Arial"/>
                <a:ea typeface="Arial"/>
                <a:cs typeface="Arial"/>
              </a:rPr>
              <a:t>Build a cart, get a checkout quote, approve the payment link.</a:t>
            </a:r>
          </a:p>
        </p:txBody>
      </p:sp>
      <p:sp>
        <p:nvSpPr>
          <p:cNvPr id="14" name="Oval 13"/>
          <p:cNvSpPr/>
          <p:nvPr/>
        </p:nvSpPr>
        <p:spPr>
          <a:xfrm>
            <a:off x="685800" y="5010912"/>
            <a:ext cx="566928" cy="566928"/>
          </a:xfrm>
          <a:prstGeom prst="ellipse">
            <a:avLst/>
          </a:prstGeom>
          <a:solidFill>
            <a:srgbClr val="FFFFFF"/>
          </a:solidFill>
          <a:ln w="12700">
            <a:solidFill>
              <a:srgbClr val="D7DAD8"/>
            </a:solidFill>
          </a:ln>
          <a:effectLst/>
        </p:spPr>
        <p:txBody>
          <a:bodyPr rtlCol="0" anchor="ctr"/>
          <a:lstStyle/>
          <a:p>
            <a:pPr algn="ctr"/>
          </a:p>
        </p:txBody>
      </p:sp>
      <p:pic>
        <p:nvPicPr>
          <p:cNvPr id="15" name="Picture 14" descr="truck_dark.png"/>
          <p:cNvPicPr>
            <a:picLocks noChangeAspect="1"/>
          </p:cNvPicPr>
          <p:nvPr/>
        </p:nvPicPr>
        <p:blipFill>
          <a:blip r:embed="rId5"/>
          <a:stretch>
            <a:fillRect/>
          </a:stretch>
        </p:blipFill>
        <p:spPr>
          <a:xfrm>
            <a:off x="827532" y="5152644"/>
            <a:ext cx="283464" cy="283464"/>
          </a:xfrm>
          <a:prstGeom prst="rect">
            <a:avLst/>
          </a:prstGeom>
        </p:spPr>
      </p:pic>
      <p:sp>
        <p:nvSpPr>
          <p:cNvPr id="16" name="TextBox 15"/>
          <p:cNvSpPr txBox="1"/>
          <p:nvPr/>
        </p:nvSpPr>
        <p:spPr>
          <a:xfrm>
            <a:off x="1508760" y="4992624"/>
            <a:ext cx="4937760" cy="822960"/>
          </a:xfrm>
          <a:prstGeom prst="rect">
            <a:avLst/>
          </a:prstGeom>
          <a:noFill/>
        </p:spPr>
        <p:txBody>
          <a:bodyPr wrap="square" lIns="0" rIns="0" tIns="0" bIns="0" anchor="t"/>
          <a:lstStyle/>
          <a:p>
            <a:pPr algn="l">
              <a:spcAft>
                <a:spcPts val="200"/>
              </a:spcAft>
            </a:pPr>
            <a:r>
              <a:rPr sz="1800" b="1" i="0">
                <a:solidFill>
                  <a:srgbClr val="151515"/>
                </a:solidFill>
                <a:latin typeface="Arial"/>
                <a:ea typeface="Arial"/>
                <a:cs typeface="Arial"/>
              </a:rPr>
              <a:t>Follow up</a:t>
            </a:r>
          </a:p>
          <a:p>
            <a:pPr algn="l"/>
            <a:r>
              <a:rPr sz="1350" b="0" i="0">
                <a:solidFill>
                  <a:srgbClr val="666A68"/>
                </a:solidFill>
                <a:latin typeface="Arial"/>
                <a:ea typeface="Arial"/>
                <a:cs typeface="Arial"/>
              </a:rPr>
              <a:t>Track the order, ask questions, reach support.</a:t>
            </a:r>
          </a:p>
        </p:txBody>
      </p:sp>
      <p:sp>
        <p:nvSpPr>
          <p:cNvPr id="17" name="TextBox 16"/>
          <p:cNvSpPr txBox="1"/>
          <p:nvPr/>
        </p:nvSpPr>
        <p:spPr>
          <a:xfrm>
            <a:off x="685800" y="5870448"/>
            <a:ext cx="6035040" cy="548640"/>
          </a:xfrm>
          <a:prstGeom prst="rect">
            <a:avLst/>
          </a:prstGeom>
          <a:noFill/>
        </p:spPr>
        <p:txBody>
          <a:bodyPr wrap="square" lIns="0" rIns="0" tIns="0" bIns="0" anchor="t"/>
          <a:lstStyle/>
          <a:p>
            <a:pPr algn="l">
              <a:spcAft>
                <a:spcPts val="200"/>
              </a:spcAft>
            </a:pPr>
            <a:r>
              <a:rPr sz="1250" b="0" i="0">
                <a:solidFill>
                  <a:srgbClr val="666A68"/>
                </a:solidFill>
                <a:latin typeface="Arial"/>
                <a:ea typeface="Arial"/>
                <a:cs typeface="Arial"/>
              </a:rPr>
              <a:t>Demonstrated in Claude and ChatGPT through MCP.</a:t>
            </a:r>
          </a:p>
          <a:p>
            <a:pPr algn="l"/>
            <a:r>
              <a:rPr sz="1250" b="1" i="0">
                <a:solidFill>
                  <a:srgbClr val="151515"/>
                </a:solidFill>
                <a:latin typeface="Arial"/>
                <a:ea typeface="Arial"/>
                <a:cs typeface="Arial"/>
              </a:rPr>
              <a:t>The shopper approves every payment.</a:t>
            </a:r>
          </a:p>
        </p:txBody>
      </p:sp>
      <p:sp>
        <p:nvSpPr>
          <p:cNvPr id="18" name="Rounded Rectangle 17"/>
          <p:cNvSpPr/>
          <p:nvPr/>
        </p:nvSpPr>
        <p:spPr>
          <a:xfrm>
            <a:off x="7086600" y="685800"/>
            <a:ext cx="4434840" cy="5532120"/>
          </a:xfrm>
          <a:prstGeom prst="roundRect">
            <a:avLst>
              <a:gd name="adj" fmla="val 5773"/>
            </a:avLst>
          </a:prstGeom>
          <a:solidFill>
            <a:srgbClr val="FFFFFF"/>
          </a:solidFill>
          <a:ln w="9525">
            <a:solidFill>
              <a:srgbClr val="D7DAD8"/>
            </a:solidFill>
          </a:ln>
          <a:effectLst/>
        </p:spPr>
        <p:txBody>
          <a:bodyPr rtlCol="0" anchor="ctr"/>
          <a:lstStyle/>
          <a:p/>
        </p:txBody>
      </p:sp>
      <p:sp>
        <p:nvSpPr>
          <p:cNvPr id="19" name="TextBox 18"/>
          <p:cNvSpPr txBox="1"/>
          <p:nvPr/>
        </p:nvSpPr>
        <p:spPr>
          <a:xfrm>
            <a:off x="7360920" y="868680"/>
            <a:ext cx="3931920" cy="274320"/>
          </a:xfrm>
          <a:prstGeom prst="rect">
            <a:avLst/>
          </a:prstGeom>
          <a:noFill/>
        </p:spPr>
        <p:txBody>
          <a:bodyPr wrap="square" lIns="0" rIns="0" tIns="0" bIns="0" anchor="t"/>
          <a:lstStyle/>
          <a:p>
            <a:pPr algn="l"/>
            <a:r>
              <a:rPr sz="950" b="1" i="0" spc="120">
                <a:solidFill>
                  <a:srgbClr val="8A8F8C"/>
                </a:solidFill>
                <a:latin typeface="Arial"/>
                <a:ea typeface="Arial"/>
                <a:cs typeface="Arial"/>
              </a:rPr>
              <a:t>WORKS IN THE SHOPPER’S OWN AI ASSISTANT</a:t>
            </a:r>
          </a:p>
        </p:txBody>
      </p:sp>
      <p:sp>
        <p:nvSpPr>
          <p:cNvPr id="20" name="Rounded Rectangle 19"/>
          <p:cNvSpPr/>
          <p:nvPr/>
        </p:nvSpPr>
        <p:spPr>
          <a:xfrm>
            <a:off x="7360920" y="1143000"/>
            <a:ext cx="871292" cy="310896"/>
          </a:xfrm>
          <a:prstGeom prst="roundRect">
            <a:avLst>
              <a:gd name="adj" fmla="val 50000"/>
            </a:avLst>
          </a:prstGeom>
          <a:solidFill>
            <a:srgbClr val="F4F1EA"/>
          </a:solidFill>
          <a:ln w="12700">
            <a:solidFill>
              <a:srgbClr val="D97757"/>
            </a:solidFill>
          </a:ln>
          <a:effectLst/>
        </p:spPr>
        <p:txBody>
          <a:bodyPr rtlCol="0" anchor="ctr"/>
          <a:lstStyle/>
          <a:p/>
        </p:txBody>
      </p:sp>
      <p:sp>
        <p:nvSpPr>
          <p:cNvPr id="21" name="TextBox 20"/>
          <p:cNvSpPr txBox="1"/>
          <p:nvPr/>
        </p:nvSpPr>
        <p:spPr>
          <a:xfrm>
            <a:off x="7360920" y="1143000"/>
            <a:ext cx="871292" cy="310896"/>
          </a:xfrm>
          <a:prstGeom prst="rect">
            <a:avLst/>
          </a:prstGeom>
          <a:noFill/>
        </p:spPr>
        <p:txBody>
          <a:bodyPr wrap="square" lIns="0" rIns="0" tIns="0" bIns="0" anchor="ctr"/>
          <a:lstStyle/>
          <a:p>
            <a:pPr algn="ctr"/>
            <a:r>
              <a:rPr sz="1200" b="0" i="0">
                <a:solidFill>
                  <a:srgbClr val="B5532F"/>
                </a:solidFill>
                <a:latin typeface="Georgia"/>
                <a:ea typeface="Georgia"/>
                <a:cs typeface="Georgia"/>
              </a:rPr>
              <a:t>Claude</a:t>
            </a:r>
          </a:p>
        </p:txBody>
      </p:sp>
      <p:sp>
        <p:nvSpPr>
          <p:cNvPr id="22" name="Rounded Rectangle 21"/>
          <p:cNvSpPr/>
          <p:nvPr/>
        </p:nvSpPr>
        <p:spPr>
          <a:xfrm>
            <a:off x="8341940" y="1143000"/>
            <a:ext cx="964384" cy="310896"/>
          </a:xfrm>
          <a:prstGeom prst="roundRect">
            <a:avLst>
              <a:gd name="adj" fmla="val 50000"/>
            </a:avLst>
          </a:prstGeom>
          <a:solidFill>
            <a:srgbClr val="151515"/>
          </a:solidFill>
          <a:ln>
            <a:noFill/>
          </a:ln>
          <a:effectLst/>
        </p:spPr>
        <p:txBody>
          <a:bodyPr rtlCol="0" anchor="ctr"/>
          <a:lstStyle/>
          <a:p/>
        </p:txBody>
      </p:sp>
      <p:sp>
        <p:nvSpPr>
          <p:cNvPr id="23" name="TextBox 22"/>
          <p:cNvSpPr txBox="1"/>
          <p:nvPr/>
        </p:nvSpPr>
        <p:spPr>
          <a:xfrm>
            <a:off x="8341940" y="1143000"/>
            <a:ext cx="964384" cy="310896"/>
          </a:xfrm>
          <a:prstGeom prst="rect">
            <a:avLst/>
          </a:prstGeom>
          <a:noFill/>
        </p:spPr>
        <p:txBody>
          <a:bodyPr wrap="square" lIns="0" rIns="0" tIns="0" bIns="0" anchor="ctr"/>
          <a:lstStyle/>
          <a:p>
            <a:pPr algn="ctr"/>
            <a:r>
              <a:rPr sz="1200" b="1" i="0">
                <a:solidFill>
                  <a:srgbClr val="FFFFFF"/>
                </a:solidFill>
                <a:latin typeface="Arial"/>
                <a:ea typeface="Arial"/>
                <a:cs typeface="Arial"/>
              </a:rPr>
              <a:t>ChatGPT</a:t>
            </a:r>
          </a:p>
        </p:txBody>
      </p:sp>
      <p:sp>
        <p:nvSpPr>
          <p:cNvPr id="24" name="Rounded Rectangle 23"/>
          <p:cNvSpPr/>
          <p:nvPr/>
        </p:nvSpPr>
        <p:spPr>
          <a:xfrm>
            <a:off x="9416053" y="1143000"/>
            <a:ext cx="1660457" cy="310896"/>
          </a:xfrm>
          <a:prstGeom prst="roundRect">
            <a:avLst>
              <a:gd name="adj" fmla="val 50000"/>
            </a:avLst>
          </a:prstGeom>
          <a:solidFill>
            <a:srgbClr val="FFFFFF"/>
          </a:solidFill>
          <a:ln w="12700">
            <a:solidFill>
              <a:srgbClr val="D7DAD8"/>
            </a:solidFill>
          </a:ln>
          <a:effectLst/>
        </p:spPr>
        <p:txBody>
          <a:bodyPr rtlCol="0" anchor="ctr"/>
          <a:lstStyle/>
          <a:p/>
        </p:txBody>
      </p:sp>
      <p:sp>
        <p:nvSpPr>
          <p:cNvPr id="25" name="TextBox 24"/>
          <p:cNvSpPr txBox="1"/>
          <p:nvPr/>
        </p:nvSpPr>
        <p:spPr>
          <a:xfrm>
            <a:off x="9416053" y="1143000"/>
            <a:ext cx="1660457" cy="310896"/>
          </a:xfrm>
          <a:prstGeom prst="rect">
            <a:avLst/>
          </a:prstGeom>
          <a:noFill/>
        </p:spPr>
        <p:txBody>
          <a:bodyPr wrap="square" lIns="0" rIns="0" tIns="0" bIns="0" anchor="ctr"/>
          <a:lstStyle/>
          <a:p>
            <a:pPr algn="ctr"/>
            <a:r>
              <a:rPr sz="1200" b="0" i="0">
                <a:solidFill>
                  <a:srgbClr val="666A68"/>
                </a:solidFill>
                <a:latin typeface="Arial"/>
                <a:ea typeface="Arial"/>
                <a:cs typeface="Arial"/>
              </a:rPr>
              <a:t>+ other MCP clients</a:t>
            </a:r>
          </a:p>
        </p:txBody>
      </p:sp>
      <p:cxnSp>
        <p:nvCxnSpPr>
          <p:cNvPr id="26" name="Connector 25"/>
          <p:cNvCxnSpPr/>
          <p:nvPr/>
        </p:nvCxnSpPr>
        <p:spPr>
          <a:xfrm>
            <a:off x="7086600" y="1636776"/>
            <a:ext cx="4434840" cy="0"/>
          </a:xfrm>
          <a:prstGeom prst="line">
            <a:avLst/>
          </a:prstGeom>
          <a:ln w="9525">
            <a:solidFill>
              <a:srgbClr val="D7DAD8"/>
            </a:solidFill>
          </a:ln>
        </p:spPr>
      </p:cxnSp>
      <p:sp>
        <p:nvSpPr>
          <p:cNvPr id="27" name="Rounded Rectangle 26"/>
          <p:cNvSpPr/>
          <p:nvPr/>
        </p:nvSpPr>
        <p:spPr>
          <a:xfrm>
            <a:off x="8901348" y="1801368"/>
            <a:ext cx="2364059" cy="402336"/>
          </a:xfrm>
          <a:prstGeom prst="roundRect">
            <a:avLst>
              <a:gd name="adj" fmla="val 50000"/>
            </a:avLst>
          </a:prstGeom>
          <a:solidFill>
            <a:srgbClr val="151515"/>
          </a:solidFill>
          <a:ln>
            <a:noFill/>
          </a:ln>
          <a:effectLst/>
        </p:spPr>
        <p:txBody>
          <a:bodyPr rtlCol="0" anchor="ctr"/>
          <a:lstStyle/>
          <a:p/>
        </p:txBody>
      </p:sp>
      <p:sp>
        <p:nvSpPr>
          <p:cNvPr id="28" name="TextBox 27"/>
          <p:cNvSpPr txBox="1"/>
          <p:nvPr/>
        </p:nvSpPr>
        <p:spPr>
          <a:xfrm>
            <a:off x="8901348" y="1801368"/>
            <a:ext cx="2364059" cy="402336"/>
          </a:xfrm>
          <a:prstGeom prst="rect">
            <a:avLst/>
          </a:prstGeom>
          <a:noFill/>
        </p:spPr>
        <p:txBody>
          <a:bodyPr wrap="none" lIns="164592" rIns="164592" tIns="0" bIns="0" anchor="ctr"/>
          <a:lstStyle/>
          <a:p>
            <a:pPr algn="l"/>
            <a:r>
              <a:rPr sz="1150" b="0" i="0">
                <a:solidFill>
                  <a:srgbClr val="FFFFFF"/>
                </a:solidFill>
                <a:latin typeface="Arial"/>
                <a:ea typeface="Arial"/>
                <a:cs typeface="Arial"/>
              </a:rPr>
              <a:t>Find a loose-fit vintage hoodie.</a:t>
            </a:r>
          </a:p>
        </p:txBody>
      </p:sp>
      <p:sp>
        <p:nvSpPr>
          <p:cNvPr id="29" name="Rounded Rectangle 28"/>
          <p:cNvSpPr/>
          <p:nvPr/>
        </p:nvSpPr>
        <p:spPr>
          <a:xfrm>
            <a:off x="7342631" y="2295144"/>
            <a:ext cx="2972654" cy="402336"/>
          </a:xfrm>
          <a:prstGeom prst="roundRect">
            <a:avLst>
              <a:gd name="adj" fmla="val 50000"/>
            </a:avLst>
          </a:prstGeom>
          <a:solidFill>
            <a:srgbClr val="F5F6F4"/>
          </a:solidFill>
          <a:ln w="6350">
            <a:solidFill>
              <a:srgbClr val="D7DAD8"/>
            </a:solidFill>
          </a:ln>
          <a:effectLst/>
        </p:spPr>
        <p:txBody>
          <a:bodyPr rtlCol="0" anchor="ctr"/>
          <a:lstStyle/>
          <a:p/>
        </p:txBody>
      </p:sp>
      <p:sp>
        <p:nvSpPr>
          <p:cNvPr id="30" name="TextBox 29"/>
          <p:cNvSpPr txBox="1"/>
          <p:nvPr/>
        </p:nvSpPr>
        <p:spPr>
          <a:xfrm>
            <a:off x="7342631" y="2295144"/>
            <a:ext cx="2972654" cy="402336"/>
          </a:xfrm>
          <a:prstGeom prst="rect">
            <a:avLst/>
          </a:prstGeom>
          <a:noFill/>
        </p:spPr>
        <p:txBody>
          <a:bodyPr wrap="none" lIns="164592" rIns="164592" tIns="0" bIns="0" anchor="ctr"/>
          <a:lstStyle/>
          <a:p>
            <a:pPr algn="l"/>
            <a:r>
              <a:rPr sz="1150" b="0" i="0">
                <a:solidFill>
                  <a:srgbClr val="151515"/>
                </a:solidFill>
                <a:latin typeface="Arial"/>
                <a:ea typeface="Arial"/>
                <a:cs typeface="Arial"/>
              </a:rPr>
              <a:t>Here are 12 matches from SuperCheap.</a:t>
            </a:r>
          </a:p>
        </p:txBody>
      </p:sp>
      <p:sp>
        <p:nvSpPr>
          <p:cNvPr id="31" name="Rounded Rectangle 30"/>
          <p:cNvSpPr/>
          <p:nvPr/>
        </p:nvSpPr>
        <p:spPr>
          <a:xfrm>
            <a:off x="8772133" y="2880360"/>
            <a:ext cx="2493274" cy="402336"/>
          </a:xfrm>
          <a:prstGeom prst="roundRect">
            <a:avLst>
              <a:gd name="adj" fmla="val 50000"/>
            </a:avLst>
          </a:prstGeom>
          <a:solidFill>
            <a:srgbClr val="151515"/>
          </a:solidFill>
          <a:ln>
            <a:noFill/>
          </a:ln>
          <a:effectLst/>
        </p:spPr>
        <p:txBody>
          <a:bodyPr rtlCol="0" anchor="ctr"/>
          <a:lstStyle/>
          <a:p/>
        </p:txBody>
      </p:sp>
      <p:sp>
        <p:nvSpPr>
          <p:cNvPr id="32" name="TextBox 31"/>
          <p:cNvSpPr txBox="1"/>
          <p:nvPr/>
        </p:nvSpPr>
        <p:spPr>
          <a:xfrm>
            <a:off x="8772133" y="2880360"/>
            <a:ext cx="2493274" cy="402336"/>
          </a:xfrm>
          <a:prstGeom prst="rect">
            <a:avLst/>
          </a:prstGeom>
          <a:noFill/>
        </p:spPr>
        <p:txBody>
          <a:bodyPr wrap="none" lIns="164592" rIns="164592" tIns="0" bIns="0" anchor="ctr"/>
          <a:lstStyle/>
          <a:p>
            <a:pPr algn="l"/>
            <a:r>
              <a:rPr sz="1150" b="0" i="0">
                <a:solidFill>
                  <a:srgbClr val="FFFFFF"/>
                </a:solidFill>
                <a:latin typeface="Arial"/>
                <a:ea typeface="Arial"/>
                <a:cs typeface="Arial"/>
              </a:rPr>
              <a:t>My chest is 104 cm. Which size?</a:t>
            </a:r>
          </a:p>
        </p:txBody>
      </p:sp>
      <p:sp>
        <p:nvSpPr>
          <p:cNvPr id="33" name="Rounded Rectangle 32"/>
          <p:cNvSpPr/>
          <p:nvPr/>
        </p:nvSpPr>
        <p:spPr>
          <a:xfrm>
            <a:off x="7342631" y="3374136"/>
            <a:ext cx="2252732" cy="402336"/>
          </a:xfrm>
          <a:prstGeom prst="roundRect">
            <a:avLst>
              <a:gd name="adj" fmla="val 50000"/>
            </a:avLst>
          </a:prstGeom>
          <a:solidFill>
            <a:srgbClr val="F5F6F4"/>
          </a:solidFill>
          <a:ln w="6350">
            <a:solidFill>
              <a:srgbClr val="D7DAD8"/>
            </a:solidFill>
          </a:ln>
          <a:effectLst/>
        </p:spPr>
        <p:txBody>
          <a:bodyPr rtlCol="0" anchor="ctr"/>
          <a:lstStyle/>
          <a:p/>
        </p:txBody>
      </p:sp>
      <p:sp>
        <p:nvSpPr>
          <p:cNvPr id="34" name="TextBox 33"/>
          <p:cNvSpPr txBox="1"/>
          <p:nvPr/>
        </p:nvSpPr>
        <p:spPr>
          <a:xfrm>
            <a:off x="7342631" y="3374136"/>
            <a:ext cx="2252732" cy="402336"/>
          </a:xfrm>
          <a:prstGeom prst="rect">
            <a:avLst/>
          </a:prstGeom>
          <a:noFill/>
        </p:spPr>
        <p:txBody>
          <a:bodyPr wrap="none" lIns="164592" rIns="164592" tIns="0" bIns="0" anchor="ctr"/>
          <a:lstStyle/>
          <a:p>
            <a:pPr algn="l"/>
            <a:r>
              <a:rPr sz="1150" b="0" i="0">
                <a:solidFill>
                  <a:srgbClr val="151515"/>
                </a:solidFill>
                <a:latin typeface="Arial"/>
                <a:ea typeface="Arial"/>
                <a:cs typeface="Arial"/>
              </a:rPr>
              <a:t>Per the size chart, L fits best.</a:t>
            </a:r>
          </a:p>
        </p:txBody>
      </p:sp>
      <p:sp>
        <p:nvSpPr>
          <p:cNvPr id="35" name="Rounded Rectangle 34"/>
          <p:cNvSpPr/>
          <p:nvPr/>
        </p:nvSpPr>
        <p:spPr>
          <a:xfrm>
            <a:off x="9115293" y="3959352"/>
            <a:ext cx="2150114" cy="402336"/>
          </a:xfrm>
          <a:prstGeom prst="roundRect">
            <a:avLst>
              <a:gd name="adj" fmla="val 50000"/>
            </a:avLst>
          </a:prstGeom>
          <a:solidFill>
            <a:srgbClr val="151515"/>
          </a:solidFill>
          <a:ln>
            <a:noFill/>
          </a:ln>
          <a:effectLst/>
        </p:spPr>
        <p:txBody>
          <a:bodyPr rtlCol="0" anchor="ctr"/>
          <a:lstStyle/>
          <a:p/>
        </p:txBody>
      </p:sp>
      <p:sp>
        <p:nvSpPr>
          <p:cNvPr id="36" name="TextBox 35"/>
          <p:cNvSpPr txBox="1"/>
          <p:nvPr/>
        </p:nvSpPr>
        <p:spPr>
          <a:xfrm>
            <a:off x="9115293" y="3959352"/>
            <a:ext cx="2150114" cy="402336"/>
          </a:xfrm>
          <a:prstGeom prst="rect">
            <a:avLst/>
          </a:prstGeom>
          <a:noFill/>
        </p:spPr>
        <p:txBody>
          <a:bodyPr wrap="none" lIns="164592" rIns="164592" tIns="0" bIns="0" anchor="ctr"/>
          <a:lstStyle/>
          <a:p>
            <a:pPr algn="l"/>
            <a:r>
              <a:rPr sz="1150" b="0" i="0">
                <a:solidFill>
                  <a:srgbClr val="FFFFFF"/>
                </a:solidFill>
                <a:latin typeface="Arial"/>
                <a:ea typeface="Arial"/>
                <a:cs typeface="Arial"/>
              </a:rPr>
              <a:t>Add the L. I’m ready to pay.</a:t>
            </a:r>
          </a:p>
        </p:txBody>
      </p:sp>
      <p:sp>
        <p:nvSpPr>
          <p:cNvPr id="37" name="Rounded Rectangle 36"/>
          <p:cNvSpPr/>
          <p:nvPr/>
        </p:nvSpPr>
        <p:spPr>
          <a:xfrm>
            <a:off x="7342631" y="4453128"/>
            <a:ext cx="2710359" cy="402336"/>
          </a:xfrm>
          <a:prstGeom prst="roundRect">
            <a:avLst>
              <a:gd name="adj" fmla="val 50000"/>
            </a:avLst>
          </a:prstGeom>
          <a:solidFill>
            <a:srgbClr val="F5F6F4"/>
          </a:solidFill>
          <a:ln w="6350">
            <a:solidFill>
              <a:srgbClr val="D7DAD8"/>
            </a:solidFill>
          </a:ln>
          <a:effectLst/>
        </p:spPr>
        <p:txBody>
          <a:bodyPr rtlCol="0" anchor="ctr"/>
          <a:lstStyle/>
          <a:p/>
        </p:txBody>
      </p:sp>
      <p:sp>
        <p:nvSpPr>
          <p:cNvPr id="38" name="TextBox 37"/>
          <p:cNvSpPr txBox="1"/>
          <p:nvPr/>
        </p:nvSpPr>
        <p:spPr>
          <a:xfrm>
            <a:off x="7342631" y="4453128"/>
            <a:ext cx="2710359" cy="402336"/>
          </a:xfrm>
          <a:prstGeom prst="rect">
            <a:avLst/>
          </a:prstGeom>
          <a:noFill/>
        </p:spPr>
        <p:txBody>
          <a:bodyPr wrap="none" lIns="164592" rIns="164592" tIns="0" bIns="0" anchor="ctr"/>
          <a:lstStyle/>
          <a:p>
            <a:pPr algn="l"/>
            <a:r>
              <a:rPr sz="1150" b="0" i="0">
                <a:solidFill>
                  <a:srgbClr val="151515"/>
                </a:solidFill>
                <a:latin typeface="Arial"/>
                <a:ea typeface="Arial"/>
                <a:cs typeface="Arial"/>
              </a:rPr>
              <a:t>Here’s your quote and payment link.</a:t>
            </a:r>
          </a:p>
        </p:txBody>
      </p:sp>
      <p:sp>
        <p:nvSpPr>
          <p:cNvPr id="39" name="Rounded Rectangle 38"/>
          <p:cNvSpPr/>
          <p:nvPr/>
        </p:nvSpPr>
        <p:spPr>
          <a:xfrm>
            <a:off x="9659482" y="5038344"/>
            <a:ext cx="1605925" cy="402336"/>
          </a:xfrm>
          <a:prstGeom prst="roundRect">
            <a:avLst>
              <a:gd name="adj" fmla="val 50000"/>
            </a:avLst>
          </a:prstGeom>
          <a:solidFill>
            <a:srgbClr val="151515"/>
          </a:solidFill>
          <a:ln>
            <a:noFill/>
          </a:ln>
          <a:effectLst/>
        </p:spPr>
        <p:txBody>
          <a:bodyPr rtlCol="0" anchor="ctr"/>
          <a:lstStyle/>
          <a:p/>
        </p:txBody>
      </p:sp>
      <p:sp>
        <p:nvSpPr>
          <p:cNvPr id="40" name="TextBox 39"/>
          <p:cNvSpPr txBox="1"/>
          <p:nvPr/>
        </p:nvSpPr>
        <p:spPr>
          <a:xfrm>
            <a:off x="9659482" y="5038344"/>
            <a:ext cx="1605925" cy="402336"/>
          </a:xfrm>
          <a:prstGeom prst="rect">
            <a:avLst/>
          </a:prstGeom>
          <a:noFill/>
        </p:spPr>
        <p:txBody>
          <a:bodyPr wrap="none" lIns="164592" rIns="164592" tIns="0" bIns="0" anchor="ctr"/>
          <a:lstStyle/>
          <a:p>
            <a:pPr algn="l"/>
            <a:r>
              <a:rPr sz="1150" b="0" i="0">
                <a:solidFill>
                  <a:srgbClr val="FFFFFF"/>
                </a:solidFill>
                <a:latin typeface="Arial"/>
                <a:ea typeface="Arial"/>
                <a:cs typeface="Arial"/>
              </a:rPr>
              <a:t>Where’s my order?</a:t>
            </a:r>
          </a:p>
        </p:txBody>
      </p:sp>
      <p:sp>
        <p:nvSpPr>
          <p:cNvPr id="41" name="Rounded Rectangle 40"/>
          <p:cNvSpPr/>
          <p:nvPr/>
        </p:nvSpPr>
        <p:spPr>
          <a:xfrm>
            <a:off x="7342631" y="5532120"/>
            <a:ext cx="2488142" cy="402336"/>
          </a:xfrm>
          <a:prstGeom prst="roundRect">
            <a:avLst>
              <a:gd name="adj" fmla="val 50000"/>
            </a:avLst>
          </a:prstGeom>
          <a:solidFill>
            <a:srgbClr val="F5F6F4"/>
          </a:solidFill>
          <a:ln w="6350">
            <a:solidFill>
              <a:srgbClr val="D7DAD8"/>
            </a:solidFill>
          </a:ln>
          <a:effectLst/>
        </p:spPr>
        <p:txBody>
          <a:bodyPr rtlCol="0" anchor="ctr"/>
          <a:lstStyle/>
          <a:p/>
        </p:txBody>
      </p:sp>
      <p:sp>
        <p:nvSpPr>
          <p:cNvPr id="42" name="TextBox 41"/>
          <p:cNvSpPr txBox="1"/>
          <p:nvPr/>
        </p:nvSpPr>
        <p:spPr>
          <a:xfrm>
            <a:off x="7342631" y="5532120"/>
            <a:ext cx="2488142" cy="402336"/>
          </a:xfrm>
          <a:prstGeom prst="rect">
            <a:avLst/>
          </a:prstGeom>
          <a:noFill/>
        </p:spPr>
        <p:txBody>
          <a:bodyPr wrap="none" lIns="164592" rIns="164592" tIns="0" bIns="0" anchor="ctr"/>
          <a:lstStyle/>
          <a:p>
            <a:pPr algn="l"/>
            <a:r>
              <a:rPr sz="1150" b="0" i="0">
                <a:solidFill>
                  <a:srgbClr val="151515"/>
                </a:solidFill>
                <a:latin typeface="Arial"/>
                <a:ea typeface="Arial"/>
                <a:cs typeface="Arial"/>
              </a:rPr>
              <a:t>It’s in transit. Here’s the tracking.</a:t>
            </a:r>
          </a:p>
        </p:txBody>
      </p:sp>
      <p:sp>
        <p:nvSpPr>
          <p:cNvPr id="43" name="TextBox 42"/>
          <p:cNvSpPr txBox="1"/>
          <p:nvPr/>
        </p:nvSpPr>
        <p:spPr>
          <a:xfrm>
            <a:off x="10972800" y="6355080"/>
            <a:ext cx="548640" cy="274320"/>
          </a:xfrm>
          <a:prstGeom prst="rect">
            <a:avLst/>
          </a:prstGeom>
          <a:noFill/>
        </p:spPr>
        <p:txBody>
          <a:bodyPr wrap="square" lIns="0" rIns="0" tIns="0" bIns="0" anchor="t"/>
          <a:lstStyle/>
          <a:p>
            <a:pPr algn="r"/>
            <a:r>
              <a:rPr sz="1000" b="0" i="0">
                <a:solidFill>
                  <a:srgbClr val="8A8F8C"/>
                </a:solidFill>
                <a:latin typeface="Arial"/>
                <a:ea typeface="Arial"/>
                <a:cs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7315200" cy="274320"/>
          </a:xfrm>
          <a:prstGeom prst="rect">
            <a:avLst/>
          </a:prstGeom>
          <a:noFill/>
        </p:spPr>
        <p:txBody>
          <a:bodyPr wrap="square" lIns="0" rIns="0" tIns="0" bIns="0" anchor="t"/>
          <a:lstStyle/>
          <a:p>
            <a:pPr algn="l"/>
            <a:r>
              <a:rPr sz="1100" b="1" i="0" spc="200">
                <a:solidFill>
                  <a:srgbClr val="087F5B"/>
                </a:solidFill>
                <a:latin typeface="Arial"/>
                <a:ea typeface="Arial"/>
                <a:cs typeface="Arial"/>
              </a:rPr>
              <a:t>FIT AND SIZE</a:t>
            </a:r>
          </a:p>
        </p:txBody>
      </p:sp>
      <p:sp>
        <p:nvSpPr>
          <p:cNvPr id="3" name="TextBox 2"/>
          <p:cNvSpPr txBox="1"/>
          <p:nvPr/>
        </p:nvSpPr>
        <p:spPr>
          <a:xfrm>
            <a:off x="685800" y="868680"/>
            <a:ext cx="4572000" cy="1005840"/>
          </a:xfrm>
          <a:prstGeom prst="rect">
            <a:avLst/>
          </a:prstGeom>
          <a:noFill/>
        </p:spPr>
        <p:txBody>
          <a:bodyPr wrap="square" lIns="0" rIns="0" tIns="0" bIns="0" anchor="t"/>
          <a:lstStyle/>
          <a:p>
            <a:pPr algn="l"/>
            <a:r>
              <a:rPr sz="5400" b="1" i="0" spc="-150">
                <a:solidFill>
                  <a:srgbClr val="151515"/>
                </a:solidFill>
                <a:latin typeface="Arial"/>
                <a:ea typeface="Arial"/>
                <a:cs typeface="Arial"/>
              </a:rPr>
              <a:t>Will it fit?</a:t>
            </a:r>
          </a:p>
        </p:txBody>
      </p:sp>
      <p:sp>
        <p:nvSpPr>
          <p:cNvPr id="4" name="TextBox 3"/>
          <p:cNvSpPr txBox="1"/>
          <p:nvPr/>
        </p:nvSpPr>
        <p:spPr>
          <a:xfrm>
            <a:off x="685800" y="1938528"/>
            <a:ext cx="1463040" cy="914400"/>
          </a:xfrm>
          <a:prstGeom prst="rect">
            <a:avLst/>
          </a:prstGeom>
          <a:noFill/>
        </p:spPr>
        <p:txBody>
          <a:bodyPr wrap="square" lIns="0" rIns="0" tIns="0" bIns="0" anchor="t"/>
          <a:lstStyle/>
          <a:p>
            <a:pPr algn="l"/>
            <a:r>
              <a:rPr sz="5000" b="1" i="0" spc="-100">
                <a:solidFill>
                  <a:srgbClr val="087F5B"/>
                </a:solidFill>
                <a:latin typeface="Arial"/>
                <a:ea typeface="Arial"/>
                <a:cs typeface="Arial"/>
              </a:rPr>
              <a:t>#1</a:t>
            </a:r>
          </a:p>
        </p:txBody>
      </p:sp>
      <p:sp>
        <p:nvSpPr>
          <p:cNvPr id="5" name="TextBox 4"/>
          <p:cNvSpPr txBox="1"/>
          <p:nvPr/>
        </p:nvSpPr>
        <p:spPr>
          <a:xfrm>
            <a:off x="2057400" y="2057400"/>
            <a:ext cx="2926080" cy="914400"/>
          </a:xfrm>
          <a:prstGeom prst="rect">
            <a:avLst/>
          </a:prstGeom>
          <a:noFill/>
        </p:spPr>
        <p:txBody>
          <a:bodyPr wrap="square" lIns="0" rIns="0" tIns="0" bIns="0" anchor="t"/>
          <a:lstStyle/>
          <a:p>
            <a:pPr algn="l">
              <a:lnSpc>
                <a:spcPct val="112000"/>
              </a:lnSpc>
            </a:pPr>
            <a:r>
              <a:rPr sz="1400" b="0" i="0">
                <a:solidFill>
                  <a:srgbClr val="666A68"/>
                </a:solidFill>
                <a:latin typeface="Arial"/>
                <a:ea typeface="Arial"/>
                <a:cs typeface="Arial"/>
              </a:rPr>
              <a:t>reason shoppers gave for hesitating before payment in our earlier survey</a:t>
            </a:r>
          </a:p>
        </p:txBody>
      </p:sp>
      <p:cxnSp>
        <p:nvCxnSpPr>
          <p:cNvPr id="6" name="Connector 5"/>
          <p:cNvCxnSpPr/>
          <p:nvPr/>
        </p:nvCxnSpPr>
        <p:spPr>
          <a:xfrm>
            <a:off x="685800" y="3017520"/>
            <a:ext cx="4297680" cy="0"/>
          </a:xfrm>
          <a:prstGeom prst="line">
            <a:avLst/>
          </a:prstGeom>
          <a:ln w="9525">
            <a:solidFill>
              <a:srgbClr val="D7DAD8"/>
            </a:solidFill>
          </a:ln>
        </p:spPr>
      </p:cxnSp>
      <p:sp>
        <p:nvSpPr>
          <p:cNvPr id="7" name="TextBox 6"/>
          <p:cNvSpPr txBox="1"/>
          <p:nvPr/>
        </p:nvSpPr>
        <p:spPr>
          <a:xfrm>
            <a:off x="685800" y="3127248"/>
            <a:ext cx="4297680" cy="274320"/>
          </a:xfrm>
          <a:prstGeom prst="rect">
            <a:avLst/>
          </a:prstGeom>
          <a:noFill/>
        </p:spPr>
        <p:txBody>
          <a:bodyPr wrap="square" lIns="0" rIns="0" tIns="0" bIns="0" anchor="t"/>
          <a:lstStyle/>
          <a:p>
            <a:pPr algn="l"/>
            <a:r>
              <a:rPr sz="1000" b="1" i="0" spc="200">
                <a:solidFill>
                  <a:srgbClr val="087F5B"/>
                </a:solidFill>
                <a:latin typeface="Arial"/>
                <a:ea typeface="Arial"/>
                <a:cs typeface="Arial"/>
              </a:rPr>
              <a:t>BEFORE PAYING</a:t>
            </a:r>
          </a:p>
        </p:txBody>
      </p:sp>
      <p:sp>
        <p:nvSpPr>
          <p:cNvPr id="8" name="Oval 7"/>
          <p:cNvSpPr/>
          <p:nvPr/>
        </p:nvSpPr>
        <p:spPr>
          <a:xfrm>
            <a:off x="685800" y="3474720"/>
            <a:ext cx="457200" cy="457200"/>
          </a:xfrm>
          <a:prstGeom prst="ellipse">
            <a:avLst/>
          </a:prstGeom>
          <a:solidFill>
            <a:srgbClr val="F0FFD9"/>
          </a:solidFill>
          <a:ln>
            <a:noFill/>
          </a:ln>
          <a:effectLst/>
        </p:spPr>
        <p:txBody>
          <a:bodyPr rtlCol="0" anchor="ctr"/>
          <a:lstStyle/>
          <a:p>
            <a:pPr algn="ctr"/>
          </a:p>
        </p:txBody>
      </p:sp>
      <p:pic>
        <p:nvPicPr>
          <p:cNvPr id="9" name="Picture 8" descr="ruler_dark.png"/>
          <p:cNvPicPr>
            <a:picLocks noChangeAspect="1"/>
          </p:cNvPicPr>
          <p:nvPr/>
        </p:nvPicPr>
        <p:blipFill>
          <a:blip r:embed="rId2"/>
          <a:stretch>
            <a:fillRect/>
          </a:stretch>
        </p:blipFill>
        <p:spPr>
          <a:xfrm>
            <a:off x="795528" y="3584448"/>
            <a:ext cx="237744" cy="237744"/>
          </a:xfrm>
          <a:prstGeom prst="rect">
            <a:avLst/>
          </a:prstGeom>
        </p:spPr>
      </p:pic>
      <p:sp>
        <p:nvSpPr>
          <p:cNvPr id="10" name="TextBox 9"/>
          <p:cNvSpPr txBox="1"/>
          <p:nvPr/>
        </p:nvSpPr>
        <p:spPr>
          <a:xfrm>
            <a:off x="1325880" y="3493008"/>
            <a:ext cx="3657600" cy="548640"/>
          </a:xfrm>
          <a:prstGeom prst="rect">
            <a:avLst/>
          </a:prstGeom>
          <a:noFill/>
        </p:spPr>
        <p:txBody>
          <a:bodyPr wrap="square" lIns="0" rIns="0" tIns="0" bIns="0" anchor="t"/>
          <a:lstStyle/>
          <a:p>
            <a:pPr algn="l">
              <a:lnSpc>
                <a:spcPct val="108000"/>
              </a:lnSpc>
            </a:pPr>
            <a:r>
              <a:rPr sz="1400" b="0" i="0">
                <a:solidFill>
                  <a:srgbClr val="151515"/>
                </a:solidFill>
                <a:latin typeface="Arial"/>
                <a:ea typeface="Arial"/>
                <a:cs typeface="Arial"/>
              </a:rPr>
              <a:t>AI reads and translates supplier size charts.</a:t>
            </a:r>
          </a:p>
        </p:txBody>
      </p:sp>
      <p:sp>
        <p:nvSpPr>
          <p:cNvPr id="11" name="Oval 10"/>
          <p:cNvSpPr/>
          <p:nvPr/>
        </p:nvSpPr>
        <p:spPr>
          <a:xfrm>
            <a:off x="685800" y="4078224"/>
            <a:ext cx="457200" cy="457200"/>
          </a:xfrm>
          <a:prstGeom prst="ellipse">
            <a:avLst/>
          </a:prstGeom>
          <a:solidFill>
            <a:srgbClr val="F0FFD9"/>
          </a:solidFill>
          <a:ln>
            <a:noFill/>
          </a:ln>
          <a:effectLst/>
        </p:spPr>
        <p:txBody>
          <a:bodyPr rtlCol="0" anchor="ctr"/>
          <a:lstStyle/>
          <a:p>
            <a:pPr algn="ctr"/>
          </a:p>
        </p:txBody>
      </p:sp>
      <p:pic>
        <p:nvPicPr>
          <p:cNvPr id="12" name="Picture 11" descr="shirt_dark.png"/>
          <p:cNvPicPr>
            <a:picLocks noChangeAspect="1"/>
          </p:cNvPicPr>
          <p:nvPr/>
        </p:nvPicPr>
        <p:blipFill>
          <a:blip r:embed="rId3"/>
          <a:stretch>
            <a:fillRect/>
          </a:stretch>
        </p:blipFill>
        <p:spPr>
          <a:xfrm>
            <a:off x="795528" y="4187952"/>
            <a:ext cx="237744" cy="237744"/>
          </a:xfrm>
          <a:prstGeom prst="rect">
            <a:avLst/>
          </a:prstGeom>
        </p:spPr>
      </p:pic>
      <p:sp>
        <p:nvSpPr>
          <p:cNvPr id="13" name="TextBox 12"/>
          <p:cNvSpPr txBox="1"/>
          <p:nvPr/>
        </p:nvSpPr>
        <p:spPr>
          <a:xfrm>
            <a:off x="1325880" y="4096511"/>
            <a:ext cx="3657600" cy="548640"/>
          </a:xfrm>
          <a:prstGeom prst="rect">
            <a:avLst/>
          </a:prstGeom>
          <a:noFill/>
        </p:spPr>
        <p:txBody>
          <a:bodyPr wrap="square" lIns="0" rIns="0" tIns="0" bIns="0" anchor="t"/>
          <a:lstStyle/>
          <a:p>
            <a:pPr algn="l">
              <a:lnSpc>
                <a:spcPct val="108000"/>
              </a:lnSpc>
            </a:pPr>
            <a:r>
              <a:rPr sz="1400" b="0" i="0">
                <a:solidFill>
                  <a:srgbClr val="151515"/>
                </a:solidFill>
                <a:latin typeface="Arial"/>
                <a:ea typeface="Arial"/>
                <a:cs typeface="Arial"/>
              </a:rPr>
              <a:t>Fit guidance compares the shopper’s measurements with the chart.</a:t>
            </a:r>
          </a:p>
        </p:txBody>
      </p:sp>
      <p:cxnSp>
        <p:nvCxnSpPr>
          <p:cNvPr id="14" name="Connector 13"/>
          <p:cNvCxnSpPr/>
          <p:nvPr/>
        </p:nvCxnSpPr>
        <p:spPr>
          <a:xfrm>
            <a:off x="685800" y="4791456"/>
            <a:ext cx="4297680" cy="0"/>
          </a:xfrm>
          <a:prstGeom prst="line">
            <a:avLst/>
          </a:prstGeom>
          <a:ln w="9525">
            <a:solidFill>
              <a:srgbClr val="D7DAD8"/>
            </a:solidFill>
          </a:ln>
        </p:spPr>
      </p:cxnSp>
      <p:sp>
        <p:nvSpPr>
          <p:cNvPr id="15" name="TextBox 14"/>
          <p:cNvSpPr txBox="1"/>
          <p:nvPr/>
        </p:nvSpPr>
        <p:spPr>
          <a:xfrm>
            <a:off x="685800" y="4901184"/>
            <a:ext cx="4297680" cy="274320"/>
          </a:xfrm>
          <a:prstGeom prst="rect">
            <a:avLst/>
          </a:prstGeom>
          <a:noFill/>
        </p:spPr>
        <p:txBody>
          <a:bodyPr wrap="square" lIns="0" rIns="0" tIns="0" bIns="0" anchor="t"/>
          <a:lstStyle/>
          <a:p>
            <a:pPr algn="l"/>
            <a:r>
              <a:rPr sz="1000" b="1" i="0" spc="200">
                <a:solidFill>
                  <a:srgbClr val="087F5B"/>
                </a:solidFill>
                <a:latin typeface="Arial"/>
                <a:ea typeface="Arial"/>
                <a:cs typeface="Arial"/>
              </a:rPr>
              <a:t>BEFORE SHIPPING</a:t>
            </a:r>
          </a:p>
        </p:txBody>
      </p:sp>
      <p:sp>
        <p:nvSpPr>
          <p:cNvPr id="16" name="Oval 15"/>
          <p:cNvSpPr/>
          <p:nvPr/>
        </p:nvSpPr>
        <p:spPr>
          <a:xfrm>
            <a:off x="685800" y="5248656"/>
            <a:ext cx="457200" cy="457200"/>
          </a:xfrm>
          <a:prstGeom prst="ellipse">
            <a:avLst/>
          </a:prstGeom>
          <a:solidFill>
            <a:srgbClr val="A3F75C"/>
          </a:solidFill>
          <a:ln>
            <a:noFill/>
          </a:ln>
          <a:effectLst/>
        </p:spPr>
        <p:txBody>
          <a:bodyPr rtlCol="0" anchor="ctr"/>
          <a:lstStyle/>
          <a:p>
            <a:pPr algn="ctr"/>
          </a:p>
        </p:txBody>
      </p:sp>
      <p:pic>
        <p:nvPicPr>
          <p:cNvPr id="17" name="Picture 16" descr="camera_dark.png"/>
          <p:cNvPicPr>
            <a:picLocks noChangeAspect="1"/>
          </p:cNvPicPr>
          <p:nvPr/>
        </p:nvPicPr>
        <p:blipFill>
          <a:blip r:embed="rId4"/>
          <a:stretch>
            <a:fillRect/>
          </a:stretch>
        </p:blipFill>
        <p:spPr>
          <a:xfrm>
            <a:off x="795528" y="5358384"/>
            <a:ext cx="237744" cy="237744"/>
          </a:xfrm>
          <a:prstGeom prst="rect">
            <a:avLst/>
          </a:prstGeom>
        </p:spPr>
      </p:pic>
      <p:sp>
        <p:nvSpPr>
          <p:cNvPr id="18" name="TextBox 17"/>
          <p:cNvSpPr txBox="1"/>
          <p:nvPr/>
        </p:nvSpPr>
        <p:spPr>
          <a:xfrm>
            <a:off x="1325880" y="5266944"/>
            <a:ext cx="3657600" cy="548640"/>
          </a:xfrm>
          <a:prstGeom prst="rect">
            <a:avLst/>
          </a:prstGeom>
          <a:noFill/>
        </p:spPr>
        <p:txBody>
          <a:bodyPr wrap="square" lIns="0" rIns="0" tIns="0" bIns="0" anchor="t"/>
          <a:lstStyle/>
          <a:p>
            <a:pPr algn="l">
              <a:lnSpc>
                <a:spcPct val="108000"/>
              </a:lnSpc>
            </a:pPr>
            <a:r>
              <a:rPr sz="1400" b="1" i="0">
                <a:solidFill>
                  <a:srgbClr val="151515"/>
                </a:solidFill>
                <a:latin typeface="Arial"/>
                <a:ea typeface="Arial"/>
                <a:cs typeface="Arial"/>
              </a:rPr>
              <a:t>The shopper sees warehouse photos of the actual item.</a:t>
            </a:r>
          </a:p>
        </p:txBody>
      </p:sp>
      <p:sp>
        <p:nvSpPr>
          <p:cNvPr id="19" name="Oval 18"/>
          <p:cNvSpPr/>
          <p:nvPr/>
        </p:nvSpPr>
        <p:spPr>
          <a:xfrm>
            <a:off x="685800" y="5852160"/>
            <a:ext cx="457200" cy="457200"/>
          </a:xfrm>
          <a:prstGeom prst="ellipse">
            <a:avLst/>
          </a:prstGeom>
          <a:solidFill>
            <a:srgbClr val="A3F75C"/>
          </a:solidFill>
          <a:ln>
            <a:noFill/>
          </a:ln>
          <a:effectLst/>
        </p:spPr>
        <p:txBody>
          <a:bodyPr rtlCol="0" anchor="ctr"/>
          <a:lstStyle/>
          <a:p>
            <a:pPr algn="ctr"/>
          </a:p>
        </p:txBody>
      </p:sp>
      <p:pic>
        <p:nvPicPr>
          <p:cNvPr id="20" name="Picture 19" descr="check_dark.png"/>
          <p:cNvPicPr>
            <a:picLocks noChangeAspect="1"/>
          </p:cNvPicPr>
          <p:nvPr/>
        </p:nvPicPr>
        <p:blipFill>
          <a:blip r:embed="rId5"/>
          <a:stretch>
            <a:fillRect/>
          </a:stretch>
        </p:blipFill>
        <p:spPr>
          <a:xfrm>
            <a:off x="795528" y="5961888"/>
            <a:ext cx="237744" cy="237744"/>
          </a:xfrm>
          <a:prstGeom prst="rect">
            <a:avLst/>
          </a:prstGeom>
        </p:spPr>
      </p:pic>
      <p:sp>
        <p:nvSpPr>
          <p:cNvPr id="21" name="TextBox 20"/>
          <p:cNvSpPr txBox="1"/>
          <p:nvPr/>
        </p:nvSpPr>
        <p:spPr>
          <a:xfrm>
            <a:off x="1325880" y="5870448"/>
            <a:ext cx="3657600" cy="548640"/>
          </a:xfrm>
          <a:prstGeom prst="rect">
            <a:avLst/>
          </a:prstGeom>
          <a:noFill/>
        </p:spPr>
        <p:txBody>
          <a:bodyPr wrap="square" lIns="0" rIns="0" tIns="0" bIns="0" anchor="t"/>
          <a:lstStyle/>
          <a:p>
            <a:pPr algn="l">
              <a:lnSpc>
                <a:spcPct val="108000"/>
              </a:lnSpc>
            </a:pPr>
            <a:r>
              <a:rPr sz="1400" b="1" i="0">
                <a:solidFill>
                  <a:srgbClr val="151515"/>
                </a:solidFill>
                <a:latin typeface="Arial"/>
                <a:ea typeface="Arial"/>
                <a:cs typeface="Arial"/>
              </a:rPr>
              <a:t>Not right? The shopper can decline it before it ships.</a:t>
            </a:r>
          </a:p>
        </p:txBody>
      </p:sp>
      <p:pic>
        <p:nvPicPr>
          <p:cNvPr id="22" name="Picture 21" descr="sizing.jpg"/>
          <p:cNvPicPr>
            <a:picLocks noChangeAspect="1"/>
          </p:cNvPicPr>
          <p:nvPr/>
        </p:nvPicPr>
        <p:blipFill>
          <a:blip r:embed="rId6"/>
          <a:stretch>
            <a:fillRect/>
          </a:stretch>
        </p:blipFill>
        <p:spPr>
          <a:xfrm>
            <a:off x="5440680" y="1234440"/>
            <a:ext cx="6080760" cy="3422245"/>
          </a:xfrm>
          <a:prstGeom prst="roundRect">
            <a:avLst>
              <a:gd name="adj" fmla="val 7481"/>
            </a:avLst>
          </a:prstGeom>
        </p:spPr>
      </p:pic>
      <p:sp>
        <p:nvSpPr>
          <p:cNvPr id="23" name="TextBox 22"/>
          <p:cNvSpPr txBox="1"/>
          <p:nvPr/>
        </p:nvSpPr>
        <p:spPr>
          <a:xfrm>
            <a:off x="5440680" y="4766413"/>
            <a:ext cx="6080760" cy="274320"/>
          </a:xfrm>
          <a:prstGeom prst="rect">
            <a:avLst/>
          </a:prstGeom>
          <a:noFill/>
        </p:spPr>
        <p:txBody>
          <a:bodyPr wrap="square" lIns="0" rIns="0" tIns="0" bIns="0" anchor="t"/>
          <a:lstStyle/>
          <a:p>
            <a:pPr algn="r"/>
            <a:r>
              <a:rPr sz="1000" b="0" i="0">
                <a:solidFill>
                  <a:srgbClr val="8A8F8C"/>
                </a:solidFill>
                <a:latin typeface="Arial"/>
                <a:ea typeface="Arial"/>
                <a:cs typeface="Arial"/>
              </a:rPr>
              <a:t>Illustration</a:t>
            </a:r>
          </a:p>
        </p:txBody>
      </p:sp>
      <p:sp>
        <p:nvSpPr>
          <p:cNvPr id="24" name="Rounded Rectangle 23"/>
          <p:cNvSpPr/>
          <p:nvPr/>
        </p:nvSpPr>
        <p:spPr>
          <a:xfrm>
            <a:off x="5440680" y="5486400"/>
            <a:ext cx="6080760" cy="566928"/>
          </a:xfrm>
          <a:prstGeom prst="roundRect">
            <a:avLst>
              <a:gd name="adj" fmla="val 32258"/>
            </a:avLst>
          </a:prstGeom>
          <a:solidFill>
            <a:srgbClr val="F0FFD9"/>
          </a:solidFill>
          <a:ln>
            <a:noFill/>
          </a:ln>
          <a:effectLst/>
        </p:spPr>
        <p:txBody>
          <a:bodyPr rtlCol="0" anchor="ctr"/>
          <a:lstStyle/>
          <a:p/>
        </p:txBody>
      </p:sp>
      <p:sp>
        <p:nvSpPr>
          <p:cNvPr id="25" name="TextBox 24"/>
          <p:cNvSpPr txBox="1"/>
          <p:nvPr/>
        </p:nvSpPr>
        <p:spPr>
          <a:xfrm>
            <a:off x="5669280" y="5486400"/>
            <a:ext cx="5669280" cy="566928"/>
          </a:xfrm>
          <a:prstGeom prst="rect">
            <a:avLst/>
          </a:prstGeom>
          <a:noFill/>
        </p:spPr>
        <p:txBody>
          <a:bodyPr wrap="square" lIns="0" rIns="0" tIns="0" bIns="0" anchor="ctr"/>
          <a:lstStyle/>
          <a:p>
            <a:pPr algn="l"/>
            <a:r>
              <a:rPr sz="1300" b="1" i="0">
                <a:solidFill>
                  <a:srgbClr val="14210E"/>
                </a:solidFill>
                <a:latin typeface="Arial"/>
                <a:ea typeface="Arial"/>
                <a:cs typeface="Arial"/>
              </a:rPr>
              <a:t>Two checkpoints: fit guidance before paying, and the shopper’s own look before shipping.</a:t>
            </a:r>
          </a:p>
        </p:txBody>
      </p:sp>
      <p:sp>
        <p:nvSpPr>
          <p:cNvPr id="26" name="TextBox 25"/>
          <p:cNvSpPr txBox="1"/>
          <p:nvPr/>
        </p:nvSpPr>
        <p:spPr>
          <a:xfrm>
            <a:off x="10972800" y="6355080"/>
            <a:ext cx="548640" cy="274320"/>
          </a:xfrm>
          <a:prstGeom prst="rect">
            <a:avLst/>
          </a:prstGeom>
          <a:noFill/>
        </p:spPr>
        <p:txBody>
          <a:bodyPr wrap="square" lIns="0" rIns="0" tIns="0" bIns="0" anchor="t"/>
          <a:lstStyle/>
          <a:p>
            <a:pPr algn="r"/>
            <a:r>
              <a:rPr sz="1000" b="0" i="0">
                <a:solidFill>
                  <a:srgbClr val="8A8F8C"/>
                </a:solidFill>
                <a:latin typeface="Arial"/>
                <a:ea typeface="Arial"/>
                <a:cs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6F4"/>
        </a:solidFill>
        <a:effectLst/>
      </p:bgPr>
    </p:bg>
    <p:spTree>
      <p:nvGrpSpPr>
        <p:cNvPr id="1" name=""/>
        <p:cNvGrpSpPr/>
        <p:nvPr/>
      </p:nvGrpSpPr>
      <p:grpSpPr/>
      <p:sp>
        <p:nvSpPr>
          <p:cNvPr id="2" name="TextBox 1"/>
          <p:cNvSpPr txBox="1"/>
          <p:nvPr/>
        </p:nvSpPr>
        <p:spPr>
          <a:xfrm>
            <a:off x="685800" y="566928"/>
            <a:ext cx="7315200" cy="274320"/>
          </a:xfrm>
          <a:prstGeom prst="rect">
            <a:avLst/>
          </a:prstGeom>
          <a:noFill/>
        </p:spPr>
        <p:txBody>
          <a:bodyPr wrap="square" lIns="0" rIns="0" tIns="0" bIns="0" anchor="t"/>
          <a:lstStyle/>
          <a:p>
            <a:pPr algn="l"/>
            <a:r>
              <a:rPr sz="1100" b="1" i="0" spc="200">
                <a:solidFill>
                  <a:srgbClr val="087F5B"/>
                </a:solidFill>
                <a:latin typeface="Arial"/>
                <a:ea typeface="Arial"/>
                <a:cs typeface="Arial"/>
              </a:rPr>
              <a:t>WHY NOW?</a:t>
            </a:r>
          </a:p>
        </p:txBody>
      </p:sp>
      <p:sp>
        <p:nvSpPr>
          <p:cNvPr id="3" name="TextBox 2"/>
          <p:cNvSpPr txBox="1"/>
          <p:nvPr/>
        </p:nvSpPr>
        <p:spPr>
          <a:xfrm>
            <a:off x="685800" y="896112"/>
            <a:ext cx="10515600" cy="1371600"/>
          </a:xfrm>
          <a:prstGeom prst="rect">
            <a:avLst/>
          </a:prstGeom>
          <a:noFill/>
        </p:spPr>
        <p:txBody>
          <a:bodyPr wrap="square" lIns="0" rIns="0" tIns="0" bIns="0" anchor="t"/>
          <a:lstStyle/>
          <a:p>
            <a:pPr algn="l">
              <a:lnSpc>
                <a:spcPct val="96000"/>
              </a:lnSpc>
            </a:pPr>
            <a:r>
              <a:rPr sz="3600" b="1" i="0" spc="-100">
                <a:solidFill>
                  <a:srgbClr val="151515"/>
                </a:solidFill>
                <a:latin typeface="Arial"/>
                <a:ea typeface="Arial"/>
                <a:cs typeface="Arial"/>
              </a:rPr>
              <a:t>A small team can now build</a:t>
            </a:r>
          </a:p>
          <a:p>
            <a:pPr algn="l">
              <a:lnSpc>
                <a:spcPct val="96000"/>
              </a:lnSpc>
            </a:pPr>
            <a:r>
              <a:rPr sz="3600" b="1" i="0" spc="-100">
                <a:solidFill>
                  <a:srgbClr val="151515"/>
                </a:solidFill>
                <a:latin typeface="Arial"/>
                <a:ea typeface="Arial"/>
                <a:cs typeface="Arial"/>
              </a:rPr>
              <a:t>a Temu-class operation</a:t>
            </a:r>
          </a:p>
        </p:txBody>
      </p:sp>
      <p:sp>
        <p:nvSpPr>
          <p:cNvPr id="4" name="Rounded Rectangle 3"/>
          <p:cNvSpPr/>
          <p:nvPr/>
        </p:nvSpPr>
        <p:spPr>
          <a:xfrm>
            <a:off x="685800" y="2286000"/>
            <a:ext cx="4343400" cy="3246120"/>
          </a:xfrm>
          <a:prstGeom prst="roundRect">
            <a:avLst>
              <a:gd name="adj" fmla="val 6760"/>
            </a:avLst>
          </a:prstGeom>
          <a:solidFill>
            <a:srgbClr val="FFFFFF"/>
          </a:solidFill>
          <a:ln w="9525">
            <a:solidFill>
              <a:srgbClr val="D7DAD8"/>
            </a:solidFill>
          </a:ln>
          <a:effectLst/>
        </p:spPr>
        <p:txBody>
          <a:bodyPr rtlCol="0" anchor="ctr"/>
          <a:lstStyle/>
          <a:p/>
        </p:txBody>
      </p:sp>
      <p:sp>
        <p:nvSpPr>
          <p:cNvPr id="5" name="TextBox 4"/>
          <p:cNvSpPr txBox="1"/>
          <p:nvPr/>
        </p:nvSpPr>
        <p:spPr>
          <a:xfrm>
            <a:off x="1069848" y="2633472"/>
            <a:ext cx="3657600" cy="274320"/>
          </a:xfrm>
          <a:prstGeom prst="rect">
            <a:avLst/>
          </a:prstGeom>
          <a:noFill/>
        </p:spPr>
        <p:txBody>
          <a:bodyPr wrap="square" lIns="0" rIns="0" tIns="0" bIns="0" anchor="t"/>
          <a:lstStyle/>
          <a:p>
            <a:pPr algn="l"/>
            <a:r>
              <a:rPr sz="1100" b="1" i="0" spc="200">
                <a:solidFill>
                  <a:srgbClr val="8A8F8C"/>
                </a:solidFill>
                <a:latin typeface="Arial"/>
                <a:ea typeface="Arial"/>
                <a:cs typeface="Arial"/>
              </a:rPr>
              <a:t>BEFORE</a:t>
            </a:r>
          </a:p>
        </p:txBody>
      </p:sp>
      <p:sp>
        <p:nvSpPr>
          <p:cNvPr id="6" name="TextBox 5"/>
          <p:cNvSpPr txBox="1"/>
          <p:nvPr/>
        </p:nvSpPr>
        <p:spPr>
          <a:xfrm>
            <a:off x="1069848" y="2999232"/>
            <a:ext cx="3611880" cy="822960"/>
          </a:xfrm>
          <a:prstGeom prst="rect">
            <a:avLst/>
          </a:prstGeom>
          <a:noFill/>
        </p:spPr>
        <p:txBody>
          <a:bodyPr wrap="square" lIns="0" rIns="0" tIns="0" bIns="0" anchor="t"/>
          <a:lstStyle/>
          <a:p>
            <a:pPr algn="l"/>
            <a:r>
              <a:rPr sz="1900" b="1" i="0">
                <a:solidFill>
                  <a:srgbClr val="151515"/>
                </a:solidFill>
                <a:latin typeface="Arial"/>
                <a:ea typeface="Arial"/>
                <a:cs typeface="Arial"/>
              </a:rPr>
              <a:t>A large team, plus resellers</a:t>
            </a:r>
          </a:p>
        </p:txBody>
      </p:sp>
      <p:sp>
        <p:nvSpPr>
          <p:cNvPr id="7" name="Oval 6"/>
          <p:cNvSpPr/>
          <p:nvPr/>
        </p:nvSpPr>
        <p:spPr>
          <a:xfrm>
            <a:off x="1097280" y="3657600"/>
            <a:ext cx="82296" cy="82296"/>
          </a:xfrm>
          <a:prstGeom prst="ellipse">
            <a:avLst/>
          </a:prstGeom>
          <a:solidFill>
            <a:srgbClr val="8A8F8C"/>
          </a:solidFill>
          <a:ln>
            <a:noFill/>
          </a:ln>
          <a:effectLst/>
        </p:spPr>
        <p:txBody>
          <a:bodyPr rtlCol="0" anchor="ctr"/>
          <a:lstStyle/>
          <a:p>
            <a:pPr algn="ctr"/>
          </a:p>
        </p:txBody>
      </p:sp>
      <p:sp>
        <p:nvSpPr>
          <p:cNvPr id="8" name="TextBox 7"/>
          <p:cNvSpPr txBox="1"/>
          <p:nvPr/>
        </p:nvSpPr>
        <p:spPr>
          <a:xfrm>
            <a:off x="1325880" y="3566160"/>
            <a:ext cx="3520440" cy="411480"/>
          </a:xfrm>
          <a:prstGeom prst="rect">
            <a:avLst/>
          </a:prstGeom>
          <a:noFill/>
        </p:spPr>
        <p:txBody>
          <a:bodyPr wrap="square" lIns="0" rIns="0" tIns="0" bIns="0" anchor="t"/>
          <a:lstStyle/>
          <a:p>
            <a:pPr algn="l"/>
            <a:r>
              <a:rPr sz="1350" b="0" i="0">
                <a:solidFill>
                  <a:srgbClr val="666A68"/>
                </a:solidFill>
                <a:latin typeface="Arial"/>
                <a:ea typeface="Arial"/>
                <a:cs typeface="Arial"/>
              </a:rPr>
              <a:t>Catalog cleanup and translation by hand</a:t>
            </a:r>
          </a:p>
        </p:txBody>
      </p:sp>
      <p:sp>
        <p:nvSpPr>
          <p:cNvPr id="9" name="Oval 8"/>
          <p:cNvSpPr/>
          <p:nvPr/>
        </p:nvSpPr>
        <p:spPr>
          <a:xfrm>
            <a:off x="1097280" y="4114800"/>
            <a:ext cx="82296" cy="82296"/>
          </a:xfrm>
          <a:prstGeom prst="ellipse">
            <a:avLst/>
          </a:prstGeom>
          <a:solidFill>
            <a:srgbClr val="8A8F8C"/>
          </a:solidFill>
          <a:ln>
            <a:noFill/>
          </a:ln>
          <a:effectLst/>
        </p:spPr>
        <p:txBody>
          <a:bodyPr rtlCol="0" anchor="ctr"/>
          <a:lstStyle/>
          <a:p>
            <a:pPr algn="ctr"/>
          </a:p>
        </p:txBody>
      </p:sp>
      <p:sp>
        <p:nvSpPr>
          <p:cNvPr id="10" name="TextBox 9"/>
          <p:cNvSpPr txBox="1"/>
          <p:nvPr/>
        </p:nvSpPr>
        <p:spPr>
          <a:xfrm>
            <a:off x="1325880" y="4023360"/>
            <a:ext cx="3520440" cy="411480"/>
          </a:xfrm>
          <a:prstGeom prst="rect">
            <a:avLst/>
          </a:prstGeom>
          <a:noFill/>
        </p:spPr>
        <p:txBody>
          <a:bodyPr wrap="square" lIns="0" rIns="0" tIns="0" bIns="0" anchor="t"/>
          <a:lstStyle/>
          <a:p>
            <a:pPr algn="l"/>
            <a:r>
              <a:rPr sz="1350" b="0" i="0">
                <a:solidFill>
                  <a:srgbClr val="666A68"/>
                </a:solidFill>
                <a:latin typeface="Arial"/>
                <a:ea typeface="Arial"/>
                <a:cs typeface="Arial"/>
              </a:rPr>
              <a:t>A support desk for every order question</a:t>
            </a:r>
          </a:p>
        </p:txBody>
      </p:sp>
      <p:sp>
        <p:nvSpPr>
          <p:cNvPr id="11" name="Oval 10"/>
          <p:cNvSpPr/>
          <p:nvPr/>
        </p:nvSpPr>
        <p:spPr>
          <a:xfrm>
            <a:off x="1097280" y="4572000"/>
            <a:ext cx="82296" cy="82296"/>
          </a:xfrm>
          <a:prstGeom prst="ellipse">
            <a:avLst/>
          </a:prstGeom>
          <a:solidFill>
            <a:srgbClr val="8A8F8C"/>
          </a:solidFill>
          <a:ln>
            <a:noFill/>
          </a:ln>
          <a:effectLst/>
        </p:spPr>
        <p:txBody>
          <a:bodyPr rtlCol="0" anchor="ctr"/>
          <a:lstStyle/>
          <a:p>
            <a:pPr algn="ctr"/>
          </a:p>
        </p:txBody>
      </p:sp>
      <p:sp>
        <p:nvSpPr>
          <p:cNvPr id="12" name="TextBox 11"/>
          <p:cNvSpPr txBox="1"/>
          <p:nvPr/>
        </p:nvSpPr>
        <p:spPr>
          <a:xfrm>
            <a:off x="1325880" y="4480560"/>
            <a:ext cx="3520440" cy="411480"/>
          </a:xfrm>
          <a:prstGeom prst="rect">
            <a:avLst/>
          </a:prstGeom>
          <a:noFill/>
        </p:spPr>
        <p:txBody>
          <a:bodyPr wrap="square" lIns="0" rIns="0" tIns="0" bIns="0" anchor="t"/>
          <a:lstStyle/>
          <a:p>
            <a:pPr algn="l"/>
            <a:r>
              <a:rPr sz="1350" b="0" i="0">
                <a:solidFill>
                  <a:srgbClr val="666A68"/>
                </a:solidFill>
                <a:latin typeface="Arial"/>
                <a:ea typeface="Arial"/>
                <a:cs typeface="Arial"/>
              </a:rPr>
              <a:t>Manual creator outreach</a:t>
            </a:r>
          </a:p>
        </p:txBody>
      </p:sp>
      <p:sp>
        <p:nvSpPr>
          <p:cNvPr id="13" name="Oval 12"/>
          <p:cNvSpPr/>
          <p:nvPr/>
        </p:nvSpPr>
        <p:spPr>
          <a:xfrm>
            <a:off x="1097280" y="5029200"/>
            <a:ext cx="82296" cy="82296"/>
          </a:xfrm>
          <a:prstGeom prst="ellipse">
            <a:avLst/>
          </a:prstGeom>
          <a:solidFill>
            <a:srgbClr val="8A8F8C"/>
          </a:solidFill>
          <a:ln>
            <a:noFill/>
          </a:ln>
          <a:effectLst/>
        </p:spPr>
        <p:txBody>
          <a:bodyPr rtlCol="0" anchor="ctr"/>
          <a:lstStyle/>
          <a:p>
            <a:pPr algn="ctr"/>
          </a:p>
        </p:txBody>
      </p:sp>
      <p:sp>
        <p:nvSpPr>
          <p:cNvPr id="14" name="TextBox 13"/>
          <p:cNvSpPr txBox="1"/>
          <p:nvPr/>
        </p:nvSpPr>
        <p:spPr>
          <a:xfrm>
            <a:off x="1325880" y="4937760"/>
            <a:ext cx="3520440" cy="411480"/>
          </a:xfrm>
          <a:prstGeom prst="rect">
            <a:avLst/>
          </a:prstGeom>
          <a:noFill/>
        </p:spPr>
        <p:txBody>
          <a:bodyPr wrap="square" lIns="0" rIns="0" tIns="0" bIns="0" anchor="t"/>
          <a:lstStyle/>
          <a:p>
            <a:pPr algn="l"/>
            <a:r>
              <a:rPr sz="1350" b="0" i="0">
                <a:solidFill>
                  <a:srgbClr val="666A68"/>
                </a:solidFill>
                <a:latin typeface="Arial"/>
                <a:ea typeface="Arial"/>
                <a:cs typeface="Arial"/>
              </a:rPr>
              <a:t>Reseller markup on top of the supplier price</a:t>
            </a:r>
          </a:p>
        </p:txBody>
      </p:sp>
      <p:sp>
        <p:nvSpPr>
          <p:cNvPr id="15" name="Right Arrow 14"/>
          <p:cNvSpPr/>
          <p:nvPr/>
        </p:nvSpPr>
        <p:spPr>
          <a:xfrm>
            <a:off x="5230368" y="3694176"/>
            <a:ext cx="457200" cy="420624"/>
          </a:xfrm>
          <a:prstGeom prst="rightArrow">
            <a:avLst/>
          </a:prstGeom>
          <a:solidFill>
            <a:srgbClr val="151515"/>
          </a:solidFill>
          <a:ln>
            <a:noFill/>
          </a:ln>
        </p:spPr>
        <p:txBody>
          <a:bodyPr rtlCol="0" anchor="ctr"/>
          <a:lstStyle/>
          <a:p>
            <a:pPr algn="ctr"/>
          </a:p>
        </p:txBody>
      </p:sp>
      <p:sp>
        <p:nvSpPr>
          <p:cNvPr id="16" name="Rounded Rectangle 15"/>
          <p:cNvSpPr/>
          <p:nvPr/>
        </p:nvSpPr>
        <p:spPr>
          <a:xfrm>
            <a:off x="5897880" y="2286000"/>
            <a:ext cx="5623560" cy="3246120"/>
          </a:xfrm>
          <a:prstGeom prst="roundRect">
            <a:avLst>
              <a:gd name="adj" fmla="val 6760"/>
            </a:avLst>
          </a:prstGeom>
          <a:solidFill>
            <a:srgbClr val="151515"/>
          </a:solidFill>
          <a:ln>
            <a:noFill/>
          </a:ln>
          <a:effectLst/>
        </p:spPr>
        <p:txBody>
          <a:bodyPr rtlCol="0" anchor="ctr"/>
          <a:lstStyle/>
          <a:p/>
        </p:txBody>
      </p:sp>
      <p:sp>
        <p:nvSpPr>
          <p:cNvPr id="17" name="TextBox 16"/>
          <p:cNvSpPr txBox="1"/>
          <p:nvPr/>
        </p:nvSpPr>
        <p:spPr>
          <a:xfrm>
            <a:off x="6309360" y="2633472"/>
            <a:ext cx="3657600" cy="274320"/>
          </a:xfrm>
          <a:prstGeom prst="rect">
            <a:avLst/>
          </a:prstGeom>
          <a:noFill/>
        </p:spPr>
        <p:txBody>
          <a:bodyPr wrap="square" lIns="0" rIns="0" tIns="0" bIns="0" anchor="t"/>
          <a:lstStyle/>
          <a:p>
            <a:pPr algn="l"/>
            <a:r>
              <a:rPr sz="1100" b="1" i="0" spc="200">
                <a:solidFill>
                  <a:srgbClr val="A3F75C"/>
                </a:solidFill>
                <a:latin typeface="Arial"/>
                <a:ea typeface="Arial"/>
                <a:cs typeface="Arial"/>
              </a:rPr>
              <a:t>TODAY</a:t>
            </a:r>
          </a:p>
        </p:txBody>
      </p:sp>
      <p:sp>
        <p:nvSpPr>
          <p:cNvPr id="18" name="TextBox 17"/>
          <p:cNvSpPr txBox="1"/>
          <p:nvPr/>
        </p:nvSpPr>
        <p:spPr>
          <a:xfrm>
            <a:off x="6309360" y="2999232"/>
            <a:ext cx="4937760" cy="457200"/>
          </a:xfrm>
          <a:prstGeom prst="rect">
            <a:avLst/>
          </a:prstGeom>
          <a:noFill/>
        </p:spPr>
        <p:txBody>
          <a:bodyPr wrap="square" lIns="0" rIns="0" tIns="0" bIns="0" anchor="t"/>
          <a:lstStyle/>
          <a:p>
            <a:pPr algn="l"/>
            <a:r>
              <a:rPr sz="1900" b="1" i="0">
                <a:solidFill>
                  <a:srgbClr val="FFFFFF"/>
                </a:solidFill>
                <a:latin typeface="Arial"/>
                <a:ea typeface="Arial"/>
                <a:cs typeface="Arial"/>
              </a:rPr>
              <a:t>AI agents do the work. People review.</a:t>
            </a:r>
          </a:p>
        </p:txBody>
      </p:sp>
      <p:sp>
        <p:nvSpPr>
          <p:cNvPr id="19" name="TextBox 18"/>
          <p:cNvSpPr txBox="1"/>
          <p:nvPr/>
        </p:nvSpPr>
        <p:spPr>
          <a:xfrm>
            <a:off x="6309360" y="3566160"/>
            <a:ext cx="1600200" cy="548640"/>
          </a:xfrm>
          <a:prstGeom prst="rect">
            <a:avLst/>
          </a:prstGeom>
          <a:noFill/>
        </p:spPr>
        <p:txBody>
          <a:bodyPr wrap="square" lIns="0" rIns="0" tIns="0" bIns="0" anchor="t"/>
          <a:lstStyle/>
          <a:p>
            <a:pPr algn="l"/>
            <a:r>
              <a:rPr sz="1400" b="1" i="0">
                <a:solidFill>
                  <a:srgbClr val="A3F75C"/>
                </a:solidFill>
                <a:latin typeface="Arial"/>
                <a:ea typeface="Arial"/>
                <a:cs typeface="Arial"/>
              </a:rPr>
              <a:t>Catalog data</a:t>
            </a:r>
          </a:p>
        </p:txBody>
      </p:sp>
      <p:sp>
        <p:nvSpPr>
          <p:cNvPr id="20" name="TextBox 19"/>
          <p:cNvSpPr txBox="1"/>
          <p:nvPr/>
        </p:nvSpPr>
        <p:spPr>
          <a:xfrm>
            <a:off x="7909560" y="3566160"/>
            <a:ext cx="3200400" cy="548640"/>
          </a:xfrm>
          <a:prstGeom prst="rect">
            <a:avLst/>
          </a:prstGeom>
          <a:noFill/>
        </p:spPr>
        <p:txBody>
          <a:bodyPr wrap="square" lIns="0" rIns="0" tIns="0" bIns="0" anchor="t"/>
          <a:lstStyle/>
          <a:p>
            <a:pPr algn="l">
              <a:lnSpc>
                <a:spcPct val="108000"/>
              </a:lnSpc>
            </a:pPr>
            <a:r>
              <a:rPr sz="1300" b="0" i="0">
                <a:solidFill>
                  <a:srgbClr val="FFFFFF"/>
                </a:solidFill>
                <a:latin typeface="Arial"/>
                <a:ea typeface="Arial"/>
                <a:cs typeface="Arial"/>
              </a:rPr>
              <a:t>Clean, translated listings from messy supplier text, photos and size charts.</a:t>
            </a:r>
          </a:p>
        </p:txBody>
      </p:sp>
      <p:cxnSp>
        <p:nvCxnSpPr>
          <p:cNvPr id="21" name="Connector 20"/>
          <p:cNvCxnSpPr/>
          <p:nvPr/>
        </p:nvCxnSpPr>
        <p:spPr>
          <a:xfrm>
            <a:off x="6309360" y="4096512"/>
            <a:ext cx="4800600" cy="0"/>
          </a:xfrm>
          <a:prstGeom prst="line">
            <a:avLst/>
          </a:prstGeom>
          <a:ln w="9525">
            <a:solidFill>
              <a:srgbClr val="3A3D3B"/>
            </a:solidFill>
          </a:ln>
        </p:spPr>
      </p:cxnSp>
      <p:sp>
        <p:nvSpPr>
          <p:cNvPr id="22" name="TextBox 21"/>
          <p:cNvSpPr txBox="1"/>
          <p:nvPr/>
        </p:nvSpPr>
        <p:spPr>
          <a:xfrm>
            <a:off x="6309360" y="4187952"/>
            <a:ext cx="1600200" cy="548640"/>
          </a:xfrm>
          <a:prstGeom prst="rect">
            <a:avLst/>
          </a:prstGeom>
          <a:noFill/>
        </p:spPr>
        <p:txBody>
          <a:bodyPr wrap="square" lIns="0" rIns="0" tIns="0" bIns="0" anchor="t"/>
          <a:lstStyle/>
          <a:p>
            <a:pPr algn="l"/>
            <a:r>
              <a:rPr sz="1400" b="1" i="0">
                <a:solidFill>
                  <a:srgbClr val="A3F75C"/>
                </a:solidFill>
                <a:latin typeface="Arial"/>
                <a:ea typeface="Arial"/>
                <a:cs typeface="Arial"/>
              </a:rPr>
              <a:t>Order support</a:t>
            </a:r>
          </a:p>
        </p:txBody>
      </p:sp>
      <p:sp>
        <p:nvSpPr>
          <p:cNvPr id="23" name="TextBox 22"/>
          <p:cNvSpPr txBox="1"/>
          <p:nvPr/>
        </p:nvSpPr>
        <p:spPr>
          <a:xfrm>
            <a:off x="7909560" y="4187952"/>
            <a:ext cx="3200400" cy="548640"/>
          </a:xfrm>
          <a:prstGeom prst="rect">
            <a:avLst/>
          </a:prstGeom>
          <a:noFill/>
        </p:spPr>
        <p:txBody>
          <a:bodyPr wrap="square" lIns="0" rIns="0" tIns="0" bIns="0" anchor="t"/>
          <a:lstStyle/>
          <a:p>
            <a:pPr algn="l">
              <a:lnSpc>
                <a:spcPct val="108000"/>
              </a:lnSpc>
            </a:pPr>
            <a:r>
              <a:rPr sz="1300" b="0" i="0">
                <a:solidFill>
                  <a:srgbClr val="FFFFFF"/>
                </a:solidFill>
                <a:latin typeface="Arial"/>
                <a:ea typeface="Arial"/>
                <a:cs typeface="Arial"/>
              </a:rPr>
              <a:t>Agents pull order and tracking context and draft replies for review.</a:t>
            </a:r>
          </a:p>
        </p:txBody>
      </p:sp>
      <p:cxnSp>
        <p:nvCxnSpPr>
          <p:cNvPr id="24" name="Connector 23"/>
          <p:cNvCxnSpPr/>
          <p:nvPr/>
        </p:nvCxnSpPr>
        <p:spPr>
          <a:xfrm>
            <a:off x="6309360" y="4718304"/>
            <a:ext cx="4800600" cy="0"/>
          </a:xfrm>
          <a:prstGeom prst="line">
            <a:avLst/>
          </a:prstGeom>
          <a:ln w="9525">
            <a:solidFill>
              <a:srgbClr val="3A3D3B"/>
            </a:solidFill>
          </a:ln>
        </p:spPr>
      </p:cxnSp>
      <p:sp>
        <p:nvSpPr>
          <p:cNvPr id="25" name="TextBox 24"/>
          <p:cNvSpPr txBox="1"/>
          <p:nvPr/>
        </p:nvSpPr>
        <p:spPr>
          <a:xfrm>
            <a:off x="6309360" y="4809744"/>
            <a:ext cx="1600200" cy="548640"/>
          </a:xfrm>
          <a:prstGeom prst="rect">
            <a:avLst/>
          </a:prstGeom>
          <a:noFill/>
        </p:spPr>
        <p:txBody>
          <a:bodyPr wrap="square" lIns="0" rIns="0" tIns="0" bIns="0" anchor="t"/>
          <a:lstStyle/>
          <a:p>
            <a:pPr algn="l"/>
            <a:r>
              <a:rPr sz="1400" b="1" i="0">
                <a:solidFill>
                  <a:srgbClr val="A3F75C"/>
                </a:solidFill>
                <a:latin typeface="Arial"/>
                <a:ea typeface="Arial"/>
                <a:cs typeface="Arial"/>
              </a:rPr>
              <a:t>Creator growth</a:t>
            </a:r>
          </a:p>
        </p:txBody>
      </p:sp>
      <p:sp>
        <p:nvSpPr>
          <p:cNvPr id="26" name="TextBox 25"/>
          <p:cNvSpPr txBox="1"/>
          <p:nvPr/>
        </p:nvSpPr>
        <p:spPr>
          <a:xfrm>
            <a:off x="7909560" y="4809744"/>
            <a:ext cx="3200400" cy="548640"/>
          </a:xfrm>
          <a:prstGeom prst="rect">
            <a:avLst/>
          </a:prstGeom>
          <a:noFill/>
        </p:spPr>
        <p:txBody>
          <a:bodyPr wrap="square" lIns="0" rIns="0" tIns="0" bIns="0" anchor="t"/>
          <a:lstStyle/>
          <a:p>
            <a:pPr algn="l">
              <a:lnSpc>
                <a:spcPct val="108000"/>
              </a:lnSpc>
            </a:pPr>
            <a:r>
              <a:rPr sz="1300" b="0" i="0">
                <a:solidFill>
                  <a:srgbClr val="FFFFFF"/>
                </a:solidFill>
                <a:latin typeface="Arial"/>
                <a:ea typeface="Arial"/>
                <a:cs typeface="Arial"/>
              </a:rPr>
              <a:t>Agents find creators, run email outreach and track campaigns.</a:t>
            </a:r>
          </a:p>
        </p:txBody>
      </p:sp>
      <p:sp>
        <p:nvSpPr>
          <p:cNvPr id="27" name="Rounded Rectangle 26"/>
          <p:cNvSpPr/>
          <p:nvPr/>
        </p:nvSpPr>
        <p:spPr>
          <a:xfrm>
            <a:off x="685800" y="5760720"/>
            <a:ext cx="10835640" cy="548640"/>
          </a:xfrm>
          <a:prstGeom prst="roundRect">
            <a:avLst>
              <a:gd name="adj" fmla="val 50000"/>
            </a:avLst>
          </a:prstGeom>
          <a:solidFill>
            <a:srgbClr val="A3F75C"/>
          </a:solidFill>
          <a:ln>
            <a:noFill/>
          </a:ln>
          <a:effectLst/>
        </p:spPr>
        <p:txBody>
          <a:bodyPr rtlCol="0" anchor="ctr"/>
          <a:lstStyle/>
          <a:p/>
        </p:txBody>
      </p:sp>
      <p:sp>
        <p:nvSpPr>
          <p:cNvPr id="28" name="TextBox 27"/>
          <p:cNvSpPr txBox="1"/>
          <p:nvPr/>
        </p:nvSpPr>
        <p:spPr>
          <a:xfrm>
            <a:off x="685800" y="5760720"/>
            <a:ext cx="10835640" cy="548640"/>
          </a:xfrm>
          <a:prstGeom prst="rect">
            <a:avLst/>
          </a:prstGeom>
          <a:noFill/>
        </p:spPr>
        <p:txBody>
          <a:bodyPr wrap="square" lIns="0" rIns="0" tIns="0" bIns="0" anchor="ctr"/>
          <a:lstStyle/>
          <a:p>
            <a:pPr algn="ctr"/>
            <a:r>
              <a:rPr sz="1500" b="1" i="0">
                <a:solidFill>
                  <a:srgbClr val="14210E"/>
                </a:solidFill>
                <a:latin typeface="Arial"/>
                <a:ea typeface="Arial"/>
                <a:cs typeface="Arial"/>
              </a:rPr>
              <a:t>Less reseller markup should mean lower average prices for shoppers.</a:t>
            </a:r>
          </a:p>
        </p:txBody>
      </p:sp>
      <p:sp>
        <p:nvSpPr>
          <p:cNvPr id="29" name="TextBox 28"/>
          <p:cNvSpPr txBox="1"/>
          <p:nvPr/>
        </p:nvSpPr>
        <p:spPr>
          <a:xfrm>
            <a:off x="10972800" y="6355080"/>
            <a:ext cx="548640" cy="274320"/>
          </a:xfrm>
          <a:prstGeom prst="rect">
            <a:avLst/>
          </a:prstGeom>
          <a:noFill/>
        </p:spPr>
        <p:txBody>
          <a:bodyPr wrap="square" lIns="0" rIns="0" tIns="0" bIns="0" anchor="t"/>
          <a:lstStyle/>
          <a:p>
            <a:pPr algn="r"/>
            <a:r>
              <a:rPr sz="1000" b="0" i="0">
                <a:solidFill>
                  <a:srgbClr val="8A8F8C"/>
                </a:solidFill>
                <a:latin typeface="Arial"/>
                <a:ea typeface="Arial"/>
                <a:cs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51515"/>
        </a:solidFill>
        <a:effectLst/>
      </p:bgPr>
    </p:bg>
    <p:spTree>
      <p:nvGrpSpPr>
        <p:cNvPr id="1" name=""/>
        <p:cNvGrpSpPr/>
        <p:nvPr/>
      </p:nvGrpSpPr>
      <p:grpSpPr/>
      <p:sp>
        <p:nvSpPr>
          <p:cNvPr id="2" name="TextBox 1"/>
          <p:cNvSpPr txBox="1"/>
          <p:nvPr/>
        </p:nvSpPr>
        <p:spPr>
          <a:xfrm>
            <a:off x="685800" y="566928"/>
            <a:ext cx="7315200" cy="274320"/>
          </a:xfrm>
          <a:prstGeom prst="rect">
            <a:avLst/>
          </a:prstGeom>
          <a:noFill/>
        </p:spPr>
        <p:txBody>
          <a:bodyPr wrap="square" lIns="0" rIns="0" tIns="0" bIns="0" anchor="t"/>
          <a:lstStyle/>
          <a:p>
            <a:pPr algn="l"/>
            <a:r>
              <a:rPr sz="1100" b="1" i="0" spc="200">
                <a:solidFill>
                  <a:srgbClr val="A3F75C"/>
                </a:solidFill>
                <a:latin typeface="Arial"/>
                <a:ea typeface="Arial"/>
                <a:cs typeface="Arial"/>
              </a:rPr>
              <a:t>WHY NOW? THE U.S. MARKET</a:t>
            </a:r>
          </a:p>
        </p:txBody>
      </p:sp>
      <p:sp>
        <p:nvSpPr>
          <p:cNvPr id="3" name="TextBox 2"/>
          <p:cNvSpPr txBox="1"/>
          <p:nvPr/>
        </p:nvSpPr>
        <p:spPr>
          <a:xfrm>
            <a:off x="685800" y="896112"/>
            <a:ext cx="10515600" cy="1371600"/>
          </a:xfrm>
          <a:prstGeom prst="rect">
            <a:avLst/>
          </a:prstGeom>
          <a:noFill/>
        </p:spPr>
        <p:txBody>
          <a:bodyPr wrap="square" lIns="0" rIns="0" tIns="0" bIns="0" anchor="t"/>
          <a:lstStyle/>
          <a:p>
            <a:pPr algn="l">
              <a:lnSpc>
                <a:spcPct val="96000"/>
              </a:lnSpc>
            </a:pPr>
            <a:r>
              <a:rPr sz="3600" b="1" i="0" spc="-100">
                <a:solidFill>
                  <a:srgbClr val="FFFFFF"/>
                </a:solidFill>
                <a:latin typeface="Arial"/>
                <a:ea typeface="Arial"/>
                <a:cs typeface="Arial"/>
              </a:rPr>
              <a:t>A huge market, and a new front door</a:t>
            </a:r>
          </a:p>
          <a:p>
            <a:pPr algn="l">
              <a:lnSpc>
                <a:spcPct val="96000"/>
              </a:lnSpc>
            </a:pPr>
            <a:r>
              <a:rPr sz="3600" b="1" i="0" spc="-100">
                <a:solidFill>
                  <a:srgbClr val="FFFFFF"/>
                </a:solidFill>
                <a:latin typeface="Arial"/>
                <a:ea typeface="Arial"/>
                <a:cs typeface="Arial"/>
              </a:rPr>
              <a:t>that is growing fast</a:t>
            </a:r>
          </a:p>
        </p:txBody>
      </p:sp>
      <p:sp>
        <p:nvSpPr>
          <p:cNvPr id="4" name="TextBox 3"/>
          <p:cNvSpPr txBox="1"/>
          <p:nvPr/>
        </p:nvSpPr>
        <p:spPr>
          <a:xfrm>
            <a:off x="685800" y="2606040"/>
            <a:ext cx="5669280" cy="1371600"/>
          </a:xfrm>
          <a:prstGeom prst="rect">
            <a:avLst/>
          </a:prstGeom>
          <a:noFill/>
        </p:spPr>
        <p:txBody>
          <a:bodyPr wrap="square" lIns="0" rIns="0" tIns="0" bIns="0" anchor="t"/>
          <a:lstStyle/>
          <a:p>
            <a:pPr algn="l"/>
            <a:r>
              <a:rPr sz="8800" b="1" i="0" spc="-200">
                <a:solidFill>
                  <a:srgbClr val="A3F75C"/>
                </a:solidFill>
                <a:latin typeface="Arial"/>
                <a:ea typeface="Arial"/>
                <a:cs typeface="Arial"/>
              </a:rPr>
              <a:t>$340.2B</a:t>
            </a:r>
          </a:p>
        </p:txBody>
      </p:sp>
      <p:sp>
        <p:nvSpPr>
          <p:cNvPr id="5" name="TextBox 4"/>
          <p:cNvSpPr txBox="1"/>
          <p:nvPr/>
        </p:nvSpPr>
        <p:spPr>
          <a:xfrm>
            <a:off x="685800" y="3977639"/>
            <a:ext cx="4846320" cy="1188720"/>
          </a:xfrm>
          <a:prstGeom prst="rect">
            <a:avLst/>
          </a:prstGeom>
          <a:noFill/>
        </p:spPr>
        <p:txBody>
          <a:bodyPr wrap="square" lIns="0" rIns="0" tIns="0" bIns="0" anchor="t"/>
          <a:lstStyle/>
          <a:p>
            <a:pPr algn="l">
              <a:spcAft>
                <a:spcPts val="600"/>
              </a:spcAft>
            </a:pPr>
            <a:r>
              <a:rPr sz="1700" b="0" i="0">
                <a:solidFill>
                  <a:srgbClr val="FFFFFF"/>
                </a:solidFill>
                <a:latin typeface="Arial"/>
                <a:ea typeface="Arial"/>
                <a:cs typeface="Arial"/>
              </a:rPr>
              <a:t>U.S. retail e-commerce sales in Q2 2026</a:t>
            </a:r>
          </a:p>
          <a:p>
            <a:pPr algn="l"/>
            <a:r>
              <a:rPr sz="1300" b="0" i="0">
                <a:solidFill>
                  <a:srgbClr val="B9BDBA"/>
                </a:solidFill>
                <a:latin typeface="Arial"/>
                <a:ea typeface="Arial"/>
                <a:cs typeface="Arial"/>
              </a:rPr>
              <a:t>+12.2% year over year · 17.1% of all retail sales</a:t>
            </a:r>
          </a:p>
        </p:txBody>
      </p:sp>
      <p:cxnSp>
        <p:nvCxnSpPr>
          <p:cNvPr id="6" name="Connector 5"/>
          <p:cNvCxnSpPr/>
          <p:nvPr/>
        </p:nvCxnSpPr>
        <p:spPr>
          <a:xfrm>
            <a:off x="6446520" y="2697480"/>
            <a:ext cx="0" cy="3108960"/>
          </a:xfrm>
          <a:prstGeom prst="line">
            <a:avLst/>
          </a:prstGeom>
          <a:ln w="9525">
            <a:solidFill>
              <a:srgbClr val="3A3D3B"/>
            </a:solidFill>
          </a:ln>
        </p:spPr>
      </p:cxnSp>
      <p:sp>
        <p:nvSpPr>
          <p:cNvPr id="7" name="TextBox 6"/>
          <p:cNvSpPr txBox="1"/>
          <p:nvPr/>
        </p:nvSpPr>
        <p:spPr>
          <a:xfrm>
            <a:off x="6903720" y="2606040"/>
            <a:ext cx="4480560" cy="914400"/>
          </a:xfrm>
          <a:prstGeom prst="rect">
            <a:avLst/>
          </a:prstGeom>
          <a:noFill/>
        </p:spPr>
        <p:txBody>
          <a:bodyPr wrap="square" lIns="0" rIns="0" tIns="0" bIns="0" anchor="t"/>
          <a:lstStyle/>
          <a:p>
            <a:pPr algn="l"/>
            <a:r>
              <a:rPr sz="5400" b="1" i="0" spc="-150">
                <a:solidFill>
                  <a:srgbClr val="FFFFFF"/>
                </a:solidFill>
                <a:latin typeface="Arial"/>
                <a:ea typeface="Arial"/>
                <a:cs typeface="Arial"/>
              </a:rPr>
              <a:t>+71%</a:t>
            </a:r>
          </a:p>
        </p:txBody>
      </p:sp>
      <p:sp>
        <p:nvSpPr>
          <p:cNvPr id="8" name="TextBox 7"/>
          <p:cNvSpPr txBox="1"/>
          <p:nvPr/>
        </p:nvSpPr>
        <p:spPr>
          <a:xfrm>
            <a:off x="6903720" y="3520440"/>
            <a:ext cx="4572000" cy="731520"/>
          </a:xfrm>
          <a:prstGeom prst="rect">
            <a:avLst/>
          </a:prstGeom>
          <a:noFill/>
        </p:spPr>
        <p:txBody>
          <a:bodyPr wrap="square" lIns="0" rIns="0" tIns="0" bIns="0" anchor="t"/>
          <a:lstStyle/>
          <a:p>
            <a:pPr algn="l">
              <a:lnSpc>
                <a:spcPct val="110000"/>
              </a:lnSpc>
            </a:pPr>
            <a:r>
              <a:rPr sz="1350" b="0" i="0">
                <a:solidFill>
                  <a:srgbClr val="B9BDBA"/>
                </a:solidFill>
                <a:latin typeface="Arial"/>
                <a:ea typeface="Arial"/>
                <a:cs typeface="Arial"/>
              </a:rPr>
              <a:t>AI-referred visits to U.S. retail sites, September 2026 vs. a year earlier</a:t>
            </a:r>
          </a:p>
        </p:txBody>
      </p:sp>
      <p:cxnSp>
        <p:nvCxnSpPr>
          <p:cNvPr id="9" name="Connector 8"/>
          <p:cNvCxnSpPr/>
          <p:nvPr/>
        </p:nvCxnSpPr>
        <p:spPr>
          <a:xfrm>
            <a:off x="6903720" y="4370832"/>
            <a:ext cx="4617720" cy="0"/>
          </a:xfrm>
          <a:prstGeom prst="line">
            <a:avLst/>
          </a:prstGeom>
          <a:ln w="9525">
            <a:solidFill>
              <a:srgbClr val="3A3D3B"/>
            </a:solidFill>
          </a:ln>
        </p:spPr>
      </p:cxnSp>
      <p:sp>
        <p:nvSpPr>
          <p:cNvPr id="10" name="TextBox 9"/>
          <p:cNvSpPr txBox="1"/>
          <p:nvPr/>
        </p:nvSpPr>
        <p:spPr>
          <a:xfrm>
            <a:off x="6903720" y="4526280"/>
            <a:ext cx="4480560" cy="914400"/>
          </a:xfrm>
          <a:prstGeom prst="rect">
            <a:avLst/>
          </a:prstGeom>
          <a:noFill/>
        </p:spPr>
        <p:txBody>
          <a:bodyPr wrap="square" lIns="0" rIns="0" tIns="0" bIns="0" anchor="t"/>
          <a:lstStyle/>
          <a:p>
            <a:pPr algn="l"/>
            <a:r>
              <a:rPr sz="5400" b="1" i="0" spc="-150">
                <a:solidFill>
                  <a:srgbClr val="FFFFFF"/>
                </a:solidFill>
                <a:latin typeface="Arial"/>
                <a:ea typeface="Arial"/>
                <a:cs typeface="Arial"/>
              </a:rPr>
              <a:t>1.2B</a:t>
            </a:r>
          </a:p>
        </p:txBody>
      </p:sp>
      <p:sp>
        <p:nvSpPr>
          <p:cNvPr id="11" name="TextBox 10"/>
          <p:cNvSpPr txBox="1"/>
          <p:nvPr/>
        </p:nvSpPr>
        <p:spPr>
          <a:xfrm>
            <a:off x="6903720" y="5440680"/>
            <a:ext cx="4572000" cy="548640"/>
          </a:xfrm>
          <a:prstGeom prst="rect">
            <a:avLst/>
          </a:prstGeom>
          <a:noFill/>
        </p:spPr>
        <p:txBody>
          <a:bodyPr wrap="square" lIns="0" rIns="0" tIns="0" bIns="0" anchor="t"/>
          <a:lstStyle/>
          <a:p>
            <a:pPr algn="l">
              <a:lnSpc>
                <a:spcPct val="110000"/>
              </a:lnSpc>
            </a:pPr>
            <a:r>
              <a:rPr sz="1350" b="0" i="0">
                <a:solidFill>
                  <a:srgbClr val="B9BDBA"/>
                </a:solidFill>
                <a:latin typeface="Arial"/>
                <a:ea typeface="Arial"/>
                <a:cs typeface="Arial"/>
              </a:rPr>
              <a:t>weekly ChatGPT users worldwide, reported September 2026</a:t>
            </a:r>
          </a:p>
        </p:txBody>
      </p:sp>
      <p:sp>
        <p:nvSpPr>
          <p:cNvPr id="12" name="TextBox 11"/>
          <p:cNvSpPr txBox="1"/>
          <p:nvPr/>
        </p:nvSpPr>
        <p:spPr>
          <a:xfrm>
            <a:off x="685800" y="6327648"/>
            <a:ext cx="8229600" cy="274320"/>
          </a:xfrm>
          <a:prstGeom prst="rect">
            <a:avLst/>
          </a:prstGeom>
          <a:noFill/>
        </p:spPr>
        <p:txBody>
          <a:bodyPr wrap="square" lIns="0" rIns="0" tIns="0" bIns="0" anchor="t"/>
          <a:lstStyle/>
          <a:p>
            <a:pPr algn="l"/>
            <a:r>
              <a:rPr sz="1000" b="0" i="0">
                <a:solidFill>
                  <a:srgbClr val="8A8F8C"/>
                </a:solidFill>
                <a:latin typeface="Arial"/>
                <a:ea typeface="Arial"/>
                <a:cs typeface="Arial"/>
              </a:rPr>
              <a:t>U.S. Census Bureau · Adobe Digital Insights · OpenAI</a:t>
            </a:r>
          </a:p>
        </p:txBody>
      </p:sp>
      <p:sp>
        <p:nvSpPr>
          <p:cNvPr id="13" name="TextBox 12"/>
          <p:cNvSpPr txBox="1"/>
          <p:nvPr/>
        </p:nvSpPr>
        <p:spPr>
          <a:xfrm>
            <a:off x="10972800" y="6355080"/>
            <a:ext cx="548640" cy="274320"/>
          </a:xfrm>
          <a:prstGeom prst="rect">
            <a:avLst/>
          </a:prstGeom>
          <a:noFill/>
        </p:spPr>
        <p:txBody>
          <a:bodyPr wrap="square" lIns="0" rIns="0" tIns="0" bIns="0" anchor="t"/>
          <a:lstStyle/>
          <a:p>
            <a:pPr algn="r"/>
            <a:r>
              <a:rPr sz="1000" b="0" i="0">
                <a:solidFill>
                  <a:srgbClr val="B9BDBA"/>
                </a:solidFill>
                <a:latin typeface="Arial"/>
                <a:ea typeface="Arial"/>
                <a:cs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7315200" cy="274320"/>
          </a:xfrm>
          <a:prstGeom prst="rect">
            <a:avLst/>
          </a:prstGeom>
          <a:noFill/>
        </p:spPr>
        <p:txBody>
          <a:bodyPr wrap="square" lIns="0" rIns="0" tIns="0" bIns="0" anchor="t"/>
          <a:lstStyle/>
          <a:p>
            <a:pPr algn="l"/>
            <a:r>
              <a:rPr sz="1100" b="1" i="0" spc="200">
                <a:solidFill>
                  <a:srgbClr val="087F5B"/>
                </a:solidFill>
                <a:latin typeface="Arial"/>
                <a:ea typeface="Arial"/>
                <a:cs typeface="Arial"/>
              </a:rPr>
              <a:t>COMPETITION</a:t>
            </a:r>
          </a:p>
        </p:txBody>
      </p:sp>
      <p:sp>
        <p:nvSpPr>
          <p:cNvPr id="3" name="TextBox 2"/>
          <p:cNvSpPr txBox="1"/>
          <p:nvPr/>
        </p:nvSpPr>
        <p:spPr>
          <a:xfrm>
            <a:off x="685800" y="896112"/>
            <a:ext cx="10515600" cy="1371600"/>
          </a:xfrm>
          <a:prstGeom prst="rect">
            <a:avLst/>
          </a:prstGeom>
          <a:noFill/>
        </p:spPr>
        <p:txBody>
          <a:bodyPr wrap="square" lIns="0" rIns="0" tIns="0" bIns="0" anchor="t"/>
          <a:lstStyle/>
          <a:p>
            <a:pPr algn="l">
              <a:lnSpc>
                <a:spcPct val="96000"/>
              </a:lnSpc>
            </a:pPr>
            <a:r>
              <a:rPr sz="3600" b="1" i="0" spc="-100">
                <a:solidFill>
                  <a:srgbClr val="151515"/>
                </a:solidFill>
                <a:latin typeface="Arial"/>
                <a:ea typeface="Arial"/>
                <a:cs typeface="Arial"/>
              </a:rPr>
              <a:t>Same low-price supply.</a:t>
            </a:r>
          </a:p>
          <a:p>
            <a:pPr algn="l">
              <a:lnSpc>
                <a:spcPct val="96000"/>
              </a:lnSpc>
            </a:pPr>
            <a:r>
              <a:rPr sz="3600" b="1" i="0" spc="-100">
                <a:solidFill>
                  <a:srgbClr val="151515"/>
                </a:solidFill>
                <a:latin typeface="Arial"/>
                <a:ea typeface="Arial"/>
                <a:cs typeface="Arial"/>
              </a:rPr>
              <a:t>Built for the shopper’s agent.</a:t>
            </a:r>
          </a:p>
        </p:txBody>
      </p:sp>
      <p:sp>
        <p:nvSpPr>
          <p:cNvPr id="4" name="Rounded Rectangle 3"/>
          <p:cNvSpPr/>
          <p:nvPr/>
        </p:nvSpPr>
        <p:spPr>
          <a:xfrm>
            <a:off x="9037320" y="2221991"/>
            <a:ext cx="2484119" cy="3328415"/>
          </a:xfrm>
          <a:prstGeom prst="roundRect">
            <a:avLst>
              <a:gd name="adj" fmla="val 7361"/>
            </a:avLst>
          </a:prstGeom>
          <a:solidFill>
            <a:srgbClr val="F0FFD9"/>
          </a:solidFill>
          <a:ln>
            <a:noFill/>
          </a:ln>
          <a:effectLst/>
        </p:spPr>
        <p:txBody>
          <a:bodyPr rtlCol="0" anchor="ctr"/>
          <a:lstStyle/>
          <a:p/>
        </p:txBody>
      </p:sp>
      <p:sp>
        <p:nvSpPr>
          <p:cNvPr id="5" name="TextBox 4"/>
          <p:cNvSpPr txBox="1"/>
          <p:nvPr/>
        </p:nvSpPr>
        <p:spPr>
          <a:xfrm>
            <a:off x="4297680" y="2331720"/>
            <a:ext cx="2118360" cy="411480"/>
          </a:xfrm>
          <a:prstGeom prst="rect">
            <a:avLst/>
          </a:prstGeom>
          <a:noFill/>
        </p:spPr>
        <p:txBody>
          <a:bodyPr wrap="square" lIns="0" rIns="0" tIns="0" bIns="0" anchor="t"/>
          <a:lstStyle/>
          <a:p>
            <a:pPr algn="l"/>
            <a:r>
              <a:rPr sz="1700" b="1" i="0">
                <a:solidFill>
                  <a:srgbClr val="151515"/>
                </a:solidFill>
                <a:latin typeface="Arial"/>
                <a:ea typeface="Arial"/>
                <a:cs typeface="Arial"/>
              </a:rPr>
              <a:t>Temu</a:t>
            </a:r>
          </a:p>
        </p:txBody>
      </p:sp>
      <p:sp>
        <p:nvSpPr>
          <p:cNvPr id="6" name="TextBox 5"/>
          <p:cNvSpPr txBox="1"/>
          <p:nvPr/>
        </p:nvSpPr>
        <p:spPr>
          <a:xfrm>
            <a:off x="6781799" y="2331720"/>
            <a:ext cx="2118360" cy="411480"/>
          </a:xfrm>
          <a:prstGeom prst="rect">
            <a:avLst/>
          </a:prstGeom>
          <a:noFill/>
        </p:spPr>
        <p:txBody>
          <a:bodyPr wrap="square" lIns="0" rIns="0" tIns="0" bIns="0" anchor="t"/>
          <a:lstStyle/>
          <a:p>
            <a:pPr algn="l"/>
            <a:r>
              <a:rPr sz="1700" b="1" i="0">
                <a:solidFill>
                  <a:srgbClr val="151515"/>
                </a:solidFill>
                <a:latin typeface="Arial"/>
                <a:ea typeface="Arial"/>
                <a:cs typeface="Arial"/>
              </a:rPr>
              <a:t>AliExpress</a:t>
            </a:r>
          </a:p>
        </p:txBody>
      </p:sp>
      <p:sp>
        <p:nvSpPr>
          <p:cNvPr id="7" name="TextBox 6"/>
          <p:cNvSpPr txBox="1"/>
          <p:nvPr/>
        </p:nvSpPr>
        <p:spPr>
          <a:xfrm>
            <a:off x="9265920" y="2331720"/>
            <a:ext cx="2118360" cy="411480"/>
          </a:xfrm>
          <a:prstGeom prst="rect">
            <a:avLst/>
          </a:prstGeom>
          <a:noFill/>
        </p:spPr>
        <p:txBody>
          <a:bodyPr wrap="square" lIns="0" rIns="0" tIns="0" bIns="0" anchor="t"/>
          <a:lstStyle/>
          <a:p>
            <a:pPr algn="l"/>
            <a:r>
              <a:rPr sz="1700" b="1" i="0">
                <a:solidFill>
                  <a:srgbClr val="087F5B"/>
                </a:solidFill>
                <a:latin typeface="Arial"/>
                <a:ea typeface="Arial"/>
                <a:cs typeface="Arial"/>
              </a:rPr>
              <a:t>SuperCheap</a:t>
            </a:r>
          </a:p>
        </p:txBody>
      </p:sp>
      <p:cxnSp>
        <p:nvCxnSpPr>
          <p:cNvPr id="8" name="Connector 7"/>
          <p:cNvCxnSpPr/>
          <p:nvPr/>
        </p:nvCxnSpPr>
        <p:spPr>
          <a:xfrm>
            <a:off x="685800" y="2862072"/>
            <a:ext cx="10835640" cy="0"/>
          </a:xfrm>
          <a:prstGeom prst="line">
            <a:avLst/>
          </a:prstGeom>
          <a:ln w="12700">
            <a:solidFill>
              <a:srgbClr val="151515"/>
            </a:solidFill>
          </a:ln>
        </p:spPr>
      </p:cxnSp>
      <p:sp>
        <p:nvSpPr>
          <p:cNvPr id="9" name="TextBox 8"/>
          <p:cNvSpPr txBox="1"/>
          <p:nvPr/>
        </p:nvSpPr>
        <p:spPr>
          <a:xfrm>
            <a:off x="685800" y="2990087"/>
            <a:ext cx="3108960" cy="566928"/>
          </a:xfrm>
          <a:prstGeom prst="rect">
            <a:avLst/>
          </a:prstGeom>
          <a:noFill/>
        </p:spPr>
        <p:txBody>
          <a:bodyPr wrap="square" lIns="0" rIns="0" tIns="0" bIns="0" anchor="t"/>
          <a:lstStyle/>
          <a:p>
            <a:pPr algn="l">
              <a:lnSpc>
                <a:spcPct val="105000"/>
              </a:lnSpc>
            </a:pPr>
            <a:r>
              <a:rPr sz="1400" b="1" i="0">
                <a:solidFill>
                  <a:srgbClr val="151515"/>
                </a:solidFill>
                <a:latin typeface="Arial"/>
                <a:ea typeface="Arial"/>
                <a:cs typeface="Arial"/>
              </a:rPr>
              <a:t>Low-price products from Chinese suppliers</a:t>
            </a:r>
          </a:p>
        </p:txBody>
      </p:sp>
      <p:sp>
        <p:nvSpPr>
          <p:cNvPr id="10" name="TextBox 9"/>
          <p:cNvSpPr txBox="1"/>
          <p:nvPr/>
        </p:nvSpPr>
        <p:spPr>
          <a:xfrm>
            <a:off x="4297680" y="2990087"/>
            <a:ext cx="2072639" cy="566928"/>
          </a:xfrm>
          <a:prstGeom prst="rect">
            <a:avLst/>
          </a:prstGeom>
          <a:noFill/>
        </p:spPr>
        <p:txBody>
          <a:bodyPr wrap="square" lIns="0" rIns="0" tIns="0" bIns="0" anchor="t"/>
          <a:lstStyle/>
          <a:p>
            <a:pPr algn="l">
              <a:lnSpc>
                <a:spcPct val="105000"/>
              </a:lnSpc>
            </a:pPr>
            <a:r>
              <a:rPr sz="1300" b="0" i="0">
                <a:solidFill>
                  <a:srgbClr val="666A68"/>
                </a:solidFill>
                <a:latin typeface="Arial"/>
                <a:ea typeface="Arial"/>
                <a:cs typeface="Arial"/>
              </a:rPr>
              <a:t>Yes</a:t>
            </a:r>
          </a:p>
        </p:txBody>
      </p:sp>
      <p:sp>
        <p:nvSpPr>
          <p:cNvPr id="11" name="TextBox 10"/>
          <p:cNvSpPr txBox="1"/>
          <p:nvPr/>
        </p:nvSpPr>
        <p:spPr>
          <a:xfrm>
            <a:off x="6781799" y="2990087"/>
            <a:ext cx="2072639" cy="566928"/>
          </a:xfrm>
          <a:prstGeom prst="rect">
            <a:avLst/>
          </a:prstGeom>
          <a:noFill/>
        </p:spPr>
        <p:txBody>
          <a:bodyPr wrap="square" lIns="0" rIns="0" tIns="0" bIns="0" anchor="t"/>
          <a:lstStyle/>
          <a:p>
            <a:pPr algn="l">
              <a:lnSpc>
                <a:spcPct val="105000"/>
              </a:lnSpc>
            </a:pPr>
            <a:r>
              <a:rPr sz="1300" b="0" i="0">
                <a:solidFill>
                  <a:srgbClr val="666A68"/>
                </a:solidFill>
                <a:latin typeface="Arial"/>
                <a:ea typeface="Arial"/>
                <a:cs typeface="Arial"/>
              </a:rPr>
              <a:t>Yes</a:t>
            </a:r>
          </a:p>
        </p:txBody>
      </p:sp>
      <p:sp>
        <p:nvSpPr>
          <p:cNvPr id="12" name="TextBox 11"/>
          <p:cNvSpPr txBox="1"/>
          <p:nvPr/>
        </p:nvSpPr>
        <p:spPr>
          <a:xfrm>
            <a:off x="9265920" y="2990087"/>
            <a:ext cx="2072639" cy="566928"/>
          </a:xfrm>
          <a:prstGeom prst="rect">
            <a:avLst/>
          </a:prstGeom>
          <a:noFill/>
        </p:spPr>
        <p:txBody>
          <a:bodyPr wrap="square" lIns="0" rIns="0" tIns="0" bIns="0" anchor="t"/>
          <a:lstStyle/>
          <a:p>
            <a:pPr algn="l">
              <a:lnSpc>
                <a:spcPct val="105000"/>
              </a:lnSpc>
            </a:pPr>
            <a:r>
              <a:rPr sz="1400" b="1" i="0">
                <a:solidFill>
                  <a:srgbClr val="151515"/>
                </a:solidFill>
                <a:latin typeface="Arial"/>
                <a:ea typeface="Arial"/>
                <a:cs typeface="Arial"/>
              </a:rPr>
              <a:t>Yes</a:t>
            </a:r>
          </a:p>
        </p:txBody>
      </p:sp>
      <p:cxnSp>
        <p:nvCxnSpPr>
          <p:cNvPr id="13" name="Connector 12"/>
          <p:cNvCxnSpPr/>
          <p:nvPr/>
        </p:nvCxnSpPr>
        <p:spPr>
          <a:xfrm>
            <a:off x="685800" y="3538727"/>
            <a:ext cx="10835640" cy="0"/>
          </a:xfrm>
          <a:prstGeom prst="line">
            <a:avLst/>
          </a:prstGeom>
          <a:ln w="9525">
            <a:solidFill>
              <a:srgbClr val="D7DAD8"/>
            </a:solidFill>
          </a:ln>
        </p:spPr>
      </p:cxnSp>
      <p:sp>
        <p:nvSpPr>
          <p:cNvPr id="14" name="TextBox 13"/>
          <p:cNvSpPr txBox="1"/>
          <p:nvPr/>
        </p:nvSpPr>
        <p:spPr>
          <a:xfrm>
            <a:off x="685800" y="3630168"/>
            <a:ext cx="3108960" cy="566928"/>
          </a:xfrm>
          <a:prstGeom prst="rect">
            <a:avLst/>
          </a:prstGeom>
          <a:noFill/>
        </p:spPr>
        <p:txBody>
          <a:bodyPr wrap="square" lIns="0" rIns="0" tIns="0" bIns="0" anchor="t"/>
          <a:lstStyle/>
          <a:p>
            <a:pPr algn="l">
              <a:lnSpc>
                <a:spcPct val="105000"/>
              </a:lnSpc>
            </a:pPr>
            <a:r>
              <a:rPr sz="1400" b="1" i="0">
                <a:solidFill>
                  <a:srgbClr val="151515"/>
                </a:solidFill>
                <a:latin typeface="Arial"/>
                <a:ea typeface="Arial"/>
                <a:cs typeface="Arial"/>
              </a:rPr>
              <a:t>Reseller markup in the chain</a:t>
            </a:r>
          </a:p>
        </p:txBody>
      </p:sp>
      <p:sp>
        <p:nvSpPr>
          <p:cNvPr id="15" name="TextBox 14"/>
          <p:cNvSpPr txBox="1"/>
          <p:nvPr/>
        </p:nvSpPr>
        <p:spPr>
          <a:xfrm>
            <a:off x="4297680" y="3630168"/>
            <a:ext cx="2072639" cy="566928"/>
          </a:xfrm>
          <a:prstGeom prst="rect">
            <a:avLst/>
          </a:prstGeom>
          <a:noFill/>
        </p:spPr>
        <p:txBody>
          <a:bodyPr wrap="square" lIns="0" rIns="0" tIns="0" bIns="0" anchor="t"/>
          <a:lstStyle/>
          <a:p>
            <a:pPr algn="l">
              <a:lnSpc>
                <a:spcPct val="105000"/>
              </a:lnSpc>
            </a:pPr>
            <a:r>
              <a:rPr sz="1300" b="0" i="0">
                <a:solidFill>
                  <a:srgbClr val="666A68"/>
                </a:solidFill>
                <a:latin typeface="Arial"/>
                <a:ea typeface="Arial"/>
                <a:cs typeface="Arial"/>
              </a:rPr>
              <a:t>Common</a:t>
            </a:r>
          </a:p>
        </p:txBody>
      </p:sp>
      <p:sp>
        <p:nvSpPr>
          <p:cNvPr id="16" name="TextBox 15"/>
          <p:cNvSpPr txBox="1"/>
          <p:nvPr/>
        </p:nvSpPr>
        <p:spPr>
          <a:xfrm>
            <a:off x="6781799" y="3630168"/>
            <a:ext cx="2072639" cy="566928"/>
          </a:xfrm>
          <a:prstGeom prst="rect">
            <a:avLst/>
          </a:prstGeom>
          <a:noFill/>
        </p:spPr>
        <p:txBody>
          <a:bodyPr wrap="square" lIns="0" rIns="0" tIns="0" bIns="0" anchor="t"/>
          <a:lstStyle/>
          <a:p>
            <a:pPr algn="l">
              <a:lnSpc>
                <a:spcPct val="105000"/>
              </a:lnSpc>
            </a:pPr>
            <a:r>
              <a:rPr sz="1300" b="0" i="0">
                <a:solidFill>
                  <a:srgbClr val="666A68"/>
                </a:solidFill>
                <a:latin typeface="Arial"/>
                <a:ea typeface="Arial"/>
                <a:cs typeface="Arial"/>
              </a:rPr>
              <a:t>Common</a:t>
            </a:r>
          </a:p>
        </p:txBody>
      </p:sp>
      <p:sp>
        <p:nvSpPr>
          <p:cNvPr id="17" name="TextBox 16"/>
          <p:cNvSpPr txBox="1"/>
          <p:nvPr/>
        </p:nvSpPr>
        <p:spPr>
          <a:xfrm>
            <a:off x="9265920" y="3630168"/>
            <a:ext cx="2072639" cy="566928"/>
          </a:xfrm>
          <a:prstGeom prst="rect">
            <a:avLst/>
          </a:prstGeom>
          <a:noFill/>
        </p:spPr>
        <p:txBody>
          <a:bodyPr wrap="square" lIns="0" rIns="0" tIns="0" bIns="0" anchor="t"/>
          <a:lstStyle/>
          <a:p>
            <a:pPr algn="l">
              <a:lnSpc>
                <a:spcPct val="105000"/>
              </a:lnSpc>
            </a:pPr>
            <a:r>
              <a:rPr sz="1400" b="1" i="0">
                <a:solidFill>
                  <a:srgbClr val="151515"/>
                </a:solidFill>
                <a:latin typeface="Arial"/>
                <a:ea typeface="Arial"/>
                <a:cs typeface="Arial"/>
              </a:rPr>
              <a:t>Reduced by design</a:t>
            </a:r>
          </a:p>
        </p:txBody>
      </p:sp>
      <p:cxnSp>
        <p:nvCxnSpPr>
          <p:cNvPr id="18" name="Connector 17"/>
          <p:cNvCxnSpPr/>
          <p:nvPr/>
        </p:nvCxnSpPr>
        <p:spPr>
          <a:xfrm>
            <a:off x="685800" y="4178808"/>
            <a:ext cx="10835640" cy="0"/>
          </a:xfrm>
          <a:prstGeom prst="line">
            <a:avLst/>
          </a:prstGeom>
          <a:ln w="9525">
            <a:solidFill>
              <a:srgbClr val="D7DAD8"/>
            </a:solidFill>
          </a:ln>
        </p:spPr>
      </p:cxnSp>
      <p:sp>
        <p:nvSpPr>
          <p:cNvPr id="19" name="TextBox 18"/>
          <p:cNvSpPr txBox="1"/>
          <p:nvPr/>
        </p:nvSpPr>
        <p:spPr>
          <a:xfrm>
            <a:off x="685800" y="4270248"/>
            <a:ext cx="3108960" cy="566928"/>
          </a:xfrm>
          <a:prstGeom prst="rect">
            <a:avLst/>
          </a:prstGeom>
          <a:noFill/>
        </p:spPr>
        <p:txBody>
          <a:bodyPr wrap="square" lIns="0" rIns="0" tIns="0" bIns="0" anchor="t"/>
          <a:lstStyle/>
          <a:p>
            <a:pPr algn="l">
              <a:lnSpc>
                <a:spcPct val="105000"/>
              </a:lnSpc>
            </a:pPr>
            <a:r>
              <a:rPr sz="1400" b="1" i="0">
                <a:solidFill>
                  <a:srgbClr val="151515"/>
                </a:solidFill>
                <a:latin typeface="Arial"/>
                <a:ea typeface="Arial"/>
                <a:cs typeface="Arial"/>
              </a:rPr>
              <a:t>Public developer access</a:t>
            </a:r>
          </a:p>
        </p:txBody>
      </p:sp>
      <p:sp>
        <p:nvSpPr>
          <p:cNvPr id="20" name="TextBox 19"/>
          <p:cNvSpPr txBox="1"/>
          <p:nvPr/>
        </p:nvSpPr>
        <p:spPr>
          <a:xfrm>
            <a:off x="4297680" y="4270248"/>
            <a:ext cx="2072639" cy="566928"/>
          </a:xfrm>
          <a:prstGeom prst="rect">
            <a:avLst/>
          </a:prstGeom>
          <a:noFill/>
        </p:spPr>
        <p:txBody>
          <a:bodyPr wrap="square" lIns="0" rIns="0" tIns="0" bIns="0" anchor="t"/>
          <a:lstStyle/>
          <a:p>
            <a:pPr algn="l">
              <a:lnSpc>
                <a:spcPct val="105000"/>
              </a:lnSpc>
            </a:pPr>
            <a:r>
              <a:rPr sz="1300" b="0" i="0">
                <a:solidFill>
                  <a:srgbClr val="666A68"/>
                </a:solidFill>
                <a:latin typeface="Arial"/>
                <a:ea typeface="Arial"/>
                <a:cs typeface="Arial"/>
              </a:rPr>
              <a:t>Seller and partner APIs</a:t>
            </a:r>
          </a:p>
        </p:txBody>
      </p:sp>
      <p:sp>
        <p:nvSpPr>
          <p:cNvPr id="21" name="TextBox 20"/>
          <p:cNvSpPr txBox="1"/>
          <p:nvPr/>
        </p:nvSpPr>
        <p:spPr>
          <a:xfrm>
            <a:off x="6781799" y="4270248"/>
            <a:ext cx="2072639" cy="566928"/>
          </a:xfrm>
          <a:prstGeom prst="rect">
            <a:avLst/>
          </a:prstGeom>
          <a:noFill/>
        </p:spPr>
        <p:txBody>
          <a:bodyPr wrap="square" lIns="0" rIns="0" tIns="0" bIns="0" anchor="t"/>
          <a:lstStyle/>
          <a:p>
            <a:pPr algn="l">
              <a:lnSpc>
                <a:spcPct val="105000"/>
              </a:lnSpc>
            </a:pPr>
            <a:r>
              <a:rPr sz="1300" b="0" i="0">
                <a:solidFill>
                  <a:srgbClr val="666A68"/>
                </a:solidFill>
                <a:latin typeface="Arial"/>
                <a:ea typeface="Arial"/>
                <a:cs typeface="Arial"/>
              </a:rPr>
              <a:t>Product and affiliate APIs</a:t>
            </a:r>
          </a:p>
        </p:txBody>
      </p:sp>
      <p:sp>
        <p:nvSpPr>
          <p:cNvPr id="22" name="TextBox 21"/>
          <p:cNvSpPr txBox="1"/>
          <p:nvPr/>
        </p:nvSpPr>
        <p:spPr>
          <a:xfrm>
            <a:off x="9265920" y="4270248"/>
            <a:ext cx="2072639" cy="566928"/>
          </a:xfrm>
          <a:prstGeom prst="rect">
            <a:avLst/>
          </a:prstGeom>
          <a:noFill/>
        </p:spPr>
        <p:txBody>
          <a:bodyPr wrap="square" lIns="0" rIns="0" tIns="0" bIns="0" anchor="t"/>
          <a:lstStyle/>
          <a:p>
            <a:pPr algn="l">
              <a:lnSpc>
                <a:spcPct val="105000"/>
              </a:lnSpc>
            </a:pPr>
            <a:r>
              <a:rPr sz="1400" b="1" i="0">
                <a:solidFill>
                  <a:srgbClr val="151515"/>
                </a:solidFill>
                <a:latin typeface="Arial"/>
                <a:ea typeface="Arial"/>
                <a:cs typeface="Arial"/>
              </a:rPr>
              <a:t>Customer MCP</a:t>
            </a:r>
          </a:p>
        </p:txBody>
      </p:sp>
      <p:cxnSp>
        <p:nvCxnSpPr>
          <p:cNvPr id="23" name="Connector 22"/>
          <p:cNvCxnSpPr/>
          <p:nvPr/>
        </p:nvCxnSpPr>
        <p:spPr>
          <a:xfrm>
            <a:off x="685800" y="4818888"/>
            <a:ext cx="10835640" cy="0"/>
          </a:xfrm>
          <a:prstGeom prst="line">
            <a:avLst/>
          </a:prstGeom>
          <a:ln w="9525">
            <a:solidFill>
              <a:srgbClr val="D7DAD8"/>
            </a:solidFill>
          </a:ln>
        </p:spPr>
      </p:cxnSp>
      <p:sp>
        <p:nvSpPr>
          <p:cNvPr id="24" name="TextBox 23"/>
          <p:cNvSpPr txBox="1"/>
          <p:nvPr/>
        </p:nvSpPr>
        <p:spPr>
          <a:xfrm>
            <a:off x="685800" y="4910327"/>
            <a:ext cx="3108960" cy="566928"/>
          </a:xfrm>
          <a:prstGeom prst="rect">
            <a:avLst/>
          </a:prstGeom>
          <a:noFill/>
        </p:spPr>
        <p:txBody>
          <a:bodyPr wrap="square" lIns="0" rIns="0" tIns="0" bIns="0" anchor="t"/>
          <a:lstStyle/>
          <a:p>
            <a:pPr algn="l">
              <a:lnSpc>
                <a:spcPct val="105000"/>
              </a:lnSpc>
            </a:pPr>
            <a:r>
              <a:rPr sz="1400" b="1" i="0">
                <a:solidFill>
                  <a:srgbClr val="151515"/>
                </a:solidFill>
                <a:latin typeface="Arial"/>
                <a:ea typeface="Arial"/>
                <a:cs typeface="Arial"/>
              </a:rPr>
              <a:t>Shopper’s agent can search, buy and get support</a:t>
            </a:r>
          </a:p>
        </p:txBody>
      </p:sp>
      <p:sp>
        <p:nvSpPr>
          <p:cNvPr id="25" name="TextBox 24"/>
          <p:cNvSpPr txBox="1"/>
          <p:nvPr/>
        </p:nvSpPr>
        <p:spPr>
          <a:xfrm>
            <a:off x="4297680" y="4910327"/>
            <a:ext cx="2072639" cy="566928"/>
          </a:xfrm>
          <a:prstGeom prst="rect">
            <a:avLst/>
          </a:prstGeom>
          <a:noFill/>
        </p:spPr>
        <p:txBody>
          <a:bodyPr wrap="square" lIns="0" rIns="0" tIns="0" bIns="0" anchor="t"/>
          <a:lstStyle/>
          <a:p>
            <a:pPr algn="l">
              <a:lnSpc>
                <a:spcPct val="105000"/>
              </a:lnSpc>
            </a:pPr>
            <a:r>
              <a:rPr sz="1300" b="0" i="0">
                <a:solidFill>
                  <a:srgbClr val="666A68"/>
                </a:solidFill>
                <a:latin typeface="Arial"/>
                <a:ea typeface="Arial"/>
                <a:cs typeface="Arial"/>
              </a:rPr>
              <a:t>Not found in reviewed public docs</a:t>
            </a:r>
          </a:p>
        </p:txBody>
      </p:sp>
      <p:sp>
        <p:nvSpPr>
          <p:cNvPr id="26" name="TextBox 25"/>
          <p:cNvSpPr txBox="1"/>
          <p:nvPr/>
        </p:nvSpPr>
        <p:spPr>
          <a:xfrm>
            <a:off x="6781799" y="4910327"/>
            <a:ext cx="2072639" cy="566928"/>
          </a:xfrm>
          <a:prstGeom prst="rect">
            <a:avLst/>
          </a:prstGeom>
          <a:noFill/>
        </p:spPr>
        <p:txBody>
          <a:bodyPr wrap="square" lIns="0" rIns="0" tIns="0" bIns="0" anchor="t"/>
          <a:lstStyle/>
          <a:p>
            <a:pPr algn="l">
              <a:lnSpc>
                <a:spcPct val="105000"/>
              </a:lnSpc>
            </a:pPr>
            <a:r>
              <a:rPr sz="1300" b="0" i="0">
                <a:solidFill>
                  <a:srgbClr val="666A68"/>
                </a:solidFill>
                <a:latin typeface="Arial"/>
                <a:ea typeface="Arial"/>
                <a:cs typeface="Arial"/>
              </a:rPr>
              <a:t>Not found in reviewed public docs</a:t>
            </a:r>
          </a:p>
        </p:txBody>
      </p:sp>
      <p:sp>
        <p:nvSpPr>
          <p:cNvPr id="27" name="TextBox 26"/>
          <p:cNvSpPr txBox="1"/>
          <p:nvPr/>
        </p:nvSpPr>
        <p:spPr>
          <a:xfrm>
            <a:off x="9265920" y="4910327"/>
            <a:ext cx="2072639" cy="566928"/>
          </a:xfrm>
          <a:prstGeom prst="rect">
            <a:avLst/>
          </a:prstGeom>
          <a:noFill/>
        </p:spPr>
        <p:txBody>
          <a:bodyPr wrap="square" lIns="0" rIns="0" tIns="0" bIns="0" anchor="t"/>
          <a:lstStyle/>
          <a:p>
            <a:pPr algn="l">
              <a:lnSpc>
                <a:spcPct val="105000"/>
              </a:lnSpc>
            </a:pPr>
            <a:r>
              <a:rPr sz="1400" b="1" i="0">
                <a:solidFill>
                  <a:srgbClr val="151515"/>
                </a:solidFill>
                <a:latin typeface="Arial"/>
                <a:ea typeface="Arial"/>
                <a:cs typeface="Arial"/>
              </a:rPr>
              <a:t>Available</a:t>
            </a:r>
          </a:p>
        </p:txBody>
      </p:sp>
      <p:sp>
        <p:nvSpPr>
          <p:cNvPr id="28" name="TextBox 27"/>
          <p:cNvSpPr txBox="1"/>
          <p:nvPr/>
        </p:nvSpPr>
        <p:spPr>
          <a:xfrm>
            <a:off x="685800" y="5715000"/>
            <a:ext cx="10789920" cy="457200"/>
          </a:xfrm>
          <a:prstGeom prst="rect">
            <a:avLst/>
          </a:prstGeom>
          <a:noFill/>
        </p:spPr>
        <p:txBody>
          <a:bodyPr wrap="square" lIns="0" rIns="0" tIns="0" bIns="0" anchor="t"/>
          <a:lstStyle/>
          <a:p>
            <a:pPr algn="l"/>
            <a:r>
              <a:rPr sz="1500" b="1" i="0">
                <a:solidFill>
                  <a:srgbClr val="151515"/>
                </a:solidFill>
                <a:latin typeface="Arial"/>
                <a:ea typeface="Arial"/>
                <a:cs typeface="Arial"/>
              </a:rPr>
              <a:t>The opening is the combination: low-price supplier commerce, shopper-agent access and lean AI operations.</a:t>
            </a:r>
          </a:p>
        </p:txBody>
      </p:sp>
      <p:sp>
        <p:nvSpPr>
          <p:cNvPr id="29" name="TextBox 28"/>
          <p:cNvSpPr txBox="1"/>
          <p:nvPr/>
        </p:nvSpPr>
        <p:spPr>
          <a:xfrm>
            <a:off x="685800" y="6263640"/>
            <a:ext cx="10058400" cy="274320"/>
          </a:xfrm>
          <a:prstGeom prst="rect">
            <a:avLst/>
          </a:prstGeom>
          <a:noFill/>
        </p:spPr>
        <p:txBody>
          <a:bodyPr wrap="square" lIns="0" rIns="0" tIns="0" bIns="0" anchor="t"/>
          <a:lstStyle/>
          <a:p>
            <a:pPr algn="l"/>
            <a:r>
              <a:rPr sz="1000" b="0" i="0">
                <a:solidFill>
                  <a:srgbClr val="8A8F8C"/>
                </a:solidFill>
                <a:latin typeface="Arial"/>
                <a:ea typeface="Arial"/>
                <a:cs typeface="Arial"/>
              </a:rPr>
              <a:t>Review of official public documentation, 31 Oct 2026. Private integrations may exist. Terms vary by region.</a:t>
            </a:r>
          </a:p>
        </p:txBody>
      </p:sp>
      <p:sp>
        <p:nvSpPr>
          <p:cNvPr id="30" name="TextBox 29"/>
          <p:cNvSpPr txBox="1"/>
          <p:nvPr/>
        </p:nvSpPr>
        <p:spPr>
          <a:xfrm>
            <a:off x="10972800" y="6355080"/>
            <a:ext cx="548640" cy="274320"/>
          </a:xfrm>
          <a:prstGeom prst="rect">
            <a:avLst/>
          </a:prstGeom>
          <a:noFill/>
        </p:spPr>
        <p:txBody>
          <a:bodyPr wrap="square" lIns="0" rIns="0" tIns="0" bIns="0" anchor="t"/>
          <a:lstStyle/>
          <a:p>
            <a:pPr algn="r"/>
            <a:r>
              <a:rPr sz="1000" b="0" i="0">
                <a:solidFill>
                  <a:srgbClr val="8A8F8C"/>
                </a:solidFill>
                <a:latin typeface="Arial"/>
                <a:ea typeface="Arial"/>
                <a:cs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6F4"/>
        </a:solidFill>
        <a:effectLst/>
      </p:bgPr>
    </p:bg>
    <p:spTree>
      <p:nvGrpSpPr>
        <p:cNvPr id="1" name=""/>
        <p:cNvGrpSpPr/>
        <p:nvPr/>
      </p:nvGrpSpPr>
      <p:grpSpPr/>
      <p:sp>
        <p:nvSpPr>
          <p:cNvPr id="2" name="TextBox 1"/>
          <p:cNvSpPr txBox="1"/>
          <p:nvPr/>
        </p:nvSpPr>
        <p:spPr>
          <a:xfrm>
            <a:off x="685800" y="566928"/>
            <a:ext cx="7315200" cy="274320"/>
          </a:xfrm>
          <a:prstGeom prst="rect">
            <a:avLst/>
          </a:prstGeom>
          <a:noFill/>
        </p:spPr>
        <p:txBody>
          <a:bodyPr wrap="square" lIns="0" rIns="0" tIns="0" bIns="0" anchor="t"/>
          <a:lstStyle/>
          <a:p>
            <a:pPr algn="l"/>
            <a:r>
              <a:rPr sz="1100" b="1" i="0" spc="200">
                <a:solidFill>
                  <a:srgbClr val="087F5B"/>
                </a:solidFill>
                <a:latin typeface="Arial"/>
                <a:ea typeface="Arial"/>
                <a:cs typeface="Arial"/>
              </a:rPr>
              <a:t>BUSINESS MODEL</a:t>
            </a:r>
          </a:p>
        </p:txBody>
      </p:sp>
      <p:sp>
        <p:nvSpPr>
          <p:cNvPr id="3" name="TextBox 2"/>
          <p:cNvSpPr txBox="1"/>
          <p:nvPr/>
        </p:nvSpPr>
        <p:spPr>
          <a:xfrm>
            <a:off x="685800" y="896112"/>
            <a:ext cx="10515600" cy="822960"/>
          </a:xfrm>
          <a:prstGeom prst="rect">
            <a:avLst/>
          </a:prstGeom>
          <a:noFill/>
        </p:spPr>
        <p:txBody>
          <a:bodyPr wrap="square" lIns="0" rIns="0" tIns="0" bIns="0" anchor="t"/>
          <a:lstStyle/>
          <a:p>
            <a:pPr algn="l"/>
            <a:r>
              <a:rPr sz="3600" b="1" i="0" spc="-100">
                <a:solidFill>
                  <a:srgbClr val="151515"/>
                </a:solidFill>
                <a:latin typeface="Arial"/>
                <a:ea typeface="Arial"/>
                <a:cs typeface="Arial"/>
              </a:rPr>
              <a:t>Margin now, platform revenue later</a:t>
            </a:r>
          </a:p>
        </p:txBody>
      </p:sp>
      <p:sp>
        <p:nvSpPr>
          <p:cNvPr id="4" name="Rounded Rectangle 3"/>
          <p:cNvSpPr/>
          <p:nvPr/>
        </p:nvSpPr>
        <p:spPr>
          <a:xfrm>
            <a:off x="685800" y="2057400"/>
            <a:ext cx="4983480" cy="3977639"/>
          </a:xfrm>
          <a:prstGeom prst="roundRect">
            <a:avLst>
              <a:gd name="adj" fmla="val 6436"/>
            </a:avLst>
          </a:prstGeom>
          <a:solidFill>
            <a:srgbClr val="151515"/>
          </a:solidFill>
          <a:ln>
            <a:noFill/>
          </a:ln>
          <a:effectLst/>
        </p:spPr>
        <p:txBody>
          <a:bodyPr rtlCol="0" anchor="ctr"/>
          <a:lstStyle/>
          <a:p/>
        </p:txBody>
      </p:sp>
      <p:sp>
        <p:nvSpPr>
          <p:cNvPr id="5" name="TextBox 4"/>
          <p:cNvSpPr txBox="1"/>
          <p:nvPr/>
        </p:nvSpPr>
        <p:spPr>
          <a:xfrm>
            <a:off x="1097280" y="2441448"/>
            <a:ext cx="4114800" cy="274320"/>
          </a:xfrm>
          <a:prstGeom prst="rect">
            <a:avLst/>
          </a:prstGeom>
          <a:noFill/>
        </p:spPr>
        <p:txBody>
          <a:bodyPr wrap="square" lIns="0" rIns="0" tIns="0" bIns="0" anchor="t"/>
          <a:lstStyle/>
          <a:p>
            <a:pPr algn="l"/>
            <a:r>
              <a:rPr sz="1100" b="1" i="0" spc="200">
                <a:solidFill>
                  <a:srgbClr val="A3F75C"/>
                </a:solidFill>
                <a:latin typeface="Arial"/>
                <a:ea typeface="Arial"/>
                <a:cs typeface="Arial"/>
              </a:rPr>
              <a:t>TODAY</a:t>
            </a:r>
          </a:p>
        </p:txBody>
      </p:sp>
      <p:sp>
        <p:nvSpPr>
          <p:cNvPr id="6" name="TextBox 5"/>
          <p:cNvSpPr txBox="1"/>
          <p:nvPr/>
        </p:nvSpPr>
        <p:spPr>
          <a:xfrm>
            <a:off x="1097280" y="2834640"/>
            <a:ext cx="4206240" cy="1188720"/>
          </a:xfrm>
          <a:prstGeom prst="rect">
            <a:avLst/>
          </a:prstGeom>
          <a:noFill/>
        </p:spPr>
        <p:txBody>
          <a:bodyPr wrap="square" lIns="0" rIns="0" tIns="0" bIns="0" anchor="t"/>
          <a:lstStyle/>
          <a:p>
            <a:pPr algn="l"/>
            <a:r>
              <a:rPr sz="8000" b="1" i="0" spc="-200">
                <a:solidFill>
                  <a:srgbClr val="FFFFFF"/>
                </a:solidFill>
                <a:latin typeface="Arial"/>
                <a:ea typeface="Arial"/>
                <a:cs typeface="Arial"/>
              </a:rPr>
              <a:t>~20%</a:t>
            </a:r>
          </a:p>
        </p:txBody>
      </p:sp>
      <p:sp>
        <p:nvSpPr>
          <p:cNvPr id="7" name="TextBox 6"/>
          <p:cNvSpPr txBox="1"/>
          <p:nvPr/>
        </p:nvSpPr>
        <p:spPr>
          <a:xfrm>
            <a:off x="1097280" y="4069080"/>
            <a:ext cx="4206240" cy="457200"/>
          </a:xfrm>
          <a:prstGeom prst="rect">
            <a:avLst/>
          </a:prstGeom>
          <a:noFill/>
        </p:spPr>
        <p:txBody>
          <a:bodyPr wrap="square" lIns="0" rIns="0" tIns="0" bIns="0" anchor="t"/>
          <a:lstStyle/>
          <a:p>
            <a:pPr algn="l"/>
            <a:r>
              <a:rPr sz="1900" b="1" i="0">
                <a:solidFill>
                  <a:srgbClr val="FFFFFF"/>
                </a:solidFill>
                <a:latin typeface="Arial"/>
                <a:ea typeface="Arial"/>
                <a:cs typeface="Arial"/>
              </a:rPr>
              <a:t>take rate on every order</a:t>
            </a:r>
          </a:p>
        </p:txBody>
      </p:sp>
      <p:sp>
        <p:nvSpPr>
          <p:cNvPr id="8" name="TextBox 7"/>
          <p:cNvSpPr txBox="1"/>
          <p:nvPr/>
        </p:nvSpPr>
        <p:spPr>
          <a:xfrm>
            <a:off x="1097280" y="4663440"/>
            <a:ext cx="4114800" cy="1097280"/>
          </a:xfrm>
          <a:prstGeom prst="rect">
            <a:avLst/>
          </a:prstGeom>
          <a:noFill/>
        </p:spPr>
        <p:txBody>
          <a:bodyPr wrap="square" lIns="0" rIns="0" tIns="0" bIns="0" anchor="t"/>
          <a:lstStyle/>
          <a:p>
            <a:pPr algn="l">
              <a:lnSpc>
                <a:spcPct val="112000"/>
              </a:lnSpc>
            </a:pPr>
            <a:r>
              <a:rPr sz="1300" b="0" i="0">
                <a:solidFill>
                  <a:srgbClr val="B9BDBA"/>
                </a:solidFill>
                <a:latin typeface="Arial"/>
                <a:ea typeface="Arial"/>
                <a:cs typeface="Arial"/>
              </a:rPr>
              <a:t>Platform revenue before payments, fulfillment, refunds, acquisition and support costs.</a:t>
            </a:r>
          </a:p>
        </p:txBody>
      </p:sp>
      <p:sp>
        <p:nvSpPr>
          <p:cNvPr id="9" name="TextBox 8"/>
          <p:cNvSpPr txBox="1"/>
          <p:nvPr/>
        </p:nvSpPr>
        <p:spPr>
          <a:xfrm>
            <a:off x="6263640" y="2103120"/>
            <a:ext cx="5212080" cy="274320"/>
          </a:xfrm>
          <a:prstGeom prst="rect">
            <a:avLst/>
          </a:prstGeom>
          <a:noFill/>
        </p:spPr>
        <p:txBody>
          <a:bodyPr wrap="square" lIns="0" rIns="0" tIns="0" bIns="0" anchor="t"/>
          <a:lstStyle/>
          <a:p>
            <a:pPr algn="l"/>
            <a:r>
              <a:rPr sz="1100" b="1" i="0" spc="200">
                <a:solidFill>
                  <a:srgbClr val="666A68"/>
                </a:solidFill>
                <a:latin typeface="Arial"/>
                <a:ea typeface="Arial"/>
                <a:cs typeface="Arial"/>
              </a:rPr>
              <a:t>LATER, AS DEMAND GROWS</a:t>
            </a:r>
            <a:r>
              <a:rPr sz="1100" b="0" i="0">
                <a:solidFill>
                  <a:srgbClr val="8A8F8C"/>
                </a:solidFill>
                <a:latin typeface="Arial"/>
                <a:ea typeface="Arial"/>
                <a:cs typeface="Arial"/>
              </a:rPr>
              <a:t>   planned</a:t>
            </a:r>
          </a:p>
        </p:txBody>
      </p:sp>
      <p:cxnSp>
        <p:nvCxnSpPr>
          <p:cNvPr id="10" name="Connector 9"/>
          <p:cNvCxnSpPr/>
          <p:nvPr/>
        </p:nvCxnSpPr>
        <p:spPr>
          <a:xfrm>
            <a:off x="6263640" y="2542032"/>
            <a:ext cx="5257800" cy="0"/>
          </a:xfrm>
          <a:prstGeom prst="line">
            <a:avLst/>
          </a:prstGeom>
          <a:ln w="9525">
            <a:solidFill>
              <a:srgbClr val="D7DAD8"/>
            </a:solidFill>
          </a:ln>
        </p:spPr>
      </p:cxnSp>
      <p:sp>
        <p:nvSpPr>
          <p:cNvPr id="11" name="TextBox 10"/>
          <p:cNvSpPr txBox="1"/>
          <p:nvPr/>
        </p:nvSpPr>
        <p:spPr>
          <a:xfrm>
            <a:off x="6263640" y="2670048"/>
            <a:ext cx="5212080" cy="914400"/>
          </a:xfrm>
          <a:prstGeom prst="rect">
            <a:avLst/>
          </a:prstGeom>
          <a:noFill/>
        </p:spPr>
        <p:txBody>
          <a:bodyPr wrap="square" lIns="0" rIns="0" tIns="0" bIns="0" anchor="t"/>
          <a:lstStyle/>
          <a:p>
            <a:pPr algn="l">
              <a:spcAft>
                <a:spcPts val="300"/>
              </a:spcAft>
            </a:pPr>
            <a:r>
              <a:rPr sz="1900" b="1" i="0">
                <a:solidFill>
                  <a:srgbClr val="151515"/>
                </a:solidFill>
                <a:latin typeface="Arial"/>
                <a:ea typeface="Arial"/>
                <a:cs typeface="Arial"/>
              </a:rPr>
              <a:t>Promoted placements</a:t>
            </a:r>
          </a:p>
          <a:p>
            <a:pPr algn="l"/>
            <a:r>
              <a:rPr sz="1400" b="0" i="0">
                <a:solidFill>
                  <a:srgbClr val="666A68"/>
                </a:solidFill>
                <a:latin typeface="Arial"/>
                <a:ea typeface="Arial"/>
                <a:cs typeface="Arial"/>
              </a:rPr>
              <a:t>Paid visibility for suppliers once shopper traffic is dense.</a:t>
            </a:r>
          </a:p>
        </p:txBody>
      </p:sp>
      <p:cxnSp>
        <p:nvCxnSpPr>
          <p:cNvPr id="12" name="Connector 11"/>
          <p:cNvCxnSpPr/>
          <p:nvPr/>
        </p:nvCxnSpPr>
        <p:spPr>
          <a:xfrm>
            <a:off x="6263640" y="3657600"/>
            <a:ext cx="5257800" cy="0"/>
          </a:xfrm>
          <a:prstGeom prst="line">
            <a:avLst/>
          </a:prstGeom>
          <a:ln w="9525">
            <a:solidFill>
              <a:srgbClr val="D7DAD8"/>
            </a:solidFill>
          </a:ln>
        </p:spPr>
      </p:cxnSp>
      <p:sp>
        <p:nvSpPr>
          <p:cNvPr id="13" name="TextBox 12"/>
          <p:cNvSpPr txBox="1"/>
          <p:nvPr/>
        </p:nvSpPr>
        <p:spPr>
          <a:xfrm>
            <a:off x="6263640" y="3785615"/>
            <a:ext cx="5212080" cy="914400"/>
          </a:xfrm>
          <a:prstGeom prst="rect">
            <a:avLst/>
          </a:prstGeom>
          <a:noFill/>
        </p:spPr>
        <p:txBody>
          <a:bodyPr wrap="square" lIns="0" rIns="0" tIns="0" bIns="0" anchor="t"/>
          <a:lstStyle/>
          <a:p>
            <a:pPr algn="l">
              <a:spcAft>
                <a:spcPts val="300"/>
              </a:spcAft>
            </a:pPr>
            <a:r>
              <a:rPr sz="1900" b="1" i="0">
                <a:solidFill>
                  <a:srgbClr val="151515"/>
                </a:solidFill>
                <a:latin typeface="Arial"/>
                <a:ea typeface="Arial"/>
                <a:cs typeface="Arial"/>
              </a:rPr>
              <a:t>Supplier onboarding</a:t>
            </a:r>
          </a:p>
          <a:p>
            <a:pPr algn="l"/>
            <a:r>
              <a:rPr sz="1400" b="0" i="0">
                <a:solidFill>
                  <a:srgbClr val="666A68"/>
                </a:solidFill>
                <a:latin typeface="Arial"/>
                <a:ea typeface="Arial"/>
                <a:cs typeface="Arial"/>
              </a:rPr>
              <a:t>Open the marketplace to more suppliers on a take rate.</a:t>
            </a:r>
          </a:p>
        </p:txBody>
      </p:sp>
      <p:cxnSp>
        <p:nvCxnSpPr>
          <p:cNvPr id="14" name="Connector 13"/>
          <p:cNvCxnSpPr/>
          <p:nvPr/>
        </p:nvCxnSpPr>
        <p:spPr>
          <a:xfrm>
            <a:off x="6263640" y="4773168"/>
            <a:ext cx="5257800" cy="0"/>
          </a:xfrm>
          <a:prstGeom prst="line">
            <a:avLst/>
          </a:prstGeom>
          <a:ln w="9525">
            <a:solidFill>
              <a:srgbClr val="D7DAD8"/>
            </a:solidFill>
          </a:ln>
        </p:spPr>
      </p:cxnSp>
      <p:sp>
        <p:nvSpPr>
          <p:cNvPr id="15" name="TextBox 14"/>
          <p:cNvSpPr txBox="1"/>
          <p:nvPr/>
        </p:nvSpPr>
        <p:spPr>
          <a:xfrm>
            <a:off x="6263640" y="4901183"/>
            <a:ext cx="5212080" cy="914400"/>
          </a:xfrm>
          <a:prstGeom prst="rect">
            <a:avLst/>
          </a:prstGeom>
          <a:noFill/>
        </p:spPr>
        <p:txBody>
          <a:bodyPr wrap="square" lIns="0" rIns="0" tIns="0" bIns="0" anchor="t"/>
          <a:lstStyle/>
          <a:p>
            <a:pPr algn="l">
              <a:spcAft>
                <a:spcPts val="300"/>
              </a:spcAft>
            </a:pPr>
            <a:r>
              <a:rPr sz="1900" b="1" i="0">
                <a:solidFill>
                  <a:srgbClr val="151515"/>
                </a:solidFill>
                <a:latin typeface="Arial"/>
                <a:ea typeface="Arial"/>
                <a:cs typeface="Arial"/>
              </a:rPr>
              <a:t>Adjacent categories</a:t>
            </a:r>
          </a:p>
          <a:p>
            <a:pPr algn="l"/>
            <a:r>
              <a:rPr sz="1400" b="0" i="0">
                <a:solidFill>
                  <a:srgbClr val="666A68"/>
                </a:solidFill>
                <a:latin typeface="Arial"/>
                <a:ea typeface="Arial"/>
                <a:cs typeface="Arial"/>
              </a:rPr>
              <a:t>Point the same catalog and agent stack at new product lines.</a:t>
            </a:r>
          </a:p>
        </p:txBody>
      </p:sp>
      <p:sp>
        <p:nvSpPr>
          <p:cNvPr id="16" name="TextBox 15"/>
          <p:cNvSpPr txBox="1"/>
          <p:nvPr/>
        </p:nvSpPr>
        <p:spPr>
          <a:xfrm>
            <a:off x="10972800" y="6355080"/>
            <a:ext cx="548640" cy="274320"/>
          </a:xfrm>
          <a:prstGeom prst="rect">
            <a:avLst/>
          </a:prstGeom>
          <a:noFill/>
        </p:spPr>
        <p:txBody>
          <a:bodyPr wrap="square" lIns="0" rIns="0" tIns="0" bIns="0" anchor="t"/>
          <a:lstStyle/>
          <a:p>
            <a:pPr algn="r"/>
            <a:r>
              <a:rPr sz="1000" b="0" i="0">
                <a:solidFill>
                  <a:srgbClr val="8A8F8C"/>
                </a:solidFill>
                <a:latin typeface="Arial"/>
                <a:ea typeface="Arial"/>
                <a:cs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7315200" cy="274320"/>
          </a:xfrm>
          <a:prstGeom prst="rect">
            <a:avLst/>
          </a:prstGeom>
          <a:noFill/>
        </p:spPr>
        <p:txBody>
          <a:bodyPr wrap="square" lIns="0" rIns="0" tIns="0" bIns="0" anchor="t"/>
          <a:lstStyle/>
          <a:p>
            <a:pPr algn="l"/>
            <a:r>
              <a:rPr sz="1100" b="1" i="0" spc="200">
                <a:solidFill>
                  <a:srgbClr val="087F5B"/>
                </a:solidFill>
                <a:latin typeface="Arial"/>
                <a:ea typeface="Arial"/>
                <a:cs typeface="Arial"/>
              </a:rPr>
              <a:t>PREVIOUS LAUNCH · DIFFERENT REGION</a:t>
            </a:r>
          </a:p>
        </p:txBody>
      </p:sp>
      <p:sp>
        <p:nvSpPr>
          <p:cNvPr id="3" name="TextBox 2"/>
          <p:cNvSpPr txBox="1"/>
          <p:nvPr/>
        </p:nvSpPr>
        <p:spPr>
          <a:xfrm>
            <a:off x="685800" y="896112"/>
            <a:ext cx="10515600" cy="1371600"/>
          </a:xfrm>
          <a:prstGeom prst="rect">
            <a:avLst/>
          </a:prstGeom>
          <a:noFill/>
        </p:spPr>
        <p:txBody>
          <a:bodyPr wrap="square" lIns="0" rIns="0" tIns="0" bIns="0" anchor="t"/>
          <a:lstStyle/>
          <a:p>
            <a:pPr algn="l">
              <a:lnSpc>
                <a:spcPct val="96000"/>
              </a:lnSpc>
            </a:pPr>
            <a:r>
              <a:rPr sz="3600" b="1" i="0" spc="-100">
                <a:solidFill>
                  <a:srgbClr val="151515"/>
                </a:solidFill>
                <a:latin typeface="Arial"/>
                <a:ea typeface="Arial"/>
                <a:cs typeface="Arial"/>
              </a:rPr>
              <a:t>The model was already validated</a:t>
            </a:r>
          </a:p>
          <a:p>
            <a:pPr algn="l">
              <a:lnSpc>
                <a:spcPct val="96000"/>
              </a:lnSpc>
            </a:pPr>
            <a:r>
              <a:rPr sz="3600" b="1" i="0" spc="-100">
                <a:solidFill>
                  <a:srgbClr val="151515"/>
                </a:solidFill>
                <a:latin typeface="Arial"/>
                <a:ea typeface="Arial"/>
                <a:cs typeface="Arial"/>
              </a:rPr>
              <a:t>with real money</a:t>
            </a:r>
          </a:p>
        </p:txBody>
      </p:sp>
      <p:sp>
        <p:nvSpPr>
          <p:cNvPr id="4" name="TextBox 3"/>
          <p:cNvSpPr txBox="1"/>
          <p:nvPr/>
        </p:nvSpPr>
        <p:spPr>
          <a:xfrm>
            <a:off x="685800" y="2331720"/>
            <a:ext cx="5486400" cy="731520"/>
          </a:xfrm>
          <a:prstGeom prst="rect">
            <a:avLst/>
          </a:prstGeom>
          <a:noFill/>
        </p:spPr>
        <p:txBody>
          <a:bodyPr wrap="square" lIns="0" rIns="0" tIns="0" bIns="0" anchor="t"/>
          <a:lstStyle/>
          <a:p>
            <a:pPr algn="l">
              <a:lnSpc>
                <a:spcPct val="112000"/>
              </a:lnSpc>
            </a:pPr>
            <a:r>
              <a:rPr sz="1600" b="0" i="0">
                <a:solidFill>
                  <a:srgbClr val="666A68"/>
                </a:solidFill>
                <a:latin typeface="Arial"/>
                <a:ea typeface="Arial"/>
                <a:cs typeface="Arial"/>
              </a:rPr>
              <a:t>Results from the founder’s earlier launch of the same marketplace model, in a different region.</a:t>
            </a:r>
          </a:p>
        </p:txBody>
      </p:sp>
      <p:sp>
        <p:nvSpPr>
          <p:cNvPr id="5" name="TextBox 4"/>
          <p:cNvSpPr txBox="1"/>
          <p:nvPr/>
        </p:nvSpPr>
        <p:spPr>
          <a:xfrm>
            <a:off x="685800" y="3154680"/>
            <a:ext cx="5669280" cy="1645920"/>
          </a:xfrm>
          <a:prstGeom prst="rect">
            <a:avLst/>
          </a:prstGeom>
          <a:noFill/>
        </p:spPr>
        <p:txBody>
          <a:bodyPr wrap="square" lIns="0" rIns="0" tIns="0" bIns="0" anchor="t"/>
          <a:lstStyle/>
          <a:p>
            <a:pPr algn="l"/>
            <a:r>
              <a:rPr sz="11000" b="1" i="0" spc="-300">
                <a:solidFill>
                  <a:srgbClr val="087F5B"/>
                </a:solidFill>
                <a:latin typeface="Arial"/>
                <a:ea typeface="Arial"/>
                <a:cs typeface="Arial"/>
              </a:rPr>
              <a:t>$489K</a:t>
            </a:r>
          </a:p>
        </p:txBody>
      </p:sp>
      <p:sp>
        <p:nvSpPr>
          <p:cNvPr id="6" name="TextBox 5"/>
          <p:cNvSpPr txBox="1"/>
          <p:nvPr/>
        </p:nvSpPr>
        <p:spPr>
          <a:xfrm>
            <a:off x="731520" y="4800600"/>
            <a:ext cx="3657600" cy="365760"/>
          </a:xfrm>
          <a:prstGeom prst="rect">
            <a:avLst/>
          </a:prstGeom>
          <a:noFill/>
        </p:spPr>
        <p:txBody>
          <a:bodyPr wrap="square" lIns="0" rIns="0" tIns="0" bIns="0" anchor="t"/>
          <a:lstStyle/>
          <a:p>
            <a:pPr algn="l"/>
            <a:r>
              <a:rPr sz="1800" b="1" i="0">
                <a:solidFill>
                  <a:srgbClr val="151515"/>
                </a:solidFill>
                <a:latin typeface="Arial"/>
                <a:ea typeface="Arial"/>
                <a:cs typeface="Arial"/>
              </a:rPr>
              <a:t>GMV</a:t>
            </a:r>
          </a:p>
        </p:txBody>
      </p:sp>
      <p:sp>
        <p:nvSpPr>
          <p:cNvPr id="7" name="Rounded Rectangle 6"/>
          <p:cNvSpPr/>
          <p:nvPr/>
        </p:nvSpPr>
        <p:spPr>
          <a:xfrm>
            <a:off x="685800" y="5440680"/>
            <a:ext cx="4206240" cy="512064"/>
          </a:xfrm>
          <a:prstGeom prst="roundRect">
            <a:avLst>
              <a:gd name="adj" fmla="val 50000"/>
            </a:avLst>
          </a:prstGeom>
          <a:solidFill>
            <a:srgbClr val="F0FFD9"/>
          </a:solidFill>
          <a:ln>
            <a:noFill/>
          </a:ln>
          <a:effectLst/>
        </p:spPr>
        <p:txBody>
          <a:bodyPr rtlCol="0" anchor="ctr"/>
          <a:lstStyle/>
          <a:p/>
        </p:txBody>
      </p:sp>
      <p:sp>
        <p:nvSpPr>
          <p:cNvPr id="8" name="TextBox 7"/>
          <p:cNvSpPr txBox="1"/>
          <p:nvPr/>
        </p:nvSpPr>
        <p:spPr>
          <a:xfrm>
            <a:off x="685800" y="5440680"/>
            <a:ext cx="4206240" cy="512064"/>
          </a:xfrm>
          <a:prstGeom prst="rect">
            <a:avLst/>
          </a:prstGeom>
          <a:noFill/>
        </p:spPr>
        <p:txBody>
          <a:bodyPr wrap="square" lIns="0" rIns="0" tIns="0" bIns="0" anchor="ctr"/>
          <a:lstStyle/>
          <a:p>
            <a:pPr algn="ctr"/>
            <a:r>
              <a:rPr sz="1300" b="1" i="0">
                <a:solidFill>
                  <a:srgbClr val="14210E"/>
                </a:solidFill>
                <a:latin typeface="Arial"/>
                <a:ea typeface="Arial"/>
                <a:cs typeface="Arial"/>
              </a:rPr>
              <a:t>Paid acquisition channel already proven</a:t>
            </a:r>
          </a:p>
        </p:txBody>
      </p:sp>
      <p:sp>
        <p:nvSpPr>
          <p:cNvPr id="9" name="TextBox 8"/>
          <p:cNvSpPr txBox="1"/>
          <p:nvPr/>
        </p:nvSpPr>
        <p:spPr>
          <a:xfrm>
            <a:off x="6949440" y="2743200"/>
            <a:ext cx="2377440" cy="914400"/>
          </a:xfrm>
          <a:prstGeom prst="rect">
            <a:avLst/>
          </a:prstGeom>
          <a:noFill/>
        </p:spPr>
        <p:txBody>
          <a:bodyPr wrap="square" lIns="0" rIns="0" tIns="0" bIns="0" anchor="t"/>
          <a:lstStyle/>
          <a:p>
            <a:pPr algn="l"/>
            <a:r>
              <a:rPr sz="4400" b="1" i="0" spc="-100">
                <a:solidFill>
                  <a:srgbClr val="151515"/>
                </a:solidFill>
                <a:latin typeface="Arial"/>
                <a:ea typeface="Arial"/>
                <a:cs typeface="Arial"/>
              </a:rPr>
              <a:t>14.3K</a:t>
            </a:r>
          </a:p>
        </p:txBody>
      </p:sp>
      <p:sp>
        <p:nvSpPr>
          <p:cNvPr id="10" name="TextBox 9"/>
          <p:cNvSpPr txBox="1"/>
          <p:nvPr/>
        </p:nvSpPr>
        <p:spPr>
          <a:xfrm>
            <a:off x="9281160" y="3017520"/>
            <a:ext cx="2286000" cy="457200"/>
          </a:xfrm>
          <a:prstGeom prst="rect">
            <a:avLst/>
          </a:prstGeom>
          <a:noFill/>
        </p:spPr>
        <p:txBody>
          <a:bodyPr wrap="square" lIns="0" rIns="0" tIns="0" bIns="0" anchor="t"/>
          <a:lstStyle/>
          <a:p>
            <a:pPr algn="l"/>
            <a:r>
              <a:rPr sz="1600" b="0" i="0">
                <a:solidFill>
                  <a:srgbClr val="666A68"/>
                </a:solidFill>
                <a:latin typeface="Arial"/>
                <a:ea typeface="Arial"/>
                <a:cs typeface="Arial"/>
              </a:rPr>
              <a:t>orders</a:t>
            </a:r>
          </a:p>
        </p:txBody>
      </p:sp>
      <p:cxnSp>
        <p:nvCxnSpPr>
          <p:cNvPr id="11" name="Connector 10"/>
          <p:cNvCxnSpPr/>
          <p:nvPr/>
        </p:nvCxnSpPr>
        <p:spPr>
          <a:xfrm>
            <a:off x="6949440" y="3767328"/>
            <a:ext cx="4572000" cy="0"/>
          </a:xfrm>
          <a:prstGeom prst="line">
            <a:avLst/>
          </a:prstGeom>
          <a:ln w="9525">
            <a:solidFill>
              <a:srgbClr val="D7DAD8"/>
            </a:solidFill>
          </a:ln>
        </p:spPr>
      </p:cxnSp>
      <p:sp>
        <p:nvSpPr>
          <p:cNvPr id="12" name="TextBox 11"/>
          <p:cNvSpPr txBox="1"/>
          <p:nvPr/>
        </p:nvSpPr>
        <p:spPr>
          <a:xfrm>
            <a:off x="6949440" y="3858768"/>
            <a:ext cx="2377440" cy="914400"/>
          </a:xfrm>
          <a:prstGeom prst="rect">
            <a:avLst/>
          </a:prstGeom>
          <a:noFill/>
        </p:spPr>
        <p:txBody>
          <a:bodyPr wrap="square" lIns="0" rIns="0" tIns="0" bIns="0" anchor="t"/>
          <a:lstStyle/>
          <a:p>
            <a:pPr algn="l"/>
            <a:r>
              <a:rPr sz="4400" b="1" i="0" spc="-100">
                <a:solidFill>
                  <a:srgbClr val="151515"/>
                </a:solidFill>
                <a:latin typeface="Arial"/>
                <a:ea typeface="Arial"/>
                <a:cs typeface="Arial"/>
              </a:rPr>
              <a:t>7.6K</a:t>
            </a:r>
          </a:p>
        </p:txBody>
      </p:sp>
      <p:sp>
        <p:nvSpPr>
          <p:cNvPr id="13" name="TextBox 12"/>
          <p:cNvSpPr txBox="1"/>
          <p:nvPr/>
        </p:nvSpPr>
        <p:spPr>
          <a:xfrm>
            <a:off x="9281160" y="4133087"/>
            <a:ext cx="2286000" cy="457200"/>
          </a:xfrm>
          <a:prstGeom prst="rect">
            <a:avLst/>
          </a:prstGeom>
          <a:noFill/>
        </p:spPr>
        <p:txBody>
          <a:bodyPr wrap="square" lIns="0" rIns="0" tIns="0" bIns="0" anchor="t"/>
          <a:lstStyle/>
          <a:p>
            <a:pPr algn="l"/>
            <a:r>
              <a:rPr sz="1600" b="0" i="0">
                <a:solidFill>
                  <a:srgbClr val="666A68"/>
                </a:solidFill>
                <a:latin typeface="Arial"/>
                <a:ea typeface="Arial"/>
                <a:cs typeface="Arial"/>
              </a:rPr>
              <a:t>buyers</a:t>
            </a:r>
          </a:p>
        </p:txBody>
      </p:sp>
      <p:cxnSp>
        <p:nvCxnSpPr>
          <p:cNvPr id="14" name="Connector 13"/>
          <p:cNvCxnSpPr/>
          <p:nvPr/>
        </p:nvCxnSpPr>
        <p:spPr>
          <a:xfrm>
            <a:off x="6949440" y="4882896"/>
            <a:ext cx="4572000" cy="0"/>
          </a:xfrm>
          <a:prstGeom prst="line">
            <a:avLst/>
          </a:prstGeom>
          <a:ln w="9525">
            <a:solidFill>
              <a:srgbClr val="D7DAD8"/>
            </a:solidFill>
          </a:ln>
        </p:spPr>
      </p:cxnSp>
      <p:sp>
        <p:nvSpPr>
          <p:cNvPr id="15" name="TextBox 14"/>
          <p:cNvSpPr txBox="1"/>
          <p:nvPr/>
        </p:nvSpPr>
        <p:spPr>
          <a:xfrm>
            <a:off x="6949440" y="4974336"/>
            <a:ext cx="2377440" cy="914400"/>
          </a:xfrm>
          <a:prstGeom prst="rect">
            <a:avLst/>
          </a:prstGeom>
          <a:noFill/>
        </p:spPr>
        <p:txBody>
          <a:bodyPr wrap="square" lIns="0" rIns="0" tIns="0" bIns="0" anchor="t"/>
          <a:lstStyle/>
          <a:p>
            <a:pPr algn="l"/>
            <a:r>
              <a:rPr sz="4400" b="1" i="0" spc="-100">
                <a:solidFill>
                  <a:srgbClr val="151515"/>
                </a:solidFill>
                <a:latin typeface="Arial"/>
                <a:ea typeface="Arial"/>
                <a:cs typeface="Arial"/>
              </a:rPr>
              <a:t>~$8</a:t>
            </a:r>
          </a:p>
        </p:txBody>
      </p:sp>
      <p:sp>
        <p:nvSpPr>
          <p:cNvPr id="16" name="TextBox 15"/>
          <p:cNvSpPr txBox="1"/>
          <p:nvPr/>
        </p:nvSpPr>
        <p:spPr>
          <a:xfrm>
            <a:off x="9281160" y="5248655"/>
            <a:ext cx="2286000" cy="457200"/>
          </a:xfrm>
          <a:prstGeom prst="rect">
            <a:avLst/>
          </a:prstGeom>
          <a:noFill/>
        </p:spPr>
        <p:txBody>
          <a:bodyPr wrap="square" lIns="0" rIns="0" tIns="0" bIns="0" anchor="t"/>
          <a:lstStyle/>
          <a:p>
            <a:pPr algn="l"/>
            <a:r>
              <a:rPr sz="1600" b="0" i="0">
                <a:solidFill>
                  <a:srgbClr val="666A68"/>
                </a:solidFill>
                <a:latin typeface="Arial"/>
                <a:ea typeface="Arial"/>
                <a:cs typeface="Arial"/>
              </a:rPr>
              <a:t>paid CAC per buyer</a:t>
            </a:r>
          </a:p>
        </p:txBody>
      </p:sp>
      <p:sp>
        <p:nvSpPr>
          <p:cNvPr id="17" name="TextBox 16"/>
          <p:cNvSpPr txBox="1"/>
          <p:nvPr/>
        </p:nvSpPr>
        <p:spPr>
          <a:xfrm>
            <a:off x="10972800" y="6355080"/>
            <a:ext cx="548640" cy="274320"/>
          </a:xfrm>
          <a:prstGeom prst="rect">
            <a:avLst/>
          </a:prstGeom>
          <a:noFill/>
        </p:spPr>
        <p:txBody>
          <a:bodyPr wrap="square" lIns="0" rIns="0" tIns="0" bIns="0" anchor="t"/>
          <a:lstStyle/>
          <a:p>
            <a:pPr algn="r"/>
            <a:r>
              <a:rPr sz="1000" b="0" i="0">
                <a:solidFill>
                  <a:srgbClr val="8A8F8C"/>
                </a:solidFill>
                <a:latin typeface="Arial"/>
                <a:ea typeface="Arial"/>
                <a:cs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51515"/>
        </a:solidFill>
        <a:effectLst/>
      </p:bgPr>
    </p:bg>
    <p:spTree>
      <p:nvGrpSpPr>
        <p:cNvPr id="1" name=""/>
        <p:cNvGrpSpPr/>
        <p:nvPr/>
      </p:nvGrpSpPr>
      <p:grpSpPr/>
      <p:sp>
        <p:nvSpPr>
          <p:cNvPr id="2" name="TextBox 1"/>
          <p:cNvSpPr txBox="1"/>
          <p:nvPr/>
        </p:nvSpPr>
        <p:spPr>
          <a:xfrm>
            <a:off x="685800" y="566928"/>
            <a:ext cx="7315200" cy="274320"/>
          </a:xfrm>
          <a:prstGeom prst="rect">
            <a:avLst/>
          </a:prstGeom>
          <a:noFill/>
        </p:spPr>
        <p:txBody>
          <a:bodyPr wrap="square" lIns="0" rIns="0" tIns="0" bIns="0" anchor="t"/>
          <a:lstStyle/>
          <a:p>
            <a:pPr algn="l"/>
            <a:r>
              <a:rPr sz="1100" b="1" i="0" spc="200">
                <a:solidFill>
                  <a:srgbClr val="A3F75C"/>
                </a:solidFill>
                <a:latin typeface="Arial"/>
                <a:ea typeface="Arial"/>
                <a:cs typeface="Arial"/>
              </a:rPr>
              <a:t>FOUNDER</a:t>
            </a:r>
          </a:p>
        </p:txBody>
      </p:sp>
      <p:sp>
        <p:nvSpPr>
          <p:cNvPr id="3" name="TextBox 2"/>
          <p:cNvSpPr txBox="1"/>
          <p:nvPr/>
        </p:nvSpPr>
        <p:spPr>
          <a:xfrm>
            <a:off x="685800" y="896112"/>
            <a:ext cx="10789920" cy="822960"/>
          </a:xfrm>
          <a:prstGeom prst="rect">
            <a:avLst/>
          </a:prstGeom>
          <a:noFill/>
        </p:spPr>
        <p:txBody>
          <a:bodyPr wrap="square" lIns="0" rIns="0" tIns="0" bIns="0" anchor="t"/>
          <a:lstStyle/>
          <a:p>
            <a:pPr algn="l"/>
            <a:r>
              <a:rPr sz="3600" b="1" i="0" spc="-100">
                <a:solidFill>
                  <a:srgbClr val="FFFFFF"/>
                </a:solidFill>
                <a:latin typeface="Arial"/>
                <a:ea typeface="Arial"/>
                <a:cs typeface="Arial"/>
              </a:rPr>
              <a:t>Has built, scaled and sold before</a:t>
            </a:r>
          </a:p>
        </p:txBody>
      </p:sp>
      <p:pic>
        <p:nvPicPr>
          <p:cNvPr id="4" name="Picture 3" descr="founder.jpg"/>
          <p:cNvPicPr>
            <a:picLocks noChangeAspect="1"/>
          </p:cNvPicPr>
          <p:nvPr/>
        </p:nvPicPr>
        <p:blipFill>
          <a:blip r:embed="rId2"/>
          <a:srcRect/>
          <a:stretch>
            <a:fillRect/>
          </a:stretch>
        </p:blipFill>
        <p:spPr>
          <a:xfrm>
            <a:off x="685800" y="2011680"/>
            <a:ext cx="3246120" cy="3246120"/>
          </a:xfrm>
          <a:prstGeom prst="roundRect">
            <a:avLst>
              <a:gd name="adj" fmla="val 8450"/>
            </a:avLst>
          </a:prstGeom>
        </p:spPr>
      </p:pic>
      <p:sp>
        <p:nvSpPr>
          <p:cNvPr id="5" name="TextBox 4"/>
          <p:cNvSpPr txBox="1"/>
          <p:nvPr/>
        </p:nvSpPr>
        <p:spPr>
          <a:xfrm>
            <a:off x="685800" y="5440680"/>
            <a:ext cx="3474720" cy="411480"/>
          </a:xfrm>
          <a:prstGeom prst="rect">
            <a:avLst/>
          </a:prstGeom>
          <a:noFill/>
        </p:spPr>
        <p:txBody>
          <a:bodyPr wrap="square" lIns="0" rIns="0" tIns="0" bIns="0" anchor="t"/>
          <a:lstStyle/>
          <a:p>
            <a:pPr algn="l"/>
            <a:r>
              <a:rPr sz="2100" b="1" i="0">
                <a:solidFill>
                  <a:srgbClr val="FFFFFF"/>
                </a:solidFill>
                <a:latin typeface="Arial"/>
                <a:ea typeface="Arial"/>
                <a:cs typeface="Arial"/>
              </a:rPr>
              <a:t>Aleksei Balchunas</a:t>
            </a:r>
          </a:p>
        </p:txBody>
      </p:sp>
      <p:sp>
        <p:nvSpPr>
          <p:cNvPr id="6" name="TextBox 5"/>
          <p:cNvSpPr txBox="1"/>
          <p:nvPr/>
        </p:nvSpPr>
        <p:spPr>
          <a:xfrm>
            <a:off x="685800" y="5852160"/>
            <a:ext cx="3474720" cy="320040"/>
          </a:xfrm>
          <a:prstGeom prst="rect">
            <a:avLst/>
          </a:prstGeom>
          <a:noFill/>
        </p:spPr>
        <p:txBody>
          <a:bodyPr wrap="square" lIns="0" rIns="0" tIns="0" bIns="0" anchor="t"/>
          <a:lstStyle/>
          <a:p>
            <a:pPr algn="l"/>
            <a:r>
              <a:rPr sz="1300" b="0" i="0">
                <a:solidFill>
                  <a:srgbClr val="B9BDBA"/>
                </a:solidFill>
                <a:latin typeface="Arial"/>
                <a:ea typeface="Arial"/>
                <a:cs typeface="Arial"/>
              </a:rPr>
              <a:t>Founder and technical lead</a:t>
            </a:r>
          </a:p>
        </p:txBody>
      </p:sp>
      <p:sp>
        <p:nvSpPr>
          <p:cNvPr id="7" name="TextBox 6"/>
          <p:cNvSpPr txBox="1"/>
          <p:nvPr/>
        </p:nvSpPr>
        <p:spPr>
          <a:xfrm>
            <a:off x="4754880" y="2011680"/>
            <a:ext cx="6766560" cy="1234440"/>
          </a:xfrm>
          <a:prstGeom prst="rect">
            <a:avLst/>
          </a:prstGeom>
          <a:noFill/>
        </p:spPr>
        <p:txBody>
          <a:bodyPr wrap="square" lIns="0" rIns="0" tIns="0" bIns="0" anchor="t"/>
          <a:lstStyle/>
          <a:p>
            <a:pPr algn="l">
              <a:spcAft>
                <a:spcPts val="800"/>
              </a:spcAft>
            </a:pPr>
            <a:r>
              <a:rPr sz="1100" b="1" i="0" spc="200">
                <a:solidFill>
                  <a:srgbClr val="A3F75C"/>
                </a:solidFill>
                <a:latin typeface="Arial"/>
                <a:ea typeface="Arial"/>
                <a:cs typeface="Arial"/>
              </a:rPr>
              <a:t>TWO EXITS</a:t>
            </a:r>
          </a:p>
          <a:p>
            <a:pPr algn="l">
              <a:lnSpc>
                <a:spcPct val="112000"/>
              </a:lnSpc>
            </a:pPr>
            <a:r>
              <a:rPr sz="1500" b="0" i="0">
                <a:solidFill>
                  <a:srgbClr val="FFFFFF"/>
                </a:solidFill>
                <a:latin typeface="Arial"/>
                <a:ea typeface="Arial"/>
                <a:cs typeface="Arial"/>
              </a:rPr>
              <a:t>Hypee, a photo and video editor, acquired by Yandex</a:t>
            </a:r>
          </a:p>
          <a:p>
            <a:pPr algn="l">
              <a:lnSpc>
                <a:spcPct val="112000"/>
              </a:lnSpc>
            </a:pPr>
            <a:r>
              <a:rPr sz="1500" b="0" i="0">
                <a:solidFill>
                  <a:srgbClr val="FFFFFF"/>
                </a:solidFill>
                <a:latin typeface="Arial"/>
                <a:ea typeface="Arial"/>
                <a:cs typeface="Arial"/>
              </a:rPr>
              <a:t>in a deal valued at about $3.1M.</a:t>
            </a:r>
          </a:p>
          <a:p>
            <a:pPr algn="l">
              <a:lnSpc>
                <a:spcPct val="112000"/>
              </a:lnSpc>
              <a:spcBef>
                <a:spcPts val="600"/>
              </a:spcBef>
            </a:pPr>
            <a:r>
              <a:rPr sz="1500" b="0" i="0">
                <a:solidFill>
                  <a:srgbClr val="FFFFFF"/>
                </a:solidFill>
                <a:latin typeface="Arial"/>
                <a:ea typeface="Arial"/>
                <a:cs typeface="Arial"/>
              </a:rPr>
              <a:t>AI Boost, an AI photo and video product, sold for about $450K.</a:t>
            </a:r>
          </a:p>
        </p:txBody>
      </p:sp>
      <p:cxnSp>
        <p:nvCxnSpPr>
          <p:cNvPr id="8" name="Connector 7"/>
          <p:cNvCxnSpPr/>
          <p:nvPr/>
        </p:nvCxnSpPr>
        <p:spPr>
          <a:xfrm>
            <a:off x="4754880" y="3392424"/>
            <a:ext cx="6766560" cy="0"/>
          </a:xfrm>
          <a:prstGeom prst="line">
            <a:avLst/>
          </a:prstGeom>
          <a:ln w="9525">
            <a:solidFill>
              <a:srgbClr val="3A3D3B"/>
            </a:solidFill>
          </a:ln>
        </p:spPr>
      </p:cxnSp>
      <p:sp>
        <p:nvSpPr>
          <p:cNvPr id="9" name="TextBox 8"/>
          <p:cNvSpPr txBox="1"/>
          <p:nvPr/>
        </p:nvSpPr>
        <p:spPr>
          <a:xfrm>
            <a:off x="4754880" y="3538728"/>
            <a:ext cx="6766560" cy="868680"/>
          </a:xfrm>
          <a:prstGeom prst="rect">
            <a:avLst/>
          </a:prstGeom>
          <a:noFill/>
        </p:spPr>
        <p:txBody>
          <a:bodyPr wrap="square" lIns="0" rIns="0" tIns="0" bIns="0" anchor="t"/>
          <a:lstStyle/>
          <a:p>
            <a:pPr algn="l">
              <a:spcAft>
                <a:spcPts val="800"/>
              </a:spcAft>
            </a:pPr>
            <a:r>
              <a:rPr sz="1100" b="1" i="0" spc="200">
                <a:solidFill>
                  <a:srgbClr val="A3F75C"/>
                </a:solidFill>
                <a:latin typeface="Arial"/>
                <a:ea typeface="Arial"/>
                <a:cs typeface="Arial"/>
              </a:rPr>
              <a:t>BUILT THE STACK HIMSELF</a:t>
            </a:r>
          </a:p>
          <a:p>
            <a:pPr algn="l">
              <a:lnSpc>
                <a:spcPct val="112000"/>
              </a:lnSpc>
            </a:pPr>
            <a:r>
              <a:rPr sz="1500" b="0" i="0">
                <a:solidFill>
                  <a:srgbClr val="FFFFFF"/>
                </a:solidFill>
                <a:latin typeface="Arial"/>
                <a:ea typeface="Arial"/>
                <a:cs typeface="Arial"/>
              </a:rPr>
              <a:t>SuperCheap’s software and AI, from the catalog</a:t>
            </a:r>
          </a:p>
          <a:p>
            <a:pPr algn="l">
              <a:lnSpc>
                <a:spcPct val="112000"/>
              </a:lnSpc>
            </a:pPr>
            <a:r>
              <a:rPr sz="1500" b="0" i="0">
                <a:solidFill>
                  <a:srgbClr val="FFFFFF"/>
                </a:solidFill>
                <a:latin typeface="Arial"/>
                <a:ea typeface="Arial"/>
                <a:cs typeface="Arial"/>
              </a:rPr>
              <a:t>pipeline to the shopper MCP, is his own work.</a:t>
            </a:r>
          </a:p>
        </p:txBody>
      </p:sp>
      <p:cxnSp>
        <p:nvCxnSpPr>
          <p:cNvPr id="10" name="Connector 9"/>
          <p:cNvCxnSpPr/>
          <p:nvPr/>
        </p:nvCxnSpPr>
        <p:spPr>
          <a:xfrm>
            <a:off x="4754880" y="4553712"/>
            <a:ext cx="6766560" cy="0"/>
          </a:xfrm>
          <a:prstGeom prst="line">
            <a:avLst/>
          </a:prstGeom>
          <a:ln w="9525">
            <a:solidFill>
              <a:srgbClr val="3A3D3B"/>
            </a:solidFill>
          </a:ln>
        </p:spPr>
      </p:cxnSp>
      <p:sp>
        <p:nvSpPr>
          <p:cNvPr id="11" name="TextBox 10"/>
          <p:cNvSpPr txBox="1"/>
          <p:nvPr/>
        </p:nvSpPr>
        <p:spPr>
          <a:xfrm>
            <a:off x="4754880" y="4700016"/>
            <a:ext cx="6766560" cy="868680"/>
          </a:xfrm>
          <a:prstGeom prst="rect">
            <a:avLst/>
          </a:prstGeom>
          <a:noFill/>
        </p:spPr>
        <p:txBody>
          <a:bodyPr wrap="square" lIns="0" rIns="0" tIns="0" bIns="0" anchor="t"/>
          <a:lstStyle/>
          <a:p>
            <a:pPr algn="l">
              <a:spcAft>
                <a:spcPts val="800"/>
              </a:spcAft>
            </a:pPr>
            <a:r>
              <a:rPr sz="1100" b="1" i="0" spc="200">
                <a:solidFill>
                  <a:srgbClr val="A3F75C"/>
                </a:solidFill>
                <a:latin typeface="Arial"/>
                <a:ea typeface="Arial"/>
                <a:cs typeface="Arial"/>
              </a:rPr>
              <a:t>RAN THIS MODEL BEFORE</a:t>
            </a:r>
          </a:p>
          <a:p>
            <a:pPr algn="l">
              <a:lnSpc>
                <a:spcPct val="112000"/>
              </a:lnSpc>
            </a:pPr>
            <a:r>
              <a:rPr sz="1500" b="0" i="0">
                <a:solidFill>
                  <a:srgbClr val="FFFFFF"/>
                </a:solidFill>
                <a:latin typeface="Arial"/>
                <a:ea typeface="Arial"/>
                <a:cs typeface="Arial"/>
              </a:rPr>
              <a:t>Launched the same marketplace model and grew it to</a:t>
            </a:r>
          </a:p>
          <a:p>
            <a:pPr algn="l">
              <a:lnSpc>
                <a:spcPct val="112000"/>
              </a:lnSpc>
            </a:pPr>
            <a:r>
              <a:rPr sz="1500" b="0" i="0">
                <a:solidFill>
                  <a:srgbClr val="FFFFFF"/>
                </a:solidFill>
                <a:latin typeface="Arial"/>
                <a:ea typeface="Arial"/>
                <a:cs typeface="Arial"/>
              </a:rPr>
              <a:t>14.3K orders: acquisition, supply, payments and support.</a:t>
            </a:r>
          </a:p>
        </p:txBody>
      </p:sp>
      <p:sp>
        <p:nvSpPr>
          <p:cNvPr id="12" name="TextBox 11"/>
          <p:cNvSpPr txBox="1"/>
          <p:nvPr/>
        </p:nvSpPr>
        <p:spPr>
          <a:xfrm>
            <a:off x="4754880" y="5897880"/>
            <a:ext cx="6766560" cy="320040"/>
          </a:xfrm>
          <a:prstGeom prst="rect">
            <a:avLst/>
          </a:prstGeom>
          <a:noFill/>
        </p:spPr>
        <p:txBody>
          <a:bodyPr wrap="square" lIns="0" rIns="0" tIns="0" bIns="0" anchor="t"/>
          <a:lstStyle/>
          <a:p>
            <a:pPr algn="l"/>
            <a:r>
              <a:rPr sz="1200" b="0" i="0">
                <a:solidFill>
                  <a:srgbClr val="B9BDBA"/>
                </a:solidFill>
                <a:latin typeface="Arial"/>
                <a:ea typeface="Arial"/>
                <a:cs typeface="Arial"/>
              </a:rPr>
              <a:t>Full-time on SuperCheap since August 2026 · self-funded</a:t>
            </a:r>
          </a:p>
        </p:txBody>
      </p:sp>
      <p:sp>
        <p:nvSpPr>
          <p:cNvPr id="13" name="TextBox 12"/>
          <p:cNvSpPr txBox="1"/>
          <p:nvPr/>
        </p:nvSpPr>
        <p:spPr>
          <a:xfrm>
            <a:off x="10972800" y="6355080"/>
            <a:ext cx="548640" cy="274320"/>
          </a:xfrm>
          <a:prstGeom prst="rect">
            <a:avLst/>
          </a:prstGeom>
          <a:noFill/>
        </p:spPr>
        <p:txBody>
          <a:bodyPr wrap="square" lIns="0" rIns="0" tIns="0" bIns="0" anchor="t"/>
          <a:lstStyle/>
          <a:p>
            <a:pPr algn="r"/>
            <a:r>
              <a:rPr sz="1000" b="0" i="0">
                <a:solidFill>
                  <a:srgbClr val="B9BDBA"/>
                </a:solidFill>
                <a:latin typeface="Arial"/>
                <a:ea typeface="Arial"/>
                <a:cs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EFCF8"/>
        </a:solidFill>
        <a:effectLst/>
      </p:bgPr>
    </p:bg>
    <p:spTree>
      <p:nvGrpSpPr>
        <p:cNvPr id="1" name=""/>
        <p:cNvGrpSpPr/>
        <p:nvPr/>
      </p:nvGrpSpPr>
      <p:grpSpPr/>
      <p:pic>
        <p:nvPicPr>
          <p:cNvPr id="2" name="Picture 1" descr="wordmark_tight.png"/>
          <p:cNvPicPr>
            <a:picLocks noChangeAspect="1"/>
          </p:cNvPicPr>
          <p:nvPr/>
        </p:nvPicPr>
        <p:blipFill>
          <a:blip r:embed="rId2"/>
          <a:stretch>
            <a:fillRect/>
          </a:stretch>
        </p:blipFill>
        <p:spPr>
          <a:xfrm>
            <a:off x="713232" y="713232"/>
            <a:ext cx="2011680" cy="262557"/>
          </a:xfrm>
          <a:prstGeom prst="rect">
            <a:avLst/>
          </a:prstGeom>
        </p:spPr>
      </p:pic>
      <p:sp>
        <p:nvSpPr>
          <p:cNvPr id="3" name="TextBox 2"/>
          <p:cNvSpPr txBox="1"/>
          <p:nvPr/>
        </p:nvSpPr>
        <p:spPr>
          <a:xfrm>
            <a:off x="658368" y="1417320"/>
            <a:ext cx="10607040" cy="2286000"/>
          </a:xfrm>
          <a:prstGeom prst="rect">
            <a:avLst/>
          </a:prstGeom>
          <a:noFill/>
        </p:spPr>
        <p:txBody>
          <a:bodyPr wrap="square" lIns="0" rIns="0" tIns="0" bIns="0" anchor="t"/>
          <a:lstStyle/>
          <a:p>
            <a:pPr algn="l">
              <a:lnSpc>
                <a:spcPct val="95000"/>
              </a:lnSpc>
            </a:pPr>
            <a:r>
              <a:rPr sz="4400" b="1" i="0" spc="-120">
                <a:solidFill>
                  <a:srgbClr val="151515"/>
                </a:solidFill>
                <a:latin typeface="Arial"/>
                <a:ea typeface="Arial"/>
                <a:cs typeface="Arial"/>
              </a:rPr>
              <a:t>Shopping that works wherever</a:t>
            </a:r>
          </a:p>
          <a:p>
            <a:pPr algn="l">
              <a:lnSpc>
                <a:spcPct val="95000"/>
              </a:lnSpc>
            </a:pPr>
            <a:r>
              <a:rPr sz="4400" b="1" i="0" spc="-120">
                <a:solidFill>
                  <a:srgbClr val="151515"/>
                </a:solidFill>
                <a:latin typeface="Arial"/>
                <a:ea typeface="Arial"/>
                <a:cs typeface="Arial"/>
              </a:rPr>
              <a:t>the shopper starts, including</a:t>
            </a:r>
          </a:p>
          <a:p>
            <a:pPr algn="l">
              <a:lnSpc>
                <a:spcPct val="95000"/>
              </a:lnSpc>
            </a:pPr>
            <a:r>
              <a:rPr sz="4400" b="1" i="0" spc="-120">
                <a:solidFill>
                  <a:srgbClr val="151515"/>
                </a:solidFill>
                <a:latin typeface="Arial"/>
                <a:ea typeface="Arial"/>
                <a:cs typeface="Arial"/>
              </a:rPr>
              <a:t>their AI. </a:t>
            </a:r>
            <a:r>
              <a:rPr sz="4400" b="1" i="0" spc="-120">
                <a:solidFill>
                  <a:srgbClr val="087F5B"/>
                </a:solidFill>
                <a:latin typeface="Arial"/>
                <a:ea typeface="Arial"/>
                <a:cs typeface="Arial"/>
              </a:rPr>
              <a:t>And for less.</a:t>
            </a:r>
          </a:p>
        </p:txBody>
      </p:sp>
      <p:sp>
        <p:nvSpPr>
          <p:cNvPr id="4" name="TextBox 3"/>
          <p:cNvSpPr txBox="1"/>
          <p:nvPr/>
        </p:nvSpPr>
        <p:spPr>
          <a:xfrm>
            <a:off x="685800" y="3886200"/>
            <a:ext cx="3657600" cy="274320"/>
          </a:xfrm>
          <a:prstGeom prst="rect">
            <a:avLst/>
          </a:prstGeom>
          <a:noFill/>
        </p:spPr>
        <p:txBody>
          <a:bodyPr wrap="square" lIns="0" rIns="0" tIns="0" bIns="0" anchor="t"/>
          <a:lstStyle/>
          <a:p>
            <a:pPr algn="l"/>
            <a:r>
              <a:rPr sz="1100" b="1" i="0" spc="200">
                <a:solidFill>
                  <a:srgbClr val="087F5B"/>
                </a:solidFill>
                <a:latin typeface="Arial"/>
                <a:ea typeface="Arial"/>
                <a:cs typeface="Arial"/>
              </a:rPr>
              <a:t>NEXT: FIRST U.S. TRACTION</a:t>
            </a:r>
          </a:p>
        </p:txBody>
      </p:sp>
      <p:cxnSp>
        <p:nvCxnSpPr>
          <p:cNvPr id="5" name="Connector 4"/>
          <p:cNvCxnSpPr/>
          <p:nvPr/>
        </p:nvCxnSpPr>
        <p:spPr>
          <a:xfrm>
            <a:off x="685800" y="4343400"/>
            <a:ext cx="3337560" cy="0"/>
          </a:xfrm>
          <a:prstGeom prst="line">
            <a:avLst/>
          </a:prstGeom>
          <a:ln w="15875">
            <a:solidFill>
              <a:srgbClr val="151515"/>
            </a:solidFill>
          </a:ln>
        </p:spPr>
      </p:cxnSp>
      <p:sp>
        <p:nvSpPr>
          <p:cNvPr id="6" name="TextBox 5"/>
          <p:cNvSpPr txBox="1"/>
          <p:nvPr/>
        </p:nvSpPr>
        <p:spPr>
          <a:xfrm>
            <a:off x="685800" y="4498848"/>
            <a:ext cx="3337560" cy="1371600"/>
          </a:xfrm>
          <a:prstGeom prst="rect">
            <a:avLst/>
          </a:prstGeom>
          <a:noFill/>
        </p:spPr>
        <p:txBody>
          <a:bodyPr wrap="square" lIns="0" rIns="0" tIns="0" bIns="0" anchor="t"/>
          <a:lstStyle/>
          <a:p>
            <a:pPr algn="l">
              <a:spcAft>
                <a:spcPts val="600"/>
              </a:spcAft>
            </a:pPr>
            <a:r>
              <a:rPr sz="1300" b="1" i="0">
                <a:solidFill>
                  <a:srgbClr val="087F5B"/>
                </a:solidFill>
                <a:latin typeface="Arial"/>
                <a:ea typeface="Arial"/>
                <a:cs typeface="Arial"/>
              </a:rPr>
              <a:t>01</a:t>
            </a:r>
          </a:p>
          <a:p>
            <a:pPr algn="l">
              <a:lnSpc>
                <a:spcPct val="110000"/>
              </a:lnSpc>
            </a:pPr>
            <a:r>
              <a:rPr sz="1700" b="1" i="0">
                <a:solidFill>
                  <a:srgbClr val="151515"/>
                </a:solidFill>
                <a:latin typeface="Arial"/>
                <a:ea typeface="Arial"/>
                <a:cs typeface="Arial"/>
              </a:rPr>
              <a:t>Put paid acquisition behind</a:t>
            </a:r>
          </a:p>
          <a:p>
            <a:pPr algn="l">
              <a:lnSpc>
                <a:spcPct val="110000"/>
              </a:lnSpc>
            </a:pPr>
            <a:r>
              <a:rPr sz="1700" b="1" i="0">
                <a:solidFill>
                  <a:srgbClr val="151515"/>
                </a:solidFill>
                <a:latin typeface="Arial"/>
                <a:ea typeface="Arial"/>
                <a:cs typeface="Arial"/>
              </a:rPr>
              <a:t>the channel playbook that</a:t>
            </a:r>
          </a:p>
          <a:p>
            <a:pPr algn="l">
              <a:lnSpc>
                <a:spcPct val="110000"/>
              </a:lnSpc>
            </a:pPr>
            <a:r>
              <a:rPr sz="1700" b="1" i="0">
                <a:solidFill>
                  <a:srgbClr val="151515"/>
                </a:solidFill>
                <a:latin typeface="Arial"/>
                <a:ea typeface="Arial"/>
                <a:cs typeface="Arial"/>
              </a:rPr>
              <a:t>worked before.</a:t>
            </a:r>
          </a:p>
        </p:txBody>
      </p:sp>
      <p:cxnSp>
        <p:nvCxnSpPr>
          <p:cNvPr id="7" name="Connector 6"/>
          <p:cNvCxnSpPr/>
          <p:nvPr/>
        </p:nvCxnSpPr>
        <p:spPr>
          <a:xfrm>
            <a:off x="4434840" y="4343400"/>
            <a:ext cx="3337560" cy="0"/>
          </a:xfrm>
          <a:prstGeom prst="line">
            <a:avLst/>
          </a:prstGeom>
          <a:ln w="15875">
            <a:solidFill>
              <a:srgbClr val="151515"/>
            </a:solidFill>
          </a:ln>
        </p:spPr>
      </p:cxnSp>
      <p:sp>
        <p:nvSpPr>
          <p:cNvPr id="8" name="TextBox 7"/>
          <p:cNvSpPr txBox="1"/>
          <p:nvPr/>
        </p:nvSpPr>
        <p:spPr>
          <a:xfrm>
            <a:off x="4434840" y="4498848"/>
            <a:ext cx="3337560" cy="1371600"/>
          </a:xfrm>
          <a:prstGeom prst="rect">
            <a:avLst/>
          </a:prstGeom>
          <a:noFill/>
        </p:spPr>
        <p:txBody>
          <a:bodyPr wrap="square" lIns="0" rIns="0" tIns="0" bIns="0" anchor="t"/>
          <a:lstStyle/>
          <a:p>
            <a:pPr algn="l">
              <a:spcAft>
                <a:spcPts val="600"/>
              </a:spcAft>
            </a:pPr>
            <a:r>
              <a:rPr sz="1300" b="1" i="0">
                <a:solidFill>
                  <a:srgbClr val="087F5B"/>
                </a:solidFill>
                <a:latin typeface="Arial"/>
                <a:ea typeface="Arial"/>
                <a:cs typeface="Arial"/>
              </a:rPr>
              <a:t>02</a:t>
            </a:r>
          </a:p>
          <a:p>
            <a:pPr algn="l">
              <a:lnSpc>
                <a:spcPct val="110000"/>
              </a:lnSpc>
            </a:pPr>
            <a:r>
              <a:rPr sz="1700" b="1" i="0">
                <a:solidFill>
                  <a:srgbClr val="151515"/>
                </a:solidFill>
                <a:latin typeface="Arial"/>
                <a:ea typeface="Arial"/>
                <a:cs typeface="Arial"/>
              </a:rPr>
              <a:t>Tune the funnel, starting</a:t>
            </a:r>
          </a:p>
          <a:p>
            <a:pPr algn="l">
              <a:lnSpc>
                <a:spcPct val="110000"/>
              </a:lnSpc>
            </a:pPr>
            <a:r>
              <a:rPr sz="1700" b="1" i="0">
                <a:solidFill>
                  <a:srgbClr val="151515"/>
                </a:solidFill>
                <a:latin typeface="Arial"/>
                <a:ea typeface="Arial"/>
                <a:cs typeface="Arial"/>
              </a:rPr>
              <a:t>with checkout and fit</a:t>
            </a:r>
          </a:p>
          <a:p>
            <a:pPr algn="l">
              <a:lnSpc>
                <a:spcPct val="110000"/>
              </a:lnSpc>
            </a:pPr>
            <a:r>
              <a:rPr sz="1700" b="1" i="0">
                <a:solidFill>
                  <a:srgbClr val="151515"/>
                </a:solidFill>
                <a:latin typeface="Arial"/>
                <a:ea typeface="Arial"/>
                <a:cs typeface="Arial"/>
              </a:rPr>
              <a:t>confidence.</a:t>
            </a:r>
          </a:p>
        </p:txBody>
      </p:sp>
      <p:cxnSp>
        <p:nvCxnSpPr>
          <p:cNvPr id="9" name="Connector 8"/>
          <p:cNvCxnSpPr/>
          <p:nvPr/>
        </p:nvCxnSpPr>
        <p:spPr>
          <a:xfrm>
            <a:off x="8183879" y="4343400"/>
            <a:ext cx="3337561" cy="0"/>
          </a:xfrm>
          <a:prstGeom prst="line">
            <a:avLst/>
          </a:prstGeom>
          <a:ln w="15875">
            <a:solidFill>
              <a:srgbClr val="151515"/>
            </a:solidFill>
          </a:ln>
        </p:spPr>
      </p:cxnSp>
      <p:sp>
        <p:nvSpPr>
          <p:cNvPr id="10" name="TextBox 9"/>
          <p:cNvSpPr txBox="1"/>
          <p:nvPr/>
        </p:nvSpPr>
        <p:spPr>
          <a:xfrm>
            <a:off x="8183879" y="4498848"/>
            <a:ext cx="3337560" cy="1371600"/>
          </a:xfrm>
          <a:prstGeom prst="rect">
            <a:avLst/>
          </a:prstGeom>
          <a:noFill/>
        </p:spPr>
        <p:txBody>
          <a:bodyPr wrap="square" lIns="0" rIns="0" tIns="0" bIns="0" anchor="t"/>
          <a:lstStyle/>
          <a:p>
            <a:pPr algn="l">
              <a:spcAft>
                <a:spcPts val="600"/>
              </a:spcAft>
            </a:pPr>
            <a:r>
              <a:rPr sz="1300" b="1" i="0">
                <a:solidFill>
                  <a:srgbClr val="087F5B"/>
                </a:solidFill>
                <a:latin typeface="Arial"/>
                <a:ea typeface="Arial"/>
                <a:cs typeface="Arial"/>
              </a:rPr>
              <a:t>03</a:t>
            </a:r>
          </a:p>
          <a:p>
            <a:pPr algn="l">
              <a:lnSpc>
                <a:spcPct val="110000"/>
              </a:lnSpc>
            </a:pPr>
            <a:r>
              <a:rPr sz="1700" b="1" i="0">
                <a:solidFill>
                  <a:srgbClr val="151515"/>
                </a:solidFill>
                <a:latin typeface="Arial"/>
                <a:ea typeface="Arial"/>
                <a:cs typeface="Arial"/>
              </a:rPr>
              <a:t>Prove repeat buying</a:t>
            </a:r>
          </a:p>
          <a:p>
            <a:pPr algn="l">
              <a:lnSpc>
                <a:spcPct val="110000"/>
              </a:lnSpc>
            </a:pPr>
            <a:r>
              <a:rPr sz="1700" b="1" i="0">
                <a:solidFill>
                  <a:srgbClr val="151515"/>
                </a:solidFill>
                <a:latin typeface="Arial"/>
                <a:ea typeface="Arial"/>
                <a:cs typeface="Arial"/>
              </a:rPr>
              <a:t>in the U.S.</a:t>
            </a:r>
          </a:p>
        </p:txBody>
      </p:sp>
      <p:sp>
        <p:nvSpPr>
          <p:cNvPr id="11" name="TextBox 10"/>
          <p:cNvSpPr txBox="1"/>
          <p:nvPr/>
        </p:nvSpPr>
        <p:spPr>
          <a:xfrm>
            <a:off x="685800" y="6236208"/>
            <a:ext cx="5486400" cy="320040"/>
          </a:xfrm>
          <a:prstGeom prst="rect">
            <a:avLst/>
          </a:prstGeom>
          <a:noFill/>
        </p:spPr>
        <p:txBody>
          <a:bodyPr wrap="square" lIns="0" rIns="0" tIns="0" bIns="0" anchor="t"/>
          <a:lstStyle/>
          <a:p>
            <a:pPr algn="l"/>
            <a:r>
              <a:rPr sz="1300" b="1" i="0">
                <a:solidFill>
                  <a:srgbClr val="151515"/>
                </a:solidFill>
                <a:latin typeface="Arial"/>
                <a:ea typeface="Arial"/>
                <a:cs typeface="Arial"/>
              </a:rPr>
              <a:t>supercheap.market</a:t>
            </a:r>
            <a:r>
              <a:rPr sz="1300" b="0" i="0">
                <a:solidFill>
                  <a:srgbClr val="666A68"/>
                </a:solidFill>
                <a:latin typeface="Arial"/>
                <a:ea typeface="Arial"/>
                <a:cs typeface="Arial"/>
              </a:rPr>
              <a:t>   ·   Aleksei Balchunas</a:t>
            </a:r>
          </a:p>
        </p:txBody>
      </p:sp>
      <p:sp>
        <p:nvSpPr>
          <p:cNvPr id="12" name="TextBox 11"/>
          <p:cNvSpPr txBox="1"/>
          <p:nvPr/>
        </p:nvSpPr>
        <p:spPr>
          <a:xfrm>
            <a:off x="10972800" y="6355080"/>
            <a:ext cx="548640" cy="274320"/>
          </a:xfrm>
          <a:prstGeom prst="rect">
            <a:avLst/>
          </a:prstGeom>
          <a:noFill/>
        </p:spPr>
        <p:txBody>
          <a:bodyPr wrap="square" lIns="0" rIns="0" tIns="0" bIns="0" anchor="t"/>
          <a:lstStyle/>
          <a:p>
            <a:pPr algn="r"/>
            <a:r>
              <a:rPr sz="1000" b="0" i="0">
                <a:solidFill>
                  <a:srgbClr val="8A8F8C"/>
                </a:solidFill>
                <a:latin typeface="Arial"/>
                <a:ea typeface="Arial"/>
                <a:cs typeface="Arial"/>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