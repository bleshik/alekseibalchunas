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9f4eb025ed14cb4" /><Relationship Type="http://schemas.openxmlformats.org/officeDocument/2006/relationships/extended-properties" Target="/docProps/app.xml" Id="R916908cfe86b438d" /><Relationship Type="http://schemas.openxmlformats.org/officeDocument/2006/relationships/officeDocument" Target="/ppt/presentation.xml" Id="R8bb4af37d7ab4482" /></Relationships>
</file>

<file path=ppt/presentation.xml><?xml version="1.0" encoding="utf-8"?>
<p:presentation xmlns:p="http://schemas.openxmlformats.org/presentationml/2006/main">
  <p:sldMasterIdLst>
    <p:sldMasterId xmlns:r="http://schemas.openxmlformats.org/officeDocument/2006/relationships" id="2147483648" r:id="R35d6fe1b07944ce3"/>
  </p:sldMasterIdLst>
  <p:notesMasterIdLst>
    <p:notesMasterId xmlns:r="http://schemas.openxmlformats.org/officeDocument/2006/relationships" r:id="R2fded07cd5bc4888"/>
  </p:notesMasterIdLst>
  <p:sldIdLst>
    <p:sldId xmlns:r="http://schemas.openxmlformats.org/officeDocument/2006/relationships" id="256" r:id="R09f531d533c342cb"/>
    <p:sldId xmlns:r="http://schemas.openxmlformats.org/officeDocument/2006/relationships" id="257" r:id="Radeb8baf32aa4e3a"/>
    <p:sldId xmlns:r="http://schemas.openxmlformats.org/officeDocument/2006/relationships" id="258" r:id="Rdea2c2135f3b4ada"/>
    <p:sldId xmlns:r="http://schemas.openxmlformats.org/officeDocument/2006/relationships" id="259" r:id="Rdc6c2cca52cb4caa"/>
    <p:sldId xmlns:r="http://schemas.openxmlformats.org/officeDocument/2006/relationships" id="260" r:id="Rbdc2b96818dc46b6"/>
    <p:sldId xmlns:r="http://schemas.openxmlformats.org/officeDocument/2006/relationships" id="261" r:id="Rac3a9819eb564275"/>
    <p:sldId xmlns:r="http://schemas.openxmlformats.org/officeDocument/2006/relationships" id="262" r:id="Rf2a5551770034a10"/>
    <p:sldId xmlns:r="http://schemas.openxmlformats.org/officeDocument/2006/relationships" id="263" r:id="R7050c194e9204d7c"/>
    <p:sldId xmlns:r="http://schemas.openxmlformats.org/officeDocument/2006/relationships" id="264" r:id="R4cc5588b827640f7"/>
    <p:sldId xmlns:r="http://schemas.openxmlformats.org/officeDocument/2006/relationships" id="265" r:id="R171a75eb4d3e4bf5"/>
    <p:sldId xmlns:r="http://schemas.openxmlformats.org/officeDocument/2006/relationships" id="266" r:id="R491652df18a84a87"/>
    <p:sldId xmlns:r="http://schemas.openxmlformats.org/officeDocument/2006/relationships" id="267" r:id="R0e62b1e671314aa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5e3af58eb9204310" /><Relationship Type="http://schemas.openxmlformats.org/officeDocument/2006/relationships/slideMaster" Target="/ppt/slideMasters/slideMaster1.xml" Id="R35d6fe1b07944ce3" /><Relationship Type="http://schemas.openxmlformats.org/officeDocument/2006/relationships/notesMaster" Target="/ppt/notesMasters/notesMaster1.xml" Id="R2fded07cd5bc4888" /><Relationship Type="http://schemas.openxmlformats.org/officeDocument/2006/relationships/presProps" Target="/ppt/presProps.xml" Id="Rc128787f64164c11" /><Relationship Type="http://schemas.openxmlformats.org/officeDocument/2006/relationships/viewProps" Target="/ppt/viewProps.xml" Id="R5341bc13856d412b" /><Relationship Type="http://schemas.openxmlformats.org/officeDocument/2006/relationships/tableStyles" Target="/ppt/tableStyles.xml" Id="Ra64510271f774bc9" /><Relationship Type="http://schemas.openxmlformats.org/officeDocument/2006/relationships/slide" Target="/ppt/slides/slide1.xml" Id="R09f531d533c342cb" /><Relationship Type="http://schemas.openxmlformats.org/officeDocument/2006/relationships/slide" Target="/ppt/slides/slide2.xml" Id="Radeb8baf32aa4e3a" /><Relationship Type="http://schemas.openxmlformats.org/officeDocument/2006/relationships/slide" Target="/ppt/slides/slide3.xml" Id="Rdea2c2135f3b4ada" /><Relationship Type="http://schemas.openxmlformats.org/officeDocument/2006/relationships/slide" Target="/ppt/slides/slide4.xml" Id="Rdc6c2cca52cb4caa" /><Relationship Type="http://schemas.openxmlformats.org/officeDocument/2006/relationships/slide" Target="/ppt/slides/slide5.xml" Id="Rbdc2b96818dc46b6" /><Relationship Type="http://schemas.openxmlformats.org/officeDocument/2006/relationships/slide" Target="/ppt/slides/slide6.xml" Id="Rac3a9819eb564275" /><Relationship Type="http://schemas.openxmlformats.org/officeDocument/2006/relationships/slide" Target="/ppt/slides/slide7.xml" Id="Rf2a5551770034a10" /><Relationship Type="http://schemas.openxmlformats.org/officeDocument/2006/relationships/slide" Target="/ppt/slides/slide8.xml" Id="R7050c194e9204d7c" /><Relationship Type="http://schemas.openxmlformats.org/officeDocument/2006/relationships/slide" Target="/ppt/slides/slide9.xml" Id="R4cc5588b827640f7" /><Relationship Type="http://schemas.openxmlformats.org/officeDocument/2006/relationships/slide" Target="/ppt/slides/slide10.xml" Id="R171a75eb4d3e4bf5" /><Relationship Type="http://schemas.openxmlformats.org/officeDocument/2006/relationships/slide" Target="/ppt/slides/slide11.xml" Id="R491652df18a84a87" /><Relationship Type="http://schemas.openxmlformats.org/officeDocument/2006/relationships/slide" Target="/ppt/slides/slide12.xml" Id="R0e62b1e671314aa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3e7a85989954b1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1600089e7c9490d" /><Relationship Type="http://schemas.openxmlformats.org/officeDocument/2006/relationships/notesMaster" Target="/ppt/notesMasters/notesMaster1.xml" Id="R3dea2cf690db4769" /></Relationships>
</file>

<file path=ppt/notesSlides/_rels/notesSlide2.xml.rels>&#65279;<?xml version="1.0" encoding="utf-8"?><Relationships xmlns="http://schemas.openxmlformats.org/package/2006/relationships"><Relationship Type="http://schemas.openxmlformats.org/officeDocument/2006/relationships/slide" Target="/ppt/slides/slide2.xml" Id="R067646fdfe89478f" /><Relationship Type="http://schemas.openxmlformats.org/officeDocument/2006/relationships/notesMaster" Target="/ppt/notesMasters/notesMaster1.xml" Id="R4e97320bb97f452f" /></Relationships>
</file>

<file path=ppt/notesSlides/_rels/notesSlide3.xml.rels>&#65279;<?xml version="1.0" encoding="utf-8"?><Relationships xmlns="http://schemas.openxmlformats.org/package/2006/relationships"><Relationship Type="http://schemas.openxmlformats.org/officeDocument/2006/relationships/slide" Target="/ppt/slides/slide3.xml" Id="R763eeb98640943f8" /><Relationship Type="http://schemas.openxmlformats.org/officeDocument/2006/relationships/notesMaster" Target="/ppt/notesMasters/notesMaster1.xml" Id="R97d44f4fa93145f3" /></Relationships>
</file>

<file path=ppt/notesSlides/_rels/notesSlide4.xml.rels>&#65279;<?xml version="1.0" encoding="utf-8"?><Relationships xmlns="http://schemas.openxmlformats.org/package/2006/relationships"><Relationship Type="http://schemas.openxmlformats.org/officeDocument/2006/relationships/slide" Target="/ppt/slides/slide4.xml" Id="R6cc64273e46a4d43" /><Relationship Type="http://schemas.openxmlformats.org/officeDocument/2006/relationships/notesMaster" Target="/ppt/notesMasters/notesMaster1.xml" Id="Rd1a24fb3b475455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71894ffc4db49b8" /><Relationship Type="http://schemas.openxmlformats.org/officeDocument/2006/relationships/notesMaster" Target="/ppt/notesMasters/notesMaster1.xml" Id="Rfd7860af596f4ee4" /></Relationships>
</file>

<file path=ppt/notesSlides/_rels/notesSlide6.xml.rels>&#65279;<?xml version="1.0" encoding="utf-8"?><Relationships xmlns="http://schemas.openxmlformats.org/package/2006/relationships"><Relationship Type="http://schemas.openxmlformats.org/officeDocument/2006/relationships/slide" Target="/ppt/slides/slide6.xml" Id="Rb9177659756d4a1b" /><Relationship Type="http://schemas.openxmlformats.org/officeDocument/2006/relationships/notesMaster" Target="/ppt/notesMasters/notesMaster1.xml" Id="R389efa1b47504ff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3cc17a6b4fd4825" /><Relationship Type="http://schemas.openxmlformats.org/officeDocument/2006/relationships/notesMaster" Target="/ppt/notesMasters/notesMaster1.xml" Id="Rd8020a436f614332" /></Relationships>
</file>

<file path=ppt/notesSlides/_rels/notesSlide8.xml.rels>&#65279;<?xml version="1.0" encoding="utf-8"?><Relationships xmlns="http://schemas.openxmlformats.org/package/2006/relationships"><Relationship Type="http://schemas.openxmlformats.org/officeDocument/2006/relationships/slide" Target="/ppt/slides/slide8.xml" Id="R7b50cbf8559e4024" /><Relationship Type="http://schemas.openxmlformats.org/officeDocument/2006/relationships/notesMaster" Target="/ppt/notesMasters/notesMaster1.xml" Id="Re93fb188c64c460a" /></Relationships>
</file>

<file path=ppt/notesSlides/_rels/notesSlide9.xml.rels>&#65279;<?xml version="1.0" encoding="utf-8"?><Relationships xmlns="http://schemas.openxmlformats.org/package/2006/relationships"><Relationship Type="http://schemas.openxmlformats.org/officeDocument/2006/relationships/slide" Target="/ppt/slides/slide9.xml" Id="R7d4ee72477d14e15" /><Relationship Type="http://schemas.openxmlformats.org/officeDocument/2006/relationships/notesMaster" Target="/ppt/notesMasters/notesMaster1.xml" Id="Rf5f32a81fb834e5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5fedcd1ea334adf" /><Relationship Type="http://schemas.openxmlformats.org/officeDocument/2006/relationships/notesMaster" Target="/ppt/notesMasters/notesMaster1.xml" Id="R97b09a97a55a4a9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465b692279d4cf7" /><Relationship Type="http://schemas.openxmlformats.org/officeDocument/2006/relationships/notesMaster" Target="/ppt/notesMasters/notesMaster1.xml" Id="R17e04dcede1249d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fa41cb8041542a5" /><Relationship Type="http://schemas.openxmlformats.org/officeDocument/2006/relationships/notesMaster" Target="/ppt/notesMasters/notesMaster1.xml" Id="Re006fdd84a084ec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asked whether social reselling is a real channel in these markets: yes, and it's large. In Mexico City, Rest of World documented a single Shein/Temu reseller running a WhatsApp group of 73 female customers who each buy 2-3 items per week through her. In Brazil, social reselling is the fastest-growing social-commerce segment (~30% CAGR to 2030), run through group chats. The takeaway: our audience already buys cross-border Chinese fashion and already tolerates a manual, risky, prepay-a-stranger process for price and style. Fitzy is the trustworthy upgrade to what they already do.</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7210684932e4bfb"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909eb2a3d8e41c7" /><Relationship Type="http://schemas.openxmlformats.org/officeDocument/2006/relationships/slideLayout" Target="/ppt/slideLayouts/slideLayout1.xml" Id="Rf62fa9c733c84146"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62fa9c733c8414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e6c088591b644a8c" /><Relationship Type="http://schemas.openxmlformats.org/officeDocument/2006/relationships/notesSlide" Target="/ppt/notesSlides/notesSlide1.xml" Id="R8edeebae1875489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497973ad6ec4005" /><Relationship Type="http://schemas.openxmlformats.org/officeDocument/2006/relationships/image" Target="/ppt/media/image.png" Id="R8aefe4425c074766" /><Relationship Type="http://schemas.openxmlformats.org/officeDocument/2006/relationships/image" Target="/ppt/media/image2.png" Id="Ra55639c7da224991" /><Relationship Type="http://schemas.openxmlformats.org/officeDocument/2006/relationships/image" Target="/ppt/media/image3.png" Id="Rd3906f69e58f4139" /><Relationship Type="http://schemas.openxmlformats.org/officeDocument/2006/relationships/image" Target="/ppt/media/image4.png" Id="R4c3acc4bd4f546d1" /><Relationship Type="http://schemas.openxmlformats.org/officeDocument/2006/relationships/notesSlide" Target="/ppt/notesSlides/notesSlide2.xml" Id="Rdae750d276eb45e2"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f9f4d53daff4ee2" /><Relationship Type="http://schemas.openxmlformats.org/officeDocument/2006/relationships/image" Target="/ppt/media/image5.png" Id="R9401aa4613d84739" /><Relationship Type="http://schemas.openxmlformats.org/officeDocument/2006/relationships/image" Target="/ppt/media/image6.png" Id="R14d950a6bf5d4c73" /><Relationship Type="http://schemas.openxmlformats.org/officeDocument/2006/relationships/image" Target="/ppt/media/image7.png" Id="Rc9cbf943417649ca" /><Relationship Type="http://schemas.openxmlformats.org/officeDocument/2006/relationships/image" Target="/ppt/media/image8.png" Id="R0b989bf21e5f4edc" /><Relationship Type="http://schemas.openxmlformats.org/officeDocument/2006/relationships/notesSlide" Target="/ppt/notesSlides/notesSlide3.xml" Id="R6c57dd16c337427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14a596b04174a37" /><Relationship Type="http://schemas.openxmlformats.org/officeDocument/2006/relationships/image" Target="/ppt/media/image9.png" Id="Rfae104d328eb47b9" /><Relationship Type="http://schemas.openxmlformats.org/officeDocument/2006/relationships/image" Target="/ppt/media/image10.png" Id="R8e5dacfc6ece4cac" /><Relationship Type="http://schemas.openxmlformats.org/officeDocument/2006/relationships/image" Target="/ppt/media/image11.png" Id="R3ce211f9cad0444a" /><Relationship Type="http://schemas.openxmlformats.org/officeDocument/2006/relationships/notesSlide" Target="/ppt/notesSlides/notesSlide4.xml" Id="Rf974d63c7911470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f3939e5ddb54db9" /><Relationship Type="http://schemas.openxmlformats.org/officeDocument/2006/relationships/image" Target="/ppt/media/image12.png" Id="R013039814ffd4472" /><Relationship Type="http://schemas.openxmlformats.org/officeDocument/2006/relationships/image" Target="/ppt/media/image13.png" Id="R12f1a511b54d4dda" /><Relationship Type="http://schemas.openxmlformats.org/officeDocument/2006/relationships/image" Target="/ppt/media/image14.png" Id="R3c30edf30d784e74" /><Relationship Type="http://schemas.openxmlformats.org/officeDocument/2006/relationships/image" Target="/ppt/media/image15.png" Id="Rbbecebe78ec34e57" /><Relationship Type="http://schemas.openxmlformats.org/officeDocument/2006/relationships/image" Target="/ppt/media/image16.png" Id="Rec5931868bdd48bb" /><Relationship Type="http://schemas.openxmlformats.org/officeDocument/2006/relationships/image" Target="/ppt/media/image17.png" Id="Rc16b6304f57b4dcb" /><Relationship Type="http://schemas.openxmlformats.org/officeDocument/2006/relationships/notesSlide" Target="/ppt/notesSlides/notesSlide5.xml" Id="Rdfdbbebce4e14bd2"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daf768c9a5654b92" /><Relationship Type="http://schemas.openxmlformats.org/officeDocument/2006/relationships/image" Target="/ppt/media/image18.png" Id="Ra9086548efa44988" /><Relationship Type="http://schemas.openxmlformats.org/officeDocument/2006/relationships/image" Target="/ppt/media/image19.png" Id="Rb87f27bb04f94b9b" /><Relationship Type="http://schemas.openxmlformats.org/officeDocument/2006/relationships/image" Target="/ppt/media/image20.png" Id="R722707f729004e7d" /><Relationship Type="http://schemas.openxmlformats.org/officeDocument/2006/relationships/image" Target="/ppt/media/image21.png" Id="Rf99235d61c154a16" /><Relationship Type="http://schemas.openxmlformats.org/officeDocument/2006/relationships/image" Target="/ppt/media/image22.png" Id="R5d4d2ca6d0254db9" /><Relationship Type="http://schemas.openxmlformats.org/officeDocument/2006/relationships/image" Target="/ppt/media/image23.png" Id="Rd0305757152a41b0" /><Relationship Type="http://schemas.openxmlformats.org/officeDocument/2006/relationships/image" Target="/ppt/media/image24.png" Id="R8baaee77ad71415c" /><Relationship Type="http://schemas.openxmlformats.org/officeDocument/2006/relationships/image" Target="/ppt/media/image25.png" Id="Rad0ba97d28bf4328" /><Relationship Type="http://schemas.openxmlformats.org/officeDocument/2006/relationships/image" Target="/ppt/media/image26.png" Id="Rfa443ebb27ef4e28" /><Relationship Type="http://schemas.openxmlformats.org/officeDocument/2006/relationships/notesSlide" Target="/ppt/notesSlides/notesSlide6.xml" Id="R90310b5494e04c0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57e55390239459e" /><Relationship Type="http://schemas.openxmlformats.org/officeDocument/2006/relationships/image" Target="/ppt/media/image27.png" Id="R5ec6661c0c894382" /><Relationship Type="http://schemas.openxmlformats.org/officeDocument/2006/relationships/image" Target="/ppt/media/image28.png" Id="R9cf10b45fb9d43f5" /><Relationship Type="http://schemas.openxmlformats.org/officeDocument/2006/relationships/notesSlide" Target="/ppt/notesSlides/notesSlide7.xml" Id="Rddf00d522deb4e9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24fedaf8b32462d" /><Relationship Type="http://schemas.openxmlformats.org/officeDocument/2006/relationships/image" Target="/ppt/media/image29.png" Id="R9a4f0ef8436044bd" /><Relationship Type="http://schemas.openxmlformats.org/officeDocument/2006/relationships/notesSlide" Target="/ppt/notesSlides/notesSlide8.xml" Id="R1873f92532224f52"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f1e41b03d0a40f2" /><Relationship Type="http://schemas.openxmlformats.org/officeDocument/2006/relationships/notesSlide" Target="/ppt/notesSlides/notesSlide9.xml" Id="Rd0ec08bd0486474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39ac1bbce314732" /><Relationship Type="http://schemas.openxmlformats.org/officeDocument/2006/relationships/image" Target="/ppt/media/image30.png" Id="R7a834e85644f4511" /><Relationship Type="http://schemas.openxmlformats.org/officeDocument/2006/relationships/image" Target="/ppt/media/image31.png" Id="Rce6ee82b694547b2" /><Relationship Type="http://schemas.openxmlformats.org/officeDocument/2006/relationships/image" Target="/ppt/media/image32.png" Id="Rbf5560e993484f42" /><Relationship Type="http://schemas.openxmlformats.org/officeDocument/2006/relationships/image" Target="/ppt/media/image33.png" Id="R3c6bd9e1d6d34a22" /><Relationship Type="http://schemas.openxmlformats.org/officeDocument/2006/relationships/notesSlide" Target="/ppt/notesSlides/notesSlide10.xml" Id="R20a6d06a818847a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a3f0f78e761848aa" /><Relationship Type="http://schemas.openxmlformats.org/officeDocument/2006/relationships/image" Target="/ppt/media/image.jpeg" Id="Rdc27a2785843420f" /><Relationship Type="http://schemas.openxmlformats.org/officeDocument/2006/relationships/image" Target="/ppt/media/image34.png" Id="R12cebdb7043c4ef2" /><Relationship Type="http://schemas.openxmlformats.org/officeDocument/2006/relationships/image" Target="/ppt/media/image35.png" Id="R441d1ce1267649ab" /><Relationship Type="http://schemas.openxmlformats.org/officeDocument/2006/relationships/image" Target="/ppt/media/image36.png" Id="R15d5867b49034d07" /><Relationship Type="http://schemas.openxmlformats.org/officeDocument/2006/relationships/image" Target="/ppt/media/image37.png" Id="R8d93d05c2fec450d" /><Relationship Type="http://schemas.openxmlformats.org/officeDocument/2006/relationships/notesSlide" Target="/ppt/notesSlides/notesSlide11.xml" Id="R655916b82de142f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aa324158879441fb" /><Relationship Type="http://schemas.openxmlformats.org/officeDocument/2006/relationships/image" Target="/ppt/media/image38.png" Id="R64b2d9204d734995" /><Relationship Type="http://schemas.openxmlformats.org/officeDocument/2006/relationships/image" Target="/ppt/media/image39.png" Id="R5d9e99048c6a4ed4" /><Relationship Type="http://schemas.openxmlformats.org/officeDocument/2006/relationships/image" Target="/ppt/media/image40.png" Id="Rf6b607c4d96c4746" /><Relationship Type="http://schemas.openxmlformats.org/officeDocument/2006/relationships/image" Target="/ppt/media/image41.png" Id="R80aa3e538ac04553" /><Relationship Type="http://schemas.openxmlformats.org/officeDocument/2006/relationships/notesSlide" Target="/ppt/notesSlides/notesSlide12.xml" Id="R64ca7db37448417a" /></Relationships>
</file>

<file path=ppt/slides/slide1.xml><?xml version="1.0" encoding="utf-8"?>
<p:sld xmlns:p="http://schemas.openxmlformats.org/presentationml/2006/main">
  <p:cSld>
    <p:bg>
      <p:bgPr>
        <a:solidFill xmlns:a="http://schemas.openxmlformats.org/drawingml/2006/main">
          <a:srgbClr val="141B34"/>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107781E5-83B6-43BD-BF27-2707CDE64F57}"/>
              </a:ext>
            </a:extLst>
          </p:cNvPr>
          <p:cNvSpPr>
            <a:spLocks xmlns:a="http://schemas.openxmlformats.org/drawingml/2006/main" noGrp="1"/>
          </p:cNvSpPr>
          <p:nvPr/>
        </p:nvSpPr>
        <p:spPr>
          <a:xfrm xmlns:a="http://schemas.openxmlformats.org/drawingml/2006/main">
            <a:off x="9784080" y="-1280160"/>
            <a:ext cx="3840480" cy="3840480"/>
          </a:xfrm>
          <a:prstGeom xmlns:a="http://schemas.openxmlformats.org/drawingml/2006/main" prst="ellipse">
            <a:avLst/>
          </a:prstGeom>
          <a:solidFill xmlns:a="http://schemas.openxmlformats.org/drawingml/2006/main">
            <a:srgbClr val="1E2747"/>
          </a:solidFill>
        </p:spPr>
      </p:sp>
      <p:sp>
        <p:nvSpPr>
          <p:cNvPr id="3" name="Shape 1">
            <a:extLst xmlns:a="http://schemas.openxmlformats.org/drawingml/2006/main">
              <a:ext uri="{FF2B5EF4-FFF2-40B4-BE49-F238E27FC236}">
                <a16:creationId xmlns:a16="http://schemas.microsoft.com/office/drawing/2014/main" id="{07F89AAC-24A9-427F-A7A0-ECB85EEAF8F3}"/>
              </a:ext>
            </a:extLst>
          </p:cNvPr>
          <p:cNvSpPr>
            <a:spLocks xmlns:a="http://schemas.openxmlformats.org/drawingml/2006/main" noGrp="1"/>
          </p:cNvSpPr>
          <p:nvPr/>
        </p:nvSpPr>
        <p:spPr>
          <a:xfrm xmlns:a="http://schemas.openxmlformats.org/drawingml/2006/main">
            <a:off x="10881360" y="4297680"/>
            <a:ext cx="2926080" cy="2926080"/>
          </a:xfrm>
          <a:prstGeom xmlns:a="http://schemas.openxmlformats.org/drawingml/2006/main" prst="ellipse">
            <a:avLst/>
          </a:prstGeom>
          <a:solidFill xmlns:a="http://schemas.openxmlformats.org/drawingml/2006/main">
            <a:srgbClr val="1E2747"/>
          </a:solidFill>
        </p:spPr>
      </p:sp>
      <p:sp>
        <p:nvSpPr>
          <p:cNvPr id="4" name="Shape 2">
            <a:extLst xmlns:a="http://schemas.openxmlformats.org/drawingml/2006/main">
              <a:ext uri="{FF2B5EF4-FFF2-40B4-BE49-F238E27FC236}">
                <a16:creationId xmlns:a16="http://schemas.microsoft.com/office/drawing/2014/main" id="{6DC17E61-9B61-49B9-B98E-C5910A5AA0EF}"/>
              </a:ext>
            </a:extLst>
          </p:cNvPr>
          <p:cNvSpPr>
            <a:spLocks xmlns:a="http://schemas.openxmlformats.org/drawingml/2006/main" noGrp="1"/>
          </p:cNvSpPr>
          <p:nvPr/>
        </p:nvSpPr>
        <p:spPr>
          <a:xfrm xmlns:a="http://schemas.openxmlformats.org/drawingml/2006/main">
            <a:off x="640080" y="1051560"/>
            <a:ext cx="310896" cy="310896"/>
          </a:xfrm>
          <a:prstGeom xmlns:a="http://schemas.openxmlformats.org/drawingml/2006/main" prst="ellipse">
            <a:avLst/>
          </a:prstGeom>
          <a:solidFill xmlns:a="http://schemas.openxmlformats.org/drawingml/2006/main">
            <a:srgbClr val="FF5A6E"/>
          </a:solidFill>
        </p:spPr>
      </p:sp>
      <p:sp>
        <p:nvSpPr>
          <p:cNvPr id="5" name="Text 3">
            <a:extLst xmlns:a="http://schemas.openxmlformats.org/drawingml/2006/main">
              <a:ext uri="{FF2B5EF4-FFF2-40B4-BE49-F238E27FC236}">
                <a16:creationId xmlns:a16="http://schemas.microsoft.com/office/drawing/2014/main" id="{17B8EE30-0557-4BF7-9E25-B22BA964CB17}"/>
              </a:ext>
            </a:extLst>
          </p:cNvPr>
          <p:cNvSpPr>
            <a:spLocks xmlns:a="http://schemas.openxmlformats.org/drawingml/2006/main" noGrp="1"/>
          </p:cNvSpPr>
          <p:nvPr/>
        </p:nvSpPr>
        <p:spPr>
          <a:xfrm xmlns:a="http://schemas.openxmlformats.org/drawingml/2006/main">
            <a:off x="640080" y="1371600"/>
            <a:ext cx="731520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7600" b="1">
                <a:solidFill>
                  <a:srgbClr val="FFFFFF"/>
                </a:solidFill>
                <a:latin typeface="Cambria"/>
                <a:ea typeface="Cambria"/>
                <a:cs typeface="Cambria"/>
              </a:rPr>
              <a:t>SuperCheap</a:t>
            </a:r>
            <a:endParaRPr sz="7600"/>
          </a:p>
        </p:txBody>
      </p:sp>
      <p:sp>
        <p:nvSpPr>
          <p:cNvPr id="6" name="Text 4">
            <a:extLst xmlns:a="http://schemas.openxmlformats.org/drawingml/2006/main">
              <a:ext uri="{FF2B5EF4-FFF2-40B4-BE49-F238E27FC236}">
                <a16:creationId xmlns:a16="http://schemas.microsoft.com/office/drawing/2014/main" id="{7177148D-E838-433B-B9D4-11DBD5ED5F45}"/>
              </a:ext>
            </a:extLst>
          </p:cNvPr>
          <p:cNvSpPr>
            <a:spLocks xmlns:a="http://schemas.openxmlformats.org/drawingml/2006/main" noGrp="1"/>
          </p:cNvSpPr>
          <p:nvPr/>
        </p:nvSpPr>
        <p:spPr>
          <a:xfrm xmlns:a="http://schemas.openxmlformats.org/drawingml/2006/main">
            <a:off x="658368" y="260604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i="1">
                <a:solidFill>
                  <a:srgbClr val="FF8494"/>
                </a:solidFill>
                <a:latin typeface="Arial"/>
                <a:ea typeface="Arial"/>
                <a:cs typeface="Arial"/>
              </a:rPr>
              <a:t>supercheap.market · working name</a:t>
            </a:r>
            <a:endParaRPr sz="1300"/>
          </a:p>
        </p:txBody>
      </p:sp>
      <p:sp>
        <p:nvSpPr>
          <p:cNvPr id="7" name="Text 5">
            <a:extLst xmlns:a="http://schemas.openxmlformats.org/drawingml/2006/main">
              <a:ext uri="{FF2B5EF4-FFF2-40B4-BE49-F238E27FC236}">
                <a16:creationId xmlns:a16="http://schemas.microsoft.com/office/drawing/2014/main" id="{4642EF0B-6818-40CB-92C5-79D12E3A5627}"/>
              </a:ext>
            </a:extLst>
          </p:cNvPr>
          <p:cNvSpPr>
            <a:spLocks xmlns:a="http://schemas.openxmlformats.org/drawingml/2006/main" noGrp="1"/>
          </p:cNvSpPr>
          <p:nvPr/>
        </p:nvSpPr>
        <p:spPr>
          <a:xfrm xmlns:a="http://schemas.openxmlformats.org/drawingml/2006/main">
            <a:off x="640080" y="3154680"/>
            <a:ext cx="79552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2300">
                <a:solidFill>
                  <a:srgbClr val="CBD5F0"/>
                </a:solidFill>
                <a:latin typeface="Cambria"/>
                <a:ea typeface="Cambria"/>
                <a:cs typeface="Cambria"/>
              </a:rPr>
              <a:t>The affordable, stylish, factory-direct shopping app for young women who shop from the feed.</a:t>
            </a:r>
            <a:endParaRPr sz="2300"/>
          </a:p>
        </p:txBody>
      </p:sp>
      <p:sp>
        <p:nvSpPr>
          <p:cNvPr id="8" name="Shape 6">
            <a:extLst xmlns:a="http://schemas.openxmlformats.org/drawingml/2006/main">
              <a:ext uri="{FF2B5EF4-FFF2-40B4-BE49-F238E27FC236}">
                <a16:creationId xmlns:a16="http://schemas.microsoft.com/office/drawing/2014/main" id="{B06DEC79-68A0-453C-9103-0750A80EA21A}"/>
              </a:ext>
            </a:extLst>
          </p:cNvPr>
          <p:cNvSpPr>
            <a:spLocks xmlns:a="http://schemas.openxmlformats.org/drawingml/2006/main" noGrp="1"/>
          </p:cNvSpPr>
          <p:nvPr/>
        </p:nvSpPr>
        <p:spPr>
          <a:xfrm xmlns:a="http://schemas.openxmlformats.org/drawingml/2006/main">
            <a:off x="640080" y="4343400"/>
            <a:ext cx="1993392" cy="402336"/>
          </a:xfrm>
          <a:prstGeom xmlns:a="http://schemas.openxmlformats.org/drawingml/2006/main" prst="roundRect">
            <a:avLst>
              <a:gd name="adj" fmla="val 50000"/>
            </a:avLst>
          </a:prstGeom>
          <a:solidFill xmlns:a="http://schemas.openxmlformats.org/drawingml/2006/main">
            <a:srgbClr val="1E2747"/>
          </a:solidFill>
          <a:ln xmlns:a="http://schemas.openxmlformats.org/drawingml/2006/main" w="12700">
            <a:solidFill>
              <a:srgbClr val="35406A"/>
            </a:solidFill>
            <a:prstDash val="solid"/>
          </a:ln>
        </p:spPr>
      </p:sp>
      <p:sp>
        <p:nvSpPr>
          <p:cNvPr id="9" name="Text 7">
            <a:extLst xmlns:a="http://schemas.openxmlformats.org/drawingml/2006/main">
              <a:ext uri="{FF2B5EF4-FFF2-40B4-BE49-F238E27FC236}">
                <a16:creationId xmlns:a16="http://schemas.microsoft.com/office/drawing/2014/main" id="{3FA36F94-2F6D-45FF-BFDC-D4F5E3AC444E}"/>
              </a:ext>
            </a:extLst>
          </p:cNvPr>
          <p:cNvSpPr>
            <a:spLocks xmlns:a="http://schemas.openxmlformats.org/drawingml/2006/main" noGrp="1"/>
          </p:cNvSpPr>
          <p:nvPr/>
        </p:nvSpPr>
        <p:spPr>
          <a:xfrm xmlns:a="http://schemas.openxmlformats.org/drawingml/2006/main">
            <a:off x="640080" y="4343400"/>
            <a:ext cx="1993392"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CBD5F0"/>
                </a:solidFill>
                <a:latin typeface="Arial"/>
                <a:ea typeface="Arial"/>
                <a:cs typeface="Arial"/>
              </a:rPr>
              <a:t>Factory-direct fashion</a:t>
            </a:r>
            <a:endParaRPr sz="1150"/>
          </a:p>
        </p:txBody>
      </p:sp>
      <p:sp>
        <p:nvSpPr>
          <p:cNvPr id="10" name="Shape 8">
            <a:extLst xmlns:a="http://schemas.openxmlformats.org/drawingml/2006/main">
              <a:ext uri="{FF2B5EF4-FFF2-40B4-BE49-F238E27FC236}">
                <a16:creationId xmlns:a16="http://schemas.microsoft.com/office/drawing/2014/main" id="{2FA6C034-3778-4E30-9DEB-9C7567A87B17}"/>
              </a:ext>
            </a:extLst>
          </p:cNvPr>
          <p:cNvSpPr>
            <a:spLocks xmlns:a="http://schemas.openxmlformats.org/drawingml/2006/main" noGrp="1"/>
          </p:cNvSpPr>
          <p:nvPr/>
        </p:nvSpPr>
        <p:spPr>
          <a:xfrm xmlns:a="http://schemas.openxmlformats.org/drawingml/2006/main">
            <a:off x="2862072" y="4343400"/>
            <a:ext cx="2414016" cy="402336"/>
          </a:xfrm>
          <a:prstGeom xmlns:a="http://schemas.openxmlformats.org/drawingml/2006/main" prst="roundRect">
            <a:avLst>
              <a:gd name="adj" fmla="val 50000"/>
            </a:avLst>
          </a:prstGeom>
          <a:solidFill xmlns:a="http://schemas.openxmlformats.org/drawingml/2006/main">
            <a:srgbClr val="1E2747"/>
          </a:solidFill>
          <a:ln xmlns:a="http://schemas.openxmlformats.org/drawingml/2006/main" w="12700">
            <a:solidFill>
              <a:srgbClr val="35406A"/>
            </a:solidFill>
            <a:prstDash val="solid"/>
          </a:ln>
        </p:spPr>
      </p:sp>
      <p:sp>
        <p:nvSpPr>
          <p:cNvPr id="11" name="Text 9">
            <a:extLst xmlns:a="http://schemas.openxmlformats.org/drawingml/2006/main">
              <a:ext uri="{FF2B5EF4-FFF2-40B4-BE49-F238E27FC236}">
                <a16:creationId xmlns:a16="http://schemas.microsoft.com/office/drawing/2014/main" id="{28727745-AAFF-4761-8579-A1F622E75296}"/>
              </a:ext>
            </a:extLst>
          </p:cNvPr>
          <p:cNvSpPr>
            <a:spLocks xmlns:a="http://schemas.openxmlformats.org/drawingml/2006/main" noGrp="1"/>
          </p:cNvSpPr>
          <p:nvPr/>
        </p:nvSpPr>
        <p:spPr>
          <a:xfrm xmlns:a="http://schemas.openxmlformats.org/drawingml/2006/main">
            <a:off x="2862072" y="4343400"/>
            <a:ext cx="2414016"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CBD5F0"/>
                </a:solidFill>
                <a:latin typeface="Arial"/>
                <a:ea typeface="Arial"/>
                <a:cs typeface="Arial"/>
              </a:rPr>
              <a:t>TikTok + Pinterest native</a:t>
            </a:r>
            <a:endParaRPr sz="1150"/>
          </a:p>
        </p:txBody>
      </p:sp>
      <p:sp>
        <p:nvSpPr>
          <p:cNvPr id="12" name="Shape 10">
            <a:extLst xmlns:a="http://schemas.openxmlformats.org/drawingml/2006/main">
              <a:ext uri="{FF2B5EF4-FFF2-40B4-BE49-F238E27FC236}">
                <a16:creationId xmlns:a16="http://schemas.microsoft.com/office/drawing/2014/main" id="{39AE74E5-32CB-418C-844C-D5264F98C028}"/>
              </a:ext>
            </a:extLst>
          </p:cNvPr>
          <p:cNvSpPr>
            <a:spLocks xmlns:a="http://schemas.openxmlformats.org/drawingml/2006/main" noGrp="1"/>
          </p:cNvSpPr>
          <p:nvPr/>
        </p:nvSpPr>
        <p:spPr>
          <a:xfrm xmlns:a="http://schemas.openxmlformats.org/drawingml/2006/main">
            <a:off x="5504688" y="4343400"/>
            <a:ext cx="2834640" cy="402336"/>
          </a:xfrm>
          <a:prstGeom xmlns:a="http://schemas.openxmlformats.org/drawingml/2006/main" prst="roundRect">
            <a:avLst>
              <a:gd name="adj" fmla="val 50000"/>
            </a:avLst>
          </a:prstGeom>
          <a:solidFill xmlns:a="http://schemas.openxmlformats.org/drawingml/2006/main">
            <a:srgbClr val="1E2747"/>
          </a:solidFill>
          <a:ln xmlns:a="http://schemas.openxmlformats.org/drawingml/2006/main" w="12700">
            <a:solidFill>
              <a:srgbClr val="35406A"/>
            </a:solidFill>
            <a:prstDash val="solid"/>
          </a:ln>
        </p:spPr>
      </p:sp>
      <p:sp>
        <p:nvSpPr>
          <p:cNvPr id="13" name="Text 11">
            <a:extLst xmlns:a="http://schemas.openxmlformats.org/drawingml/2006/main">
              <a:ext uri="{FF2B5EF4-FFF2-40B4-BE49-F238E27FC236}">
                <a16:creationId xmlns:a16="http://schemas.microsoft.com/office/drawing/2014/main" id="{21751CBC-4112-4A3E-94C2-64DA81BAFC7F}"/>
              </a:ext>
            </a:extLst>
          </p:cNvPr>
          <p:cNvSpPr>
            <a:spLocks xmlns:a="http://schemas.openxmlformats.org/drawingml/2006/main" noGrp="1"/>
          </p:cNvSpPr>
          <p:nvPr/>
        </p:nvSpPr>
        <p:spPr>
          <a:xfrm xmlns:a="http://schemas.openxmlformats.org/drawingml/2006/main">
            <a:off x="5504688" y="4343400"/>
            <a:ext cx="2834640" cy="40233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a:solidFill>
                  <a:srgbClr val="CBD5F0"/>
                </a:solidFill>
                <a:latin typeface="Arial"/>
                <a:ea typeface="Arial"/>
                <a:cs typeface="Arial"/>
              </a:rPr>
              <a:t>Factory-direct, quality-checked</a:t>
            </a:r>
            <a:endParaRPr sz="1150"/>
          </a:p>
        </p:txBody>
      </p:sp>
      <p:sp>
        <p:nvSpPr>
          <p:cNvPr id="14" name="Text 12">
            <a:extLst xmlns:a="http://schemas.openxmlformats.org/drawingml/2006/main">
              <a:ext uri="{FF2B5EF4-FFF2-40B4-BE49-F238E27FC236}">
                <a16:creationId xmlns:a16="http://schemas.microsoft.com/office/drawing/2014/main" id="{68658A0C-4567-4962-879D-DF05B9C1A691}"/>
              </a:ext>
            </a:extLst>
          </p:cNvPr>
          <p:cNvSpPr>
            <a:spLocks xmlns:a="http://schemas.openxmlformats.org/drawingml/2006/main" noGrp="1"/>
          </p:cNvSpPr>
          <p:nvPr/>
        </p:nvSpPr>
        <p:spPr>
          <a:xfrm xmlns:a="http://schemas.openxmlformats.org/drawingml/2006/main">
            <a:off x="640080" y="5806440"/>
            <a:ext cx="10058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Arial"/>
                <a:ea typeface="Arial"/>
                <a:cs typeface="Arial"/>
              </a:rPr>
              <a:t>Pre-seed</a:t>
            </a:r>
            <a:r>
              <a:rPr sz="1300">
                <a:solidFill>
                  <a:srgbClr val="9AA3B2"/>
                </a:solidFill>
                <a:latin typeface="Arial"/>
                <a:ea typeface="Arial"/>
                <a:cs typeface="Arial"/>
              </a:rPr>
              <a:t>     Aleksei Balchunas - solo founder      2026</a:t>
            </a:r>
            <a:endParaRPr sz="1300"/>
          </a:p>
        </p:txBody>
      </p:sp>
    </p:spTree>
    <p:extLst>
      <p:ext uri="{BB962C8B-B14F-4D97-AF65-F5344CB8AC3E}">
        <p14:creationId xmlns:p14="http://schemas.microsoft.com/office/powerpoint/2010/main" val="389341050"/>
      </p:ext>
    </p:extLst>
  </p:cSld>
</p:sld>
</file>

<file path=ppt/slides/slide2.xml><?xml version="1.0" encoding="utf-8"?>
<p:sld xmlns:p="http://schemas.openxmlformats.org/presentationml/2006/main">
  <p:cSld>
    <p:bg>
      <p:bgPr>
        <a:solidFill xmlns:a="http://schemas.openxmlformats.org/drawingml/2006/main">
          <a:srgbClr val="F7F5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868B3EC-7D0B-4012-B6E2-516E151F3F67}"/>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FF5A6E"/>
                </a:solidFill>
                <a:latin typeface="Arial"/>
                <a:ea typeface="Arial"/>
                <a:cs typeface="Arial"/>
              </a:rPr>
              <a:t>PROBLEM</a:t>
            </a:r>
            <a:endParaRPr sz="1200"/>
          </a:p>
        </p:txBody>
      </p:sp>
      <p:sp>
        <p:nvSpPr>
          <p:cNvPr id="3" name="Text 1">
            <a:extLst xmlns:a="http://schemas.openxmlformats.org/drawingml/2006/main">
              <a:ext uri="{FF2B5EF4-FFF2-40B4-BE49-F238E27FC236}">
                <a16:creationId xmlns:a16="http://schemas.microsoft.com/office/drawing/2014/main" id="{B3583459-5D40-40A2-B570-8CD1D76FE760}"/>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A2138"/>
                </a:solidFill>
                <a:latin typeface="Cambria"/>
                <a:ea typeface="Cambria"/>
                <a:cs typeface="Cambria"/>
              </a:rPr>
              <a:t>Huge purchase intent, nowhere good to spend it</a:t>
            </a:r>
            <a:endParaRPr sz="3200"/>
          </a:p>
        </p:txBody>
      </p:sp>
      <p:sp>
        <p:nvSpPr>
          <p:cNvPr id="4" name="Text 2">
            <a:extLst xmlns:a="http://schemas.openxmlformats.org/drawingml/2006/main">
              <a:ext uri="{FF2B5EF4-FFF2-40B4-BE49-F238E27FC236}">
                <a16:creationId xmlns:a16="http://schemas.microsoft.com/office/drawing/2014/main" id="{08541649-E9C9-4929-8DB5-039A490F54DC}"/>
              </a:ext>
            </a:extLst>
          </p:cNvPr>
          <p:cNvSpPr>
            <a:spLocks xmlns:a="http://schemas.openxmlformats.org/drawingml/2006/main" noGrp="1"/>
          </p:cNvSpPr>
          <p:nvPr/>
        </p:nvSpPr>
        <p:spPr>
          <a:xfrm xmlns:a="http://schemas.openxmlformats.org/drawingml/2006/main">
            <a:off x="640080" y="1783080"/>
            <a:ext cx="1060704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6B7280"/>
                </a:solidFill>
                <a:latin typeface="Arial"/>
                <a:ea typeface="Arial"/>
                <a:cs typeface="Arial"/>
              </a:rPr>
              <a:t>A young woman sees an outfit on TikTok or Pinterest and wants it now, affordably. The path from that spark to a purchase she can trust is broken.</a:t>
            </a:r>
            <a:endParaRPr sz="1500"/>
          </a:p>
        </p:txBody>
      </p:sp>
      <p:sp>
        <p:nvSpPr>
          <p:cNvPr id="5" name="Shape 3">
            <a:extLst xmlns:a="http://schemas.openxmlformats.org/drawingml/2006/main">
              <a:ext uri="{FF2B5EF4-FFF2-40B4-BE49-F238E27FC236}">
                <a16:creationId xmlns:a16="http://schemas.microsoft.com/office/drawing/2014/main" id="{6072B70A-B405-46DD-940E-0278C99D9F89}"/>
              </a:ext>
            </a:extLst>
          </p:cNvPr>
          <p:cNvSpPr>
            <a:spLocks xmlns:a="http://schemas.openxmlformats.org/drawingml/2006/main" noGrp="1"/>
          </p:cNvSpPr>
          <p:nvPr/>
        </p:nvSpPr>
        <p:spPr>
          <a:xfrm xmlns:a="http://schemas.openxmlformats.org/drawingml/2006/main">
            <a:off x="640080" y="2697480"/>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6" name="Shape 4">
            <a:extLst xmlns:a="http://schemas.openxmlformats.org/drawingml/2006/main">
              <a:ext uri="{FF2B5EF4-FFF2-40B4-BE49-F238E27FC236}">
                <a16:creationId xmlns:a16="http://schemas.microsoft.com/office/drawing/2014/main" id="{08D9943D-3C1D-44C8-A542-27547A770D3B}"/>
              </a:ext>
            </a:extLst>
          </p:cNvPr>
          <p:cNvSpPr>
            <a:spLocks xmlns:a="http://schemas.openxmlformats.org/drawingml/2006/main" noGrp="1"/>
          </p:cNvSpPr>
          <p:nvPr/>
        </p:nvSpPr>
        <p:spPr>
          <a:xfrm xmlns:a="http://schemas.openxmlformats.org/drawingml/2006/main">
            <a:off x="960120" y="3017520"/>
            <a:ext cx="603504" cy="603504"/>
          </a:xfrm>
          <a:prstGeom xmlns:a="http://schemas.openxmlformats.org/drawingml/2006/main" prst="ellipse">
            <a:avLst/>
          </a:prstGeom>
          <a:solidFill xmlns:a="http://schemas.openxmlformats.org/drawingml/2006/main">
            <a:srgbClr val="FF5A6E"/>
          </a:solidFill>
        </p:spPr>
      </p:sp>
      <p:pic>
        <p:nvPicPr>
          <p:cNvPr id="36" name="Image 0"/>
          <p:cNvPicPr>
            <a:picLocks xmlns:a="http://schemas.openxmlformats.org/drawingml/2006/main" noChangeAspect="1"/>
          </p:cNvPicPr>
          <p:nvPr/>
        </p:nvPicPr>
        <p:blipFill>
          <a:blip xmlns:r="http://schemas.openxmlformats.org/officeDocument/2006/relationships" xmlns:a="http://schemas.openxmlformats.org/drawingml/2006/main" r:embed="R8aefe4425c074766"/>
          <a:stretch xmlns:a="http://schemas.openxmlformats.org/drawingml/2006/main">
            <a:fillRect l="0" t="0" r="0" b="0"/>
          </a:stretch>
        </p:blipFill>
        <p:spPr>
          <a:xfrm xmlns:a="http://schemas.openxmlformats.org/drawingml/2006/main">
            <a:off x="1117031" y="3174431"/>
            <a:ext cx="289682" cy="289682"/>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4DF04B6D-37F8-4FE3-9E80-2B52EEDD9BB4}"/>
              </a:ext>
            </a:extLst>
          </p:cNvPr>
          <p:cNvSpPr>
            <a:spLocks xmlns:a="http://schemas.openxmlformats.org/drawingml/2006/main" noGrp="1"/>
          </p:cNvSpPr>
          <p:nvPr/>
        </p:nvSpPr>
        <p:spPr>
          <a:xfrm xmlns:a="http://schemas.openxmlformats.org/drawingml/2006/main">
            <a:off x="1737360" y="2953512"/>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A2138"/>
                </a:solidFill>
                <a:latin typeface="Arial"/>
                <a:ea typeface="Arial"/>
                <a:cs typeface="Arial"/>
              </a:rPr>
              <a:t>Discovery lives in the feed</a:t>
            </a:r>
            <a:endParaRPr sz="1500"/>
          </a:p>
        </p:txBody>
      </p:sp>
      <p:sp>
        <p:nvSpPr>
          <p:cNvPr id="9" name="Text 6">
            <a:extLst xmlns:a="http://schemas.openxmlformats.org/drawingml/2006/main">
              <a:ext uri="{FF2B5EF4-FFF2-40B4-BE49-F238E27FC236}">
                <a16:creationId xmlns:a16="http://schemas.microsoft.com/office/drawing/2014/main" id="{FB93BAF1-871E-4508-87DC-CAA0AEA99873}"/>
              </a:ext>
            </a:extLst>
          </p:cNvPr>
          <p:cNvSpPr>
            <a:spLocks xmlns:a="http://schemas.openxmlformats.org/drawingml/2006/main" noGrp="1"/>
          </p:cNvSpPr>
          <p:nvPr/>
        </p:nvSpPr>
        <p:spPr>
          <a:xfrm xmlns:a="http://schemas.openxmlformats.org/drawingml/2006/main">
            <a:off x="1737360" y="3355848"/>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B7280"/>
                </a:solidFill>
                <a:latin typeface="Arial"/>
                <a:ea typeface="Arial"/>
                <a:cs typeface="Arial"/>
              </a:rPr>
              <a:t>She finds the look on TikTok or Pinterest, not by searching a store.</a:t>
            </a:r>
            <a:endParaRPr sz="1250"/>
          </a:p>
        </p:txBody>
      </p:sp>
      <p:sp>
        <p:nvSpPr>
          <p:cNvPr id="10" name="Shape 7">
            <a:extLst xmlns:a="http://schemas.openxmlformats.org/drawingml/2006/main">
              <a:ext uri="{FF2B5EF4-FFF2-40B4-BE49-F238E27FC236}">
                <a16:creationId xmlns:a16="http://schemas.microsoft.com/office/drawing/2014/main" id="{A184636A-3536-46DF-A3E9-CE426F847539}"/>
              </a:ext>
            </a:extLst>
          </p:cNvPr>
          <p:cNvSpPr>
            <a:spLocks xmlns:a="http://schemas.openxmlformats.org/drawingml/2006/main" noGrp="1"/>
          </p:cNvSpPr>
          <p:nvPr/>
        </p:nvSpPr>
        <p:spPr>
          <a:xfrm xmlns:a="http://schemas.openxmlformats.org/drawingml/2006/main">
            <a:off x="6080760" y="2697480"/>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Shape 8">
            <a:extLst xmlns:a="http://schemas.openxmlformats.org/drawingml/2006/main">
              <a:ext uri="{FF2B5EF4-FFF2-40B4-BE49-F238E27FC236}">
                <a16:creationId xmlns:a16="http://schemas.microsoft.com/office/drawing/2014/main" id="{47484385-6772-4354-8299-A97F15CC3CA0}"/>
              </a:ext>
            </a:extLst>
          </p:cNvPr>
          <p:cNvSpPr>
            <a:spLocks xmlns:a="http://schemas.openxmlformats.org/drawingml/2006/main" noGrp="1"/>
          </p:cNvSpPr>
          <p:nvPr/>
        </p:nvSpPr>
        <p:spPr>
          <a:xfrm xmlns:a="http://schemas.openxmlformats.org/drawingml/2006/main">
            <a:off x="6400800" y="3017520"/>
            <a:ext cx="603504" cy="603504"/>
          </a:xfrm>
          <a:prstGeom xmlns:a="http://schemas.openxmlformats.org/drawingml/2006/main" prst="ellipse">
            <a:avLst/>
          </a:prstGeom>
          <a:solidFill xmlns:a="http://schemas.openxmlformats.org/drawingml/2006/main">
            <a:srgbClr val="FF5A6E"/>
          </a:solidFill>
        </p:spPr>
      </p:sp>
      <p:pic>
        <p:nvPicPr>
          <p:cNvPr id="41" name="Image 1"/>
          <p:cNvPicPr>
            <a:picLocks xmlns:a="http://schemas.openxmlformats.org/drawingml/2006/main" noChangeAspect="1"/>
          </p:cNvPicPr>
          <p:nvPr/>
        </p:nvPicPr>
        <p:blipFill>
          <a:blip xmlns:r="http://schemas.openxmlformats.org/officeDocument/2006/relationships" xmlns:a="http://schemas.openxmlformats.org/drawingml/2006/main" r:embed="Ra55639c7da224991"/>
          <a:stretch xmlns:a="http://schemas.openxmlformats.org/drawingml/2006/main">
            <a:fillRect l="0" t="0" r="0" b="0"/>
          </a:stretch>
        </p:blipFill>
        <p:spPr>
          <a:xfrm xmlns:a="http://schemas.openxmlformats.org/drawingml/2006/main">
            <a:off x="6557711" y="3174431"/>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6DF8805-00A9-47B6-A86F-27BE32AD90CD}"/>
              </a:ext>
            </a:extLst>
          </p:cNvPr>
          <p:cNvSpPr>
            <a:spLocks xmlns:a="http://schemas.openxmlformats.org/drawingml/2006/main" noGrp="1"/>
          </p:cNvSpPr>
          <p:nvPr/>
        </p:nvSpPr>
        <p:spPr>
          <a:xfrm xmlns:a="http://schemas.openxmlformats.org/drawingml/2006/main">
            <a:off x="7178040" y="2953512"/>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A2138"/>
                </a:solidFill>
                <a:latin typeface="Arial"/>
                <a:ea typeface="Arial"/>
                <a:cs typeface="Arial"/>
              </a:rPr>
              <a:t>Buying is a scavenger hunt</a:t>
            </a:r>
            <a:endParaRPr sz="1500"/>
          </a:p>
        </p:txBody>
      </p:sp>
      <p:sp>
        <p:nvSpPr>
          <p:cNvPr id="14" name="Text 10">
            <a:extLst xmlns:a="http://schemas.openxmlformats.org/drawingml/2006/main">
              <a:ext uri="{FF2B5EF4-FFF2-40B4-BE49-F238E27FC236}">
                <a16:creationId xmlns:a16="http://schemas.microsoft.com/office/drawing/2014/main" id="{6039F92F-7986-4309-888C-D79C0EEB15CB}"/>
              </a:ext>
            </a:extLst>
          </p:cNvPr>
          <p:cNvSpPr>
            <a:spLocks xmlns:a="http://schemas.openxmlformats.org/drawingml/2006/main" noGrp="1"/>
          </p:cNvSpPr>
          <p:nvPr/>
        </p:nvSpPr>
        <p:spPr>
          <a:xfrm xmlns:a="http://schemas.openxmlformats.org/drawingml/2006/main">
            <a:off x="7178040" y="3355848"/>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B7280"/>
                </a:solidFill>
                <a:latin typeface="Arial"/>
                <a:ea typeface="Arial"/>
                <a:cs typeface="Arial"/>
              </a:rPr>
              <a:t>Hunting across apps, decoding machine-translated Chinese listings.</a:t>
            </a:r>
            <a:endParaRPr sz="1250"/>
          </a:p>
        </p:txBody>
      </p:sp>
      <p:sp>
        <p:nvSpPr>
          <p:cNvPr id="15" name="Shape 11">
            <a:extLst xmlns:a="http://schemas.openxmlformats.org/drawingml/2006/main">
              <a:ext uri="{FF2B5EF4-FFF2-40B4-BE49-F238E27FC236}">
                <a16:creationId xmlns:a16="http://schemas.microsoft.com/office/drawing/2014/main" id="{C228EF0A-3C02-4BEF-80D1-10C1586F1ADA}"/>
              </a:ext>
            </a:extLst>
          </p:cNvPr>
          <p:cNvSpPr>
            <a:spLocks xmlns:a="http://schemas.openxmlformats.org/drawingml/2006/main" noGrp="1"/>
          </p:cNvSpPr>
          <p:nvPr/>
        </p:nvSpPr>
        <p:spPr>
          <a:xfrm xmlns:a="http://schemas.openxmlformats.org/drawingml/2006/main">
            <a:off x="640080" y="4370832"/>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6" name="Shape 12">
            <a:extLst xmlns:a="http://schemas.openxmlformats.org/drawingml/2006/main">
              <a:ext uri="{FF2B5EF4-FFF2-40B4-BE49-F238E27FC236}">
                <a16:creationId xmlns:a16="http://schemas.microsoft.com/office/drawing/2014/main" id="{4C9B0522-EEE4-4387-8462-98B94C84E2E9}"/>
              </a:ext>
            </a:extLst>
          </p:cNvPr>
          <p:cNvSpPr>
            <a:spLocks xmlns:a="http://schemas.openxmlformats.org/drawingml/2006/main" noGrp="1"/>
          </p:cNvSpPr>
          <p:nvPr/>
        </p:nvSpPr>
        <p:spPr>
          <a:xfrm xmlns:a="http://schemas.openxmlformats.org/drawingml/2006/main">
            <a:off x="960120" y="4690872"/>
            <a:ext cx="603504" cy="603504"/>
          </a:xfrm>
          <a:prstGeom xmlns:a="http://schemas.openxmlformats.org/drawingml/2006/main" prst="ellipse">
            <a:avLst/>
          </a:prstGeom>
          <a:solidFill xmlns:a="http://schemas.openxmlformats.org/drawingml/2006/main">
            <a:srgbClr val="FF5A6E"/>
          </a:solidFill>
        </p:spPr>
      </p:sp>
      <p:pic>
        <p:nvPicPr>
          <p:cNvPr id="46" name="Image 2"/>
          <p:cNvPicPr>
            <a:picLocks xmlns:a="http://schemas.openxmlformats.org/drawingml/2006/main" noChangeAspect="1"/>
          </p:cNvPicPr>
          <p:nvPr/>
        </p:nvPicPr>
        <p:blipFill>
          <a:blip xmlns:r="http://schemas.openxmlformats.org/officeDocument/2006/relationships" xmlns:a="http://schemas.openxmlformats.org/drawingml/2006/main" r:embed="Rd3906f69e58f4139"/>
          <a:stretch xmlns:a="http://schemas.openxmlformats.org/drawingml/2006/main">
            <a:fillRect l="0" t="0" r="0" b="0"/>
          </a:stretch>
        </p:blipFill>
        <p:spPr>
          <a:xfrm xmlns:a="http://schemas.openxmlformats.org/drawingml/2006/main">
            <a:off x="1117031" y="4847783"/>
            <a:ext cx="289682" cy="28968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A89258EC-F0B5-439A-85E2-73D41EB8E7B2}"/>
              </a:ext>
            </a:extLst>
          </p:cNvPr>
          <p:cNvSpPr>
            <a:spLocks xmlns:a="http://schemas.openxmlformats.org/drawingml/2006/main" noGrp="1"/>
          </p:cNvSpPr>
          <p:nvPr/>
        </p:nvSpPr>
        <p:spPr>
          <a:xfrm xmlns:a="http://schemas.openxmlformats.org/drawingml/2006/main">
            <a:off x="1737360" y="4626864"/>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A2138"/>
                </a:solidFill>
                <a:latin typeface="Arial"/>
                <a:ea typeface="Arial"/>
                <a:cs typeface="Arial"/>
              </a:rPr>
              <a:t>Every order is a gamble</a:t>
            </a:r>
            <a:endParaRPr sz="1500"/>
          </a:p>
        </p:txBody>
      </p:sp>
      <p:sp>
        <p:nvSpPr>
          <p:cNvPr id="19" name="Text 14">
            <a:extLst xmlns:a="http://schemas.openxmlformats.org/drawingml/2006/main">
              <a:ext uri="{FF2B5EF4-FFF2-40B4-BE49-F238E27FC236}">
                <a16:creationId xmlns:a16="http://schemas.microsoft.com/office/drawing/2014/main" id="{15D61564-880A-4452-85E0-2721F7BC029A}"/>
              </a:ext>
            </a:extLst>
          </p:cNvPr>
          <p:cNvSpPr>
            <a:spLocks xmlns:a="http://schemas.openxmlformats.org/drawingml/2006/main" noGrp="1"/>
          </p:cNvSpPr>
          <p:nvPr/>
        </p:nvSpPr>
        <p:spPr>
          <a:xfrm xmlns:a="http://schemas.openxmlformats.org/drawingml/2006/main">
            <a:off x="1737360" y="502920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B7280"/>
                </a:solidFill>
                <a:latin typeface="Arial"/>
                <a:ea typeface="Arial"/>
                <a:cs typeface="Arial"/>
              </a:rPr>
              <a:t>Will it fit? Is the quality real? Will it even arrive? All unknown.</a:t>
            </a:r>
            <a:endParaRPr sz="1250"/>
          </a:p>
        </p:txBody>
      </p:sp>
      <p:sp>
        <p:nvSpPr>
          <p:cNvPr id="20" name="Shape 15">
            <a:extLst xmlns:a="http://schemas.openxmlformats.org/drawingml/2006/main">
              <a:ext uri="{FF2B5EF4-FFF2-40B4-BE49-F238E27FC236}">
                <a16:creationId xmlns:a16="http://schemas.microsoft.com/office/drawing/2014/main" id="{F1AFFC64-773F-4527-AEB5-41184924857B}"/>
              </a:ext>
            </a:extLst>
          </p:cNvPr>
          <p:cNvSpPr>
            <a:spLocks xmlns:a="http://schemas.openxmlformats.org/drawingml/2006/main" noGrp="1"/>
          </p:cNvSpPr>
          <p:nvPr/>
        </p:nvSpPr>
        <p:spPr>
          <a:xfrm xmlns:a="http://schemas.openxmlformats.org/drawingml/2006/main">
            <a:off x="6080760" y="4370832"/>
            <a:ext cx="5166360"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1" name="Shape 16">
            <a:extLst xmlns:a="http://schemas.openxmlformats.org/drawingml/2006/main">
              <a:ext uri="{FF2B5EF4-FFF2-40B4-BE49-F238E27FC236}">
                <a16:creationId xmlns:a16="http://schemas.microsoft.com/office/drawing/2014/main" id="{4CCA850C-4B2D-44EC-970D-FAE5AE9C1507}"/>
              </a:ext>
            </a:extLst>
          </p:cNvPr>
          <p:cNvSpPr>
            <a:spLocks xmlns:a="http://schemas.openxmlformats.org/drawingml/2006/main" noGrp="1"/>
          </p:cNvSpPr>
          <p:nvPr/>
        </p:nvSpPr>
        <p:spPr>
          <a:xfrm xmlns:a="http://schemas.openxmlformats.org/drawingml/2006/main">
            <a:off x="6400800" y="4690872"/>
            <a:ext cx="603504" cy="603504"/>
          </a:xfrm>
          <a:prstGeom xmlns:a="http://schemas.openxmlformats.org/drawingml/2006/main" prst="ellipse">
            <a:avLst/>
          </a:prstGeom>
          <a:solidFill xmlns:a="http://schemas.openxmlformats.org/drawingml/2006/main">
            <a:srgbClr val="FF5A6E"/>
          </a:solidFill>
        </p:spPr>
      </p:sp>
      <p:pic>
        <p:nvPicPr>
          <p:cNvPr id="51" name="Image 3"/>
          <p:cNvPicPr>
            <a:picLocks xmlns:a="http://schemas.openxmlformats.org/drawingml/2006/main" noChangeAspect="1"/>
          </p:cNvPicPr>
          <p:nvPr/>
        </p:nvPicPr>
        <p:blipFill>
          <a:blip xmlns:r="http://schemas.openxmlformats.org/officeDocument/2006/relationships" xmlns:a="http://schemas.openxmlformats.org/drawingml/2006/main" r:embed="R4c3acc4bd4f546d1"/>
          <a:stretch xmlns:a="http://schemas.openxmlformats.org/drawingml/2006/main">
            <a:fillRect l="0" t="0" r="0" b="0"/>
          </a:stretch>
        </p:blipFill>
        <p:spPr>
          <a:xfrm xmlns:a="http://schemas.openxmlformats.org/drawingml/2006/main">
            <a:off x="6557711" y="4847783"/>
            <a:ext cx="289682" cy="289682"/>
          </a:xfrm>
          <a:prstGeom xmlns:a="http://schemas.openxmlformats.org/drawingml/2006/main" prst="rect">
            <a:avLst/>
          </a:prstGeom>
        </p:spPr>
      </p:pic>
      <p:sp>
        <p:nvSpPr>
          <p:cNvPr id="23" name="Text 17">
            <a:extLst xmlns:a="http://schemas.openxmlformats.org/drawingml/2006/main">
              <a:ext uri="{FF2B5EF4-FFF2-40B4-BE49-F238E27FC236}">
                <a16:creationId xmlns:a16="http://schemas.microsoft.com/office/drawing/2014/main" id="{F3565656-3302-4C39-B00E-DC0EAE0BD58B}"/>
              </a:ext>
            </a:extLst>
          </p:cNvPr>
          <p:cNvSpPr>
            <a:spLocks xmlns:a="http://schemas.openxmlformats.org/drawingml/2006/main" noGrp="1"/>
          </p:cNvSpPr>
          <p:nvPr/>
        </p:nvSpPr>
        <p:spPr>
          <a:xfrm xmlns:a="http://schemas.openxmlformats.org/drawingml/2006/main">
            <a:off x="7178040" y="4626864"/>
            <a:ext cx="38404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1A2138"/>
                </a:solidFill>
                <a:latin typeface="Arial"/>
                <a:ea typeface="Arial"/>
                <a:cs typeface="Arial"/>
              </a:rPr>
              <a:t>It feels like importing, not shopping</a:t>
            </a:r>
            <a:endParaRPr sz="1500"/>
          </a:p>
        </p:txBody>
      </p:sp>
      <p:sp>
        <p:nvSpPr>
          <p:cNvPr id="24" name="Text 18">
            <a:extLst xmlns:a="http://schemas.openxmlformats.org/drawingml/2006/main">
              <a:ext uri="{FF2B5EF4-FFF2-40B4-BE49-F238E27FC236}">
                <a16:creationId xmlns:a16="http://schemas.microsoft.com/office/drawing/2014/main" id="{9AFE83A9-F813-43CA-ADE9-6D3DC747520C}"/>
              </a:ext>
            </a:extLst>
          </p:cNvPr>
          <p:cNvSpPr>
            <a:spLocks xmlns:a="http://schemas.openxmlformats.org/drawingml/2006/main" noGrp="1"/>
          </p:cNvSpPr>
          <p:nvPr/>
        </p:nvSpPr>
        <p:spPr>
          <a:xfrm xmlns:a="http://schemas.openxmlformats.org/drawingml/2006/main">
            <a:off x="7178040" y="5029200"/>
            <a:ext cx="3840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250">
                <a:solidFill>
                  <a:srgbClr val="6B7280"/>
                </a:solidFill>
                <a:latin typeface="Arial"/>
                <a:ea typeface="Arial"/>
                <a:cs typeface="Arial"/>
              </a:rPr>
              <a:t>The magic of the trend dies in a 3-6 week customs-grade experience.</a:t>
            </a:r>
            <a:endParaRPr sz="1250"/>
          </a:p>
        </p:txBody>
      </p:sp>
      <p:sp>
        <p:nvSpPr>
          <p:cNvPr id="25" name="Text 19">
            <a:extLst xmlns:a="http://schemas.openxmlformats.org/drawingml/2006/main">
              <a:ext uri="{FF2B5EF4-FFF2-40B4-BE49-F238E27FC236}">
                <a16:creationId xmlns:a16="http://schemas.microsoft.com/office/drawing/2014/main" id="{60D0554E-E2E4-4927-B164-B88B062B646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280"/>
                </a:solidFill>
                <a:latin typeface="Arial"/>
                <a:ea typeface="Arial"/>
                <a:cs typeface="Arial"/>
              </a:rPr>
              <a:t>SuperCheap.market  ·  working name</a:t>
            </a:r>
            <a:endParaRPr sz="900"/>
          </a:p>
        </p:txBody>
      </p:sp>
      <p:sp>
        <p:nvSpPr>
          <p:cNvPr id="26" name="Text 20">
            <a:extLst xmlns:a="http://schemas.openxmlformats.org/drawingml/2006/main">
              <a:ext uri="{FF2B5EF4-FFF2-40B4-BE49-F238E27FC236}">
                <a16:creationId xmlns:a16="http://schemas.microsoft.com/office/drawing/2014/main" id="{1879C01C-B852-4378-9B5E-B51877FECFA5}"/>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7280"/>
                </a:solidFill>
                <a:latin typeface="Arial"/>
                <a:ea typeface="Arial"/>
                <a:cs typeface="Arial"/>
              </a:rPr>
              <a:t>2</a:t>
            </a:r>
            <a:endParaRPr sz="900"/>
          </a:p>
        </p:txBody>
      </p:sp>
    </p:spTree>
    <p:extLst>
      <p:ext uri="{BB962C8B-B14F-4D97-AF65-F5344CB8AC3E}">
        <p14:creationId xmlns:p14="http://schemas.microsoft.com/office/powerpoint/2010/main" val="1409344783"/>
      </p:ext>
    </p:extLst>
  </p:cSld>
</p:sld>
</file>

<file path=ppt/slides/slide3.xml><?xml version="1.0" encoding="utf-8"?>
<p:sld xmlns:p="http://schemas.openxmlformats.org/presentationml/2006/main">
  <p:cSld>
    <p:bg>
      <p:bgPr>
        <a:solidFill xmlns:a="http://schemas.openxmlformats.org/drawingml/2006/main">
          <a:srgbClr val="F7F5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9CC3FBB-849B-4218-94B7-9641D3045CD1}"/>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FF5A6E"/>
                </a:solidFill>
                <a:latin typeface="Arial"/>
                <a:ea typeface="Arial"/>
                <a:cs typeface="Arial"/>
              </a:rPr>
              <a:t>THE ALTERNATIVES TODAY</a:t>
            </a:r>
            <a:endParaRPr sz="1200"/>
          </a:p>
        </p:txBody>
      </p:sp>
      <p:sp>
        <p:nvSpPr>
          <p:cNvPr id="3" name="Text 1">
            <a:extLst xmlns:a="http://schemas.openxmlformats.org/drawingml/2006/main">
              <a:ext uri="{FF2B5EF4-FFF2-40B4-BE49-F238E27FC236}">
                <a16:creationId xmlns:a16="http://schemas.microsoft.com/office/drawing/2014/main" id="{B35AE1ED-FA8B-4072-B5AB-9FE56C43E1C7}"/>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A2138"/>
                </a:solidFill>
                <a:latin typeface="Cambria"/>
                <a:ea typeface="Cambria"/>
                <a:cs typeface="Cambria"/>
              </a:rPr>
              <a:t>Four bad options, and she bounces between them</a:t>
            </a:r>
            <a:endParaRPr sz="3200"/>
          </a:p>
        </p:txBody>
      </p:sp>
      <p:sp>
        <p:nvSpPr>
          <p:cNvPr id="4" name="Shape 2">
            <a:extLst xmlns:a="http://schemas.openxmlformats.org/drawingml/2006/main">
              <a:ext uri="{FF2B5EF4-FFF2-40B4-BE49-F238E27FC236}">
                <a16:creationId xmlns:a16="http://schemas.microsoft.com/office/drawing/2014/main" id="{E0D059E8-D73E-4775-AB0A-E24F5D641ABD}"/>
              </a:ext>
            </a:extLst>
          </p:cNvPr>
          <p:cNvSpPr>
            <a:spLocks xmlns:a="http://schemas.openxmlformats.org/drawingml/2006/main" noGrp="1"/>
          </p:cNvSpPr>
          <p:nvPr/>
        </p:nvSpPr>
        <p:spPr>
          <a:xfrm xmlns:a="http://schemas.openxmlformats.org/drawingml/2006/main">
            <a:off x="64008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Shape 3">
            <a:extLst xmlns:a="http://schemas.openxmlformats.org/drawingml/2006/main">
              <a:ext uri="{FF2B5EF4-FFF2-40B4-BE49-F238E27FC236}">
                <a16:creationId xmlns:a16="http://schemas.microsoft.com/office/drawing/2014/main" id="{6548A9C2-E410-4233-8139-F1DA18EA8284}"/>
              </a:ext>
            </a:extLst>
          </p:cNvPr>
          <p:cNvSpPr>
            <a:spLocks xmlns:a="http://schemas.openxmlformats.org/drawingml/2006/main" noGrp="1"/>
          </p:cNvSpPr>
          <p:nvPr/>
        </p:nvSpPr>
        <p:spPr>
          <a:xfrm xmlns:a="http://schemas.openxmlformats.org/drawingml/2006/main">
            <a:off x="914400" y="2258568"/>
            <a:ext cx="603504" cy="603504"/>
          </a:xfrm>
          <a:prstGeom xmlns:a="http://schemas.openxmlformats.org/drawingml/2006/main" prst="ellipse">
            <a:avLst/>
          </a:prstGeom>
          <a:solidFill xmlns:a="http://schemas.openxmlformats.org/drawingml/2006/main">
            <a:srgbClr val="FF5A6E"/>
          </a:solidFill>
        </p:spPr>
      </p:sp>
      <p:pic>
        <p:nvPicPr>
          <p:cNvPr id="40" name="Image 0"/>
          <p:cNvPicPr>
            <a:picLocks xmlns:a="http://schemas.openxmlformats.org/drawingml/2006/main" noChangeAspect="1"/>
          </p:cNvPicPr>
          <p:nvPr/>
        </p:nvPicPr>
        <p:blipFill>
          <a:blip xmlns:r="http://schemas.openxmlformats.org/officeDocument/2006/relationships" xmlns:a="http://schemas.openxmlformats.org/drawingml/2006/main" r:embed="R9401aa4613d84739"/>
          <a:stretch xmlns:a="http://schemas.openxmlformats.org/drawingml/2006/main">
            <a:fillRect l="0" t="0" r="0" b="0"/>
          </a:stretch>
        </p:blipFill>
        <p:spPr>
          <a:xfrm xmlns:a="http://schemas.openxmlformats.org/drawingml/2006/main">
            <a:off x="1071311" y="2415479"/>
            <a:ext cx="289682" cy="289682"/>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BE14DC52-AF4F-45F3-A49E-0E039D60D67A}"/>
              </a:ext>
            </a:extLst>
          </p:cNvPr>
          <p:cNvSpPr>
            <a:spLocks xmlns:a="http://schemas.openxmlformats.org/drawingml/2006/main" noGrp="1"/>
          </p:cNvSpPr>
          <p:nvPr/>
        </p:nvSpPr>
        <p:spPr>
          <a:xfrm xmlns:a="http://schemas.openxmlformats.org/drawingml/2006/main">
            <a:off x="89611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A2138"/>
                </a:solidFill>
                <a:latin typeface="Arial"/>
                <a:ea typeface="Arial"/>
                <a:cs typeface="Arial"/>
              </a:rPr>
              <a:t>Temu / AliExpress</a:t>
            </a:r>
            <a:endParaRPr sz="1450"/>
          </a:p>
        </p:txBody>
      </p:sp>
      <p:sp>
        <p:nvSpPr>
          <p:cNvPr id="8" name="Text 5">
            <a:extLst xmlns:a="http://schemas.openxmlformats.org/drawingml/2006/main">
              <a:ext uri="{FF2B5EF4-FFF2-40B4-BE49-F238E27FC236}">
                <a16:creationId xmlns:a16="http://schemas.microsoft.com/office/drawing/2014/main" id="{FAA634A0-B581-4617-8B03-B70A2A047355}"/>
              </a:ext>
            </a:extLst>
          </p:cNvPr>
          <p:cNvSpPr>
            <a:spLocks xmlns:a="http://schemas.openxmlformats.org/drawingml/2006/main" noGrp="1"/>
          </p:cNvSpPr>
          <p:nvPr/>
        </p:nvSpPr>
        <p:spPr>
          <a:xfrm xmlns:a="http://schemas.openxmlformats.org/drawingml/2006/main">
            <a:off x="89611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B7280"/>
                </a:solidFill>
                <a:latin typeface="Arial"/>
                <a:ea typeface="Arial"/>
                <a:cs typeface="Arial"/>
              </a:rPr>
              <a:t>Cheapest, but they optimize for scale: reseller listings, weak QC, a prepaid gamble on size.</a:t>
            </a:r>
            <a:endParaRPr sz="1180"/>
          </a:p>
        </p:txBody>
      </p:sp>
      <p:sp>
        <p:nvSpPr>
          <p:cNvPr id="9" name="Text 6">
            <a:extLst xmlns:a="http://schemas.openxmlformats.org/drawingml/2006/main">
              <a:ext uri="{FF2B5EF4-FFF2-40B4-BE49-F238E27FC236}">
                <a16:creationId xmlns:a16="http://schemas.microsoft.com/office/drawing/2014/main" id="{AEEF9683-48A5-4C5B-9826-293FD6F15CCF}"/>
              </a:ext>
            </a:extLst>
          </p:cNvPr>
          <p:cNvSpPr>
            <a:spLocks xmlns:a="http://schemas.openxmlformats.org/drawingml/2006/main" noGrp="1"/>
          </p:cNvSpPr>
          <p:nvPr/>
        </p:nvSpPr>
        <p:spPr>
          <a:xfrm xmlns:a="http://schemas.openxmlformats.org/drawingml/2006/main">
            <a:off x="89611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FF5A6E"/>
                </a:solidFill>
                <a:latin typeface="Arial"/>
                <a:ea typeface="Arial"/>
                <a:cs typeface="Arial"/>
              </a:rPr>
              <a:t>Wins on price. Loses on trust.</a:t>
            </a:r>
            <a:endParaRPr sz="1100"/>
          </a:p>
        </p:txBody>
      </p:sp>
      <p:sp>
        <p:nvSpPr>
          <p:cNvPr id="10" name="Shape 7">
            <a:extLst xmlns:a="http://schemas.openxmlformats.org/drawingml/2006/main">
              <a:ext uri="{FF2B5EF4-FFF2-40B4-BE49-F238E27FC236}">
                <a16:creationId xmlns:a16="http://schemas.microsoft.com/office/drawing/2014/main" id="{DFB50FE9-6384-4508-BB1C-086B32BE1892}"/>
              </a:ext>
            </a:extLst>
          </p:cNvPr>
          <p:cNvSpPr>
            <a:spLocks xmlns:a="http://schemas.openxmlformats.org/drawingml/2006/main" noGrp="1"/>
          </p:cNvSpPr>
          <p:nvPr/>
        </p:nvSpPr>
        <p:spPr>
          <a:xfrm xmlns:a="http://schemas.openxmlformats.org/drawingml/2006/main">
            <a:off x="347472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Shape 8">
            <a:extLst xmlns:a="http://schemas.openxmlformats.org/drawingml/2006/main">
              <a:ext uri="{FF2B5EF4-FFF2-40B4-BE49-F238E27FC236}">
                <a16:creationId xmlns:a16="http://schemas.microsoft.com/office/drawing/2014/main" id="{9B54AF48-42AF-4425-9A2D-9D0E5BA5C665}"/>
              </a:ext>
            </a:extLst>
          </p:cNvPr>
          <p:cNvSpPr>
            <a:spLocks xmlns:a="http://schemas.openxmlformats.org/drawingml/2006/main" noGrp="1"/>
          </p:cNvSpPr>
          <p:nvPr/>
        </p:nvSpPr>
        <p:spPr>
          <a:xfrm xmlns:a="http://schemas.openxmlformats.org/drawingml/2006/main">
            <a:off x="3749040" y="2258568"/>
            <a:ext cx="603504" cy="603504"/>
          </a:xfrm>
          <a:prstGeom xmlns:a="http://schemas.openxmlformats.org/drawingml/2006/main" prst="ellipse">
            <a:avLst/>
          </a:prstGeom>
          <a:solidFill xmlns:a="http://schemas.openxmlformats.org/drawingml/2006/main">
            <a:srgbClr val="FF5A6E"/>
          </a:solidFill>
        </p:spPr>
      </p:sp>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14d950a6bf5d4c73"/>
          <a:stretch xmlns:a="http://schemas.openxmlformats.org/drawingml/2006/main">
            <a:fillRect l="0" t="0" r="0" b="0"/>
          </a:stretch>
        </p:blipFill>
        <p:spPr>
          <a:xfrm xmlns:a="http://schemas.openxmlformats.org/drawingml/2006/main">
            <a:off x="3905951" y="2415479"/>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5AF0BF8E-61F7-40A0-8BC2-1D232F7D0425}"/>
              </a:ext>
            </a:extLst>
          </p:cNvPr>
          <p:cNvSpPr>
            <a:spLocks xmlns:a="http://schemas.openxmlformats.org/drawingml/2006/main" noGrp="1"/>
          </p:cNvSpPr>
          <p:nvPr/>
        </p:nvSpPr>
        <p:spPr>
          <a:xfrm xmlns:a="http://schemas.openxmlformats.org/drawingml/2006/main">
            <a:off x="373075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A2138"/>
                </a:solidFill>
                <a:latin typeface="Arial"/>
                <a:ea typeface="Arial"/>
                <a:cs typeface="Arial"/>
              </a:rPr>
              <a:t>Shein</a:t>
            </a:r>
            <a:endParaRPr sz="1450"/>
          </a:p>
        </p:txBody>
      </p:sp>
      <p:sp>
        <p:nvSpPr>
          <p:cNvPr id="14" name="Text 10">
            <a:extLst xmlns:a="http://schemas.openxmlformats.org/drawingml/2006/main">
              <a:ext uri="{FF2B5EF4-FFF2-40B4-BE49-F238E27FC236}">
                <a16:creationId xmlns:a16="http://schemas.microsoft.com/office/drawing/2014/main" id="{D11D359C-F8C4-41A9-8061-0ACE5A811D38}"/>
              </a:ext>
            </a:extLst>
          </p:cNvPr>
          <p:cNvSpPr>
            <a:spLocks xmlns:a="http://schemas.openxmlformats.org/drawingml/2006/main" noGrp="1"/>
          </p:cNvSpPr>
          <p:nvPr/>
        </p:nvSpPr>
        <p:spPr>
          <a:xfrm xmlns:a="http://schemas.openxmlformats.org/drawingml/2006/main">
            <a:off x="373075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B7280"/>
                </a:solidFill>
                <a:latin typeface="Arial"/>
                <a:ea typeface="Arial"/>
                <a:cs typeface="Arial"/>
              </a:rPr>
              <a:t>Consistent quality, but priced above direct sourcing and limited to its own catalog.</a:t>
            </a:r>
            <a:endParaRPr sz="1180"/>
          </a:p>
        </p:txBody>
      </p:sp>
      <p:sp>
        <p:nvSpPr>
          <p:cNvPr id="15" name="Text 11">
            <a:extLst xmlns:a="http://schemas.openxmlformats.org/drawingml/2006/main">
              <a:ext uri="{FF2B5EF4-FFF2-40B4-BE49-F238E27FC236}">
                <a16:creationId xmlns:a16="http://schemas.microsoft.com/office/drawing/2014/main" id="{B0A03AB2-A08C-4549-8AC1-0506EC8CE2C8}"/>
              </a:ext>
            </a:extLst>
          </p:cNvPr>
          <p:cNvSpPr>
            <a:spLocks xmlns:a="http://schemas.openxmlformats.org/drawingml/2006/main" noGrp="1"/>
          </p:cNvSpPr>
          <p:nvPr/>
        </p:nvSpPr>
        <p:spPr>
          <a:xfrm xmlns:a="http://schemas.openxmlformats.org/drawingml/2006/main">
            <a:off x="373075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FF5A6E"/>
                </a:solidFill>
                <a:latin typeface="Arial"/>
                <a:ea typeface="Arial"/>
                <a:cs typeface="Arial"/>
              </a:rPr>
              <a:t>Wins on speed. Can't sell the exact pin.</a:t>
            </a:r>
            <a:endParaRPr sz="1100"/>
          </a:p>
        </p:txBody>
      </p:sp>
      <p:sp>
        <p:nvSpPr>
          <p:cNvPr id="16" name="Shape 12">
            <a:extLst xmlns:a="http://schemas.openxmlformats.org/drawingml/2006/main">
              <a:ext uri="{FF2B5EF4-FFF2-40B4-BE49-F238E27FC236}">
                <a16:creationId xmlns:a16="http://schemas.microsoft.com/office/drawing/2014/main" id="{5C8DFFA5-8CE1-4029-A490-60231B5103C3}"/>
              </a:ext>
            </a:extLst>
          </p:cNvPr>
          <p:cNvSpPr>
            <a:spLocks xmlns:a="http://schemas.openxmlformats.org/drawingml/2006/main" noGrp="1"/>
          </p:cNvSpPr>
          <p:nvPr/>
        </p:nvSpPr>
        <p:spPr>
          <a:xfrm xmlns:a="http://schemas.openxmlformats.org/drawingml/2006/main">
            <a:off x="630936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Shape 13">
            <a:extLst xmlns:a="http://schemas.openxmlformats.org/drawingml/2006/main">
              <a:ext uri="{FF2B5EF4-FFF2-40B4-BE49-F238E27FC236}">
                <a16:creationId xmlns:a16="http://schemas.microsoft.com/office/drawing/2014/main" id="{468F4A87-9DEF-44A6-800A-A42E6B007E5A}"/>
              </a:ext>
            </a:extLst>
          </p:cNvPr>
          <p:cNvSpPr>
            <a:spLocks xmlns:a="http://schemas.openxmlformats.org/drawingml/2006/main" noGrp="1"/>
          </p:cNvSpPr>
          <p:nvPr/>
        </p:nvSpPr>
        <p:spPr>
          <a:xfrm xmlns:a="http://schemas.openxmlformats.org/drawingml/2006/main">
            <a:off x="6583680" y="2258568"/>
            <a:ext cx="603504" cy="603504"/>
          </a:xfrm>
          <a:prstGeom xmlns:a="http://schemas.openxmlformats.org/drawingml/2006/main" prst="ellipse">
            <a:avLst/>
          </a:prstGeom>
          <a:solidFill xmlns:a="http://schemas.openxmlformats.org/drawingml/2006/main">
            <a:srgbClr val="FF5A6E"/>
          </a:solidFill>
        </p:spPr>
      </p:sp>
      <p:pic>
        <p:nvPicPr>
          <p:cNvPr id="52" name="Image 2"/>
          <p:cNvPicPr>
            <a:picLocks xmlns:a="http://schemas.openxmlformats.org/drawingml/2006/main" noChangeAspect="1"/>
          </p:cNvPicPr>
          <p:nvPr/>
        </p:nvPicPr>
        <p:blipFill>
          <a:blip xmlns:r="http://schemas.openxmlformats.org/officeDocument/2006/relationships" xmlns:a="http://schemas.openxmlformats.org/drawingml/2006/main" r:embed="Rc9cbf943417649ca"/>
          <a:stretch xmlns:a="http://schemas.openxmlformats.org/drawingml/2006/main">
            <a:fillRect l="0" t="0" r="0" b="0"/>
          </a:stretch>
        </p:blipFill>
        <p:spPr>
          <a:xfrm xmlns:a="http://schemas.openxmlformats.org/drawingml/2006/main">
            <a:off x="6740591" y="2415479"/>
            <a:ext cx="289682" cy="289682"/>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80E96F70-71C8-4A98-BCDB-4AB5E6E6EF0A}"/>
              </a:ext>
            </a:extLst>
          </p:cNvPr>
          <p:cNvSpPr>
            <a:spLocks xmlns:a="http://schemas.openxmlformats.org/drawingml/2006/main" noGrp="1"/>
          </p:cNvSpPr>
          <p:nvPr/>
        </p:nvSpPr>
        <p:spPr>
          <a:xfrm xmlns:a="http://schemas.openxmlformats.org/drawingml/2006/main">
            <a:off x="656539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A2138"/>
                </a:solidFill>
                <a:latin typeface="Arial"/>
                <a:ea typeface="Arial"/>
                <a:cs typeface="Arial"/>
              </a:rPr>
              <a:t>Social resellers (WhatsApp / IG)</a:t>
            </a:r>
            <a:endParaRPr sz="1450"/>
          </a:p>
        </p:txBody>
      </p:sp>
      <p:sp>
        <p:nvSpPr>
          <p:cNvPr id="20" name="Text 15">
            <a:extLst xmlns:a="http://schemas.openxmlformats.org/drawingml/2006/main">
              <a:ext uri="{FF2B5EF4-FFF2-40B4-BE49-F238E27FC236}">
                <a16:creationId xmlns:a16="http://schemas.microsoft.com/office/drawing/2014/main" id="{3EFC1BCD-7912-4F78-8FDB-41D850F4B7B9}"/>
              </a:ext>
            </a:extLst>
          </p:cNvPr>
          <p:cNvSpPr>
            <a:spLocks xmlns:a="http://schemas.openxmlformats.org/drawingml/2006/main" noGrp="1"/>
          </p:cNvSpPr>
          <p:nvPr/>
        </p:nvSpPr>
        <p:spPr>
          <a:xfrm xmlns:a="http://schemas.openxmlformats.org/drawingml/2006/main">
            <a:off x="656539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B7280"/>
                </a:solidFill>
                <a:latin typeface="Arial"/>
                <a:ea typeface="Arial"/>
                <a:cs typeface="Arial"/>
              </a:rPr>
              <a:t>Closest to the stylish, curated feel, but manual, prepay-a-stranger, no returns.</a:t>
            </a:r>
            <a:endParaRPr sz="1180"/>
          </a:p>
        </p:txBody>
      </p:sp>
      <p:sp>
        <p:nvSpPr>
          <p:cNvPr id="21" name="Text 16">
            <a:extLst xmlns:a="http://schemas.openxmlformats.org/drawingml/2006/main">
              <a:ext uri="{FF2B5EF4-FFF2-40B4-BE49-F238E27FC236}">
                <a16:creationId xmlns:a16="http://schemas.microsoft.com/office/drawing/2014/main" id="{09D85B6C-3667-4F2F-BC6C-F81DEDA8731B}"/>
              </a:ext>
            </a:extLst>
          </p:cNvPr>
          <p:cNvSpPr>
            <a:spLocks xmlns:a="http://schemas.openxmlformats.org/drawingml/2006/main" noGrp="1"/>
          </p:cNvSpPr>
          <p:nvPr/>
        </p:nvSpPr>
        <p:spPr>
          <a:xfrm xmlns:a="http://schemas.openxmlformats.org/drawingml/2006/main">
            <a:off x="656539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FF5A6E"/>
                </a:solidFill>
                <a:latin typeface="Arial"/>
                <a:ea typeface="Arial"/>
                <a:cs typeface="Arial"/>
              </a:rPr>
              <a:t>Wins on taste. Loses on safety.</a:t>
            </a:r>
            <a:endParaRPr sz="1100"/>
          </a:p>
        </p:txBody>
      </p:sp>
      <p:sp>
        <p:nvSpPr>
          <p:cNvPr id="22" name="Shape 17">
            <a:extLst xmlns:a="http://schemas.openxmlformats.org/drawingml/2006/main">
              <a:ext uri="{FF2B5EF4-FFF2-40B4-BE49-F238E27FC236}">
                <a16:creationId xmlns:a16="http://schemas.microsoft.com/office/drawing/2014/main" id="{7A397DC1-BD60-441C-A7FA-C9D80BF2B3B8}"/>
              </a:ext>
            </a:extLst>
          </p:cNvPr>
          <p:cNvSpPr>
            <a:spLocks xmlns:a="http://schemas.openxmlformats.org/drawingml/2006/main" noGrp="1"/>
          </p:cNvSpPr>
          <p:nvPr/>
        </p:nvSpPr>
        <p:spPr>
          <a:xfrm xmlns:a="http://schemas.openxmlformats.org/drawingml/2006/main">
            <a:off x="9144000" y="1965960"/>
            <a:ext cx="2615184" cy="3977640"/>
          </a:xfrm>
          <a:prstGeom xmlns:a="http://schemas.openxmlformats.org/drawingml/2006/main" prst="roundRect">
            <a:avLst>
              <a:gd name="adj" fmla="val 3147"/>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3" name="Shape 18">
            <a:extLst xmlns:a="http://schemas.openxmlformats.org/drawingml/2006/main">
              <a:ext uri="{FF2B5EF4-FFF2-40B4-BE49-F238E27FC236}">
                <a16:creationId xmlns:a16="http://schemas.microsoft.com/office/drawing/2014/main" id="{2756414E-6CF4-4150-ACDC-240E7B66311D}"/>
              </a:ext>
            </a:extLst>
          </p:cNvPr>
          <p:cNvSpPr>
            <a:spLocks xmlns:a="http://schemas.openxmlformats.org/drawingml/2006/main" noGrp="1"/>
          </p:cNvSpPr>
          <p:nvPr/>
        </p:nvSpPr>
        <p:spPr>
          <a:xfrm xmlns:a="http://schemas.openxmlformats.org/drawingml/2006/main">
            <a:off x="9418320" y="2258568"/>
            <a:ext cx="603504" cy="603504"/>
          </a:xfrm>
          <a:prstGeom xmlns:a="http://schemas.openxmlformats.org/drawingml/2006/main" prst="ellipse">
            <a:avLst/>
          </a:prstGeom>
          <a:solidFill xmlns:a="http://schemas.openxmlformats.org/drawingml/2006/main">
            <a:srgbClr val="FF5A6E"/>
          </a:solidFill>
        </p:spPr>
      </p:sp>
      <p:pic>
        <p:nvPicPr>
          <p:cNvPr id="58" name="Image 3"/>
          <p:cNvPicPr>
            <a:picLocks xmlns:a="http://schemas.openxmlformats.org/drawingml/2006/main" noChangeAspect="1"/>
          </p:cNvPicPr>
          <p:nvPr/>
        </p:nvPicPr>
        <p:blipFill>
          <a:blip xmlns:r="http://schemas.openxmlformats.org/officeDocument/2006/relationships" xmlns:a="http://schemas.openxmlformats.org/drawingml/2006/main" r:embed="R0b989bf21e5f4edc"/>
          <a:stretch xmlns:a="http://schemas.openxmlformats.org/drawingml/2006/main">
            <a:fillRect l="0" t="0" r="0" b="0"/>
          </a:stretch>
        </p:blipFill>
        <p:spPr>
          <a:xfrm xmlns:a="http://schemas.openxmlformats.org/drawingml/2006/main">
            <a:off x="9575231" y="2415479"/>
            <a:ext cx="289682" cy="289682"/>
          </a:xfrm>
          <a:prstGeom xmlns:a="http://schemas.openxmlformats.org/drawingml/2006/main" prst="rect">
            <a:avLst/>
          </a:prstGeom>
        </p:spPr>
      </p:pic>
      <p:sp>
        <p:nvSpPr>
          <p:cNvPr id="25" name="Text 19">
            <a:extLst xmlns:a="http://schemas.openxmlformats.org/drawingml/2006/main">
              <a:ext uri="{FF2B5EF4-FFF2-40B4-BE49-F238E27FC236}">
                <a16:creationId xmlns:a16="http://schemas.microsoft.com/office/drawing/2014/main" id="{21855FD4-DD25-42AE-A782-9288A8936F85}"/>
              </a:ext>
            </a:extLst>
          </p:cNvPr>
          <p:cNvSpPr>
            <a:spLocks xmlns:a="http://schemas.openxmlformats.org/drawingml/2006/main" noGrp="1"/>
          </p:cNvSpPr>
          <p:nvPr/>
        </p:nvSpPr>
        <p:spPr>
          <a:xfrm xmlns:a="http://schemas.openxmlformats.org/drawingml/2006/main">
            <a:off x="9400032" y="2990088"/>
            <a:ext cx="215798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A2138"/>
                </a:solidFill>
                <a:latin typeface="Arial"/>
                <a:ea typeface="Arial"/>
                <a:cs typeface="Arial"/>
              </a:rPr>
              <a:t>Local retail</a:t>
            </a:r>
            <a:endParaRPr sz="1450"/>
          </a:p>
        </p:txBody>
      </p:sp>
      <p:sp>
        <p:nvSpPr>
          <p:cNvPr id="26" name="Text 20">
            <a:extLst xmlns:a="http://schemas.openxmlformats.org/drawingml/2006/main">
              <a:ext uri="{FF2B5EF4-FFF2-40B4-BE49-F238E27FC236}">
                <a16:creationId xmlns:a16="http://schemas.microsoft.com/office/drawing/2014/main" id="{88A8648B-9994-4007-9944-A2ABD9F4C645}"/>
              </a:ext>
            </a:extLst>
          </p:cNvPr>
          <p:cNvSpPr>
            <a:spLocks xmlns:a="http://schemas.openxmlformats.org/drawingml/2006/main" noGrp="1"/>
          </p:cNvSpPr>
          <p:nvPr/>
        </p:nvSpPr>
        <p:spPr>
          <a:xfrm xmlns:a="http://schemas.openxmlformats.org/drawingml/2006/main">
            <a:off x="9400032" y="3502152"/>
            <a:ext cx="2157984" cy="1554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180">
                <a:solidFill>
                  <a:srgbClr val="6B7280"/>
                </a:solidFill>
                <a:latin typeface="Arial"/>
                <a:ea typeface="Arial"/>
                <a:cs typeface="Arial"/>
              </a:rPr>
              <a:t>No sizing gamble, but the same China-made goods at a steep markup, no trend selection.</a:t>
            </a:r>
            <a:endParaRPr sz="1180"/>
          </a:p>
        </p:txBody>
      </p:sp>
      <p:sp>
        <p:nvSpPr>
          <p:cNvPr id="27" name="Text 21">
            <a:extLst xmlns:a="http://schemas.openxmlformats.org/drawingml/2006/main">
              <a:ext uri="{FF2B5EF4-FFF2-40B4-BE49-F238E27FC236}">
                <a16:creationId xmlns:a16="http://schemas.microsoft.com/office/drawing/2014/main" id="{B0AC49F7-8C42-4826-B751-7C5A1F82F698}"/>
              </a:ext>
            </a:extLst>
          </p:cNvPr>
          <p:cNvSpPr>
            <a:spLocks xmlns:a="http://schemas.openxmlformats.org/drawingml/2006/main" noGrp="1"/>
          </p:cNvSpPr>
          <p:nvPr/>
        </p:nvSpPr>
        <p:spPr>
          <a:xfrm xmlns:a="http://schemas.openxmlformats.org/drawingml/2006/main">
            <a:off x="9400032" y="5276088"/>
            <a:ext cx="215798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b="1" i="1">
                <a:solidFill>
                  <a:srgbClr val="FF5A6E"/>
                </a:solidFill>
                <a:latin typeface="Arial"/>
                <a:ea typeface="Arial"/>
                <a:cs typeface="Arial"/>
              </a:rPr>
              <a:t>Wins on instant. Loses on price.</a:t>
            </a:r>
            <a:endParaRPr sz="1100"/>
          </a:p>
        </p:txBody>
      </p:sp>
      <p:sp>
        <p:nvSpPr>
          <p:cNvPr id="28" name="Text 22">
            <a:extLst xmlns:a="http://schemas.openxmlformats.org/drawingml/2006/main">
              <a:ext uri="{FF2B5EF4-FFF2-40B4-BE49-F238E27FC236}">
                <a16:creationId xmlns:a16="http://schemas.microsoft.com/office/drawing/2014/main" id="{ED3B5508-7C9A-4C20-AA65-72FC22882438}"/>
              </a:ext>
            </a:extLst>
          </p:cNvPr>
          <p:cNvSpPr>
            <a:spLocks xmlns:a="http://schemas.openxmlformats.org/drawingml/2006/main" noGrp="1"/>
          </p:cNvSpPr>
          <p:nvPr/>
        </p:nvSpPr>
        <p:spPr>
          <a:xfrm xmlns:a="http://schemas.openxmlformats.org/drawingml/2006/main">
            <a:off x="640080" y="6144768"/>
            <a:ext cx="108813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b="1">
                <a:solidFill>
                  <a:srgbClr val="1A2138"/>
                </a:solidFill>
                <a:latin typeface="Arial"/>
                <a:ea typeface="Arial"/>
                <a:cs typeface="Arial"/>
              </a:rPr>
              <a:t>None solves sizing and quality certainty before the item ships, for this audience.</a:t>
            </a:r>
            <a:endParaRPr sz="1350"/>
          </a:p>
        </p:txBody>
      </p:sp>
      <p:sp>
        <p:nvSpPr>
          <p:cNvPr id="30" name="Text 23">
            <a:extLst xmlns:a="http://schemas.openxmlformats.org/drawingml/2006/main">
              <a:ext uri="{FF2B5EF4-FFF2-40B4-BE49-F238E27FC236}">
                <a16:creationId xmlns:a16="http://schemas.microsoft.com/office/drawing/2014/main" id="{D09060D2-16E9-4DA3-8D1D-EBF6E06AEA4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280"/>
                </a:solidFill>
                <a:latin typeface="Arial"/>
                <a:ea typeface="Arial"/>
                <a:cs typeface="Arial"/>
              </a:rPr>
              <a:t>SuperCheap.market  ·  working name</a:t>
            </a:r>
            <a:endParaRPr sz="900"/>
          </a:p>
        </p:txBody>
      </p:sp>
      <p:sp>
        <p:nvSpPr>
          <p:cNvPr id="31" name="Text 24">
            <a:extLst xmlns:a="http://schemas.openxmlformats.org/drawingml/2006/main">
              <a:ext uri="{FF2B5EF4-FFF2-40B4-BE49-F238E27FC236}">
                <a16:creationId xmlns:a16="http://schemas.microsoft.com/office/drawing/2014/main" id="{46FEF24E-7DFE-4A2B-97DB-96FB2042C26C}"/>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7280"/>
                </a:solidFill>
                <a:latin typeface="Arial"/>
                <a:ea typeface="Arial"/>
                <a:cs typeface="Arial"/>
              </a:rPr>
              <a:t>3</a:t>
            </a:r>
            <a:endParaRPr sz="900"/>
          </a:p>
        </p:txBody>
      </p:sp>
    </p:spTree>
    <p:extLst>
      <p:ext uri="{BB962C8B-B14F-4D97-AF65-F5344CB8AC3E}">
        <p14:creationId xmlns:p14="http://schemas.microsoft.com/office/powerpoint/2010/main" val="164422549"/>
      </p:ext>
    </p:extLst>
  </p:cSld>
</p:sld>
</file>

<file path=ppt/slides/slide4.xml><?xml version="1.0" encoding="utf-8"?>
<p:sld xmlns:p="http://schemas.openxmlformats.org/presentationml/2006/main">
  <p:cSld>
    <p:bg>
      <p:bgPr>
        <a:solidFill xmlns:a="http://schemas.openxmlformats.org/drawingml/2006/main">
          <a:srgbClr val="141B3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58AA2983-7AE8-49F9-8DEF-0D55E84D8D8F}"/>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FF5A6E"/>
                </a:solidFill>
                <a:latin typeface="Arial"/>
                <a:ea typeface="Arial"/>
                <a:cs typeface="Arial"/>
              </a:rPr>
              <a:t>THE INSIGHT</a:t>
            </a:r>
            <a:endParaRPr sz="1200"/>
          </a:p>
        </p:txBody>
      </p:sp>
      <p:sp>
        <p:nvSpPr>
          <p:cNvPr id="3" name="Text 1">
            <a:extLst xmlns:a="http://schemas.openxmlformats.org/drawingml/2006/main">
              <a:ext uri="{FF2B5EF4-FFF2-40B4-BE49-F238E27FC236}">
                <a16:creationId xmlns:a16="http://schemas.microsoft.com/office/drawing/2014/main" id="{D83E5A15-8EDE-42CA-9408-A9A8FE0F5533}"/>
              </a:ext>
            </a:extLst>
          </p:cNvPr>
          <p:cNvSpPr>
            <a:spLocks xmlns:a="http://schemas.openxmlformats.org/drawingml/2006/main" noGrp="1"/>
          </p:cNvSpPr>
          <p:nvPr/>
        </p:nvSpPr>
        <p:spPr>
          <a:xfrm xmlns:a="http://schemas.openxmlformats.org/drawingml/2006/main">
            <a:off x="640080" y="868680"/>
            <a:ext cx="108813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FFFFFF"/>
                </a:solidFill>
                <a:latin typeface="Cambria"/>
                <a:ea typeface="Cambria"/>
                <a:cs typeface="Cambria"/>
              </a:rPr>
              <a:t>Same factories, different buying model</a:t>
            </a:r>
            <a:endParaRPr sz="3300"/>
          </a:p>
        </p:txBody>
      </p:sp>
      <p:sp>
        <p:nvSpPr>
          <p:cNvPr id="4" name="Text 2">
            <a:extLst xmlns:a="http://schemas.openxmlformats.org/drawingml/2006/main">
              <a:ext uri="{FF2B5EF4-FFF2-40B4-BE49-F238E27FC236}">
                <a16:creationId xmlns:a16="http://schemas.microsoft.com/office/drawing/2014/main" id="{A7A51BF3-E269-41A8-838C-B38E2D323055}"/>
              </a:ext>
            </a:extLst>
          </p:cNvPr>
          <p:cNvSpPr>
            <a:spLocks xmlns:a="http://schemas.openxmlformats.org/drawingml/2006/main" noGrp="1"/>
          </p:cNvSpPr>
          <p:nvPr/>
        </p:nvSpPr>
        <p:spPr>
          <a:xfrm xmlns:a="http://schemas.openxmlformats.org/drawingml/2006/main">
            <a:off x="640080" y="1783080"/>
            <a:ext cx="104241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500">
                <a:solidFill>
                  <a:srgbClr val="CBD5F0"/>
                </a:solidFill>
                <a:latin typeface="Arial"/>
                <a:ea typeface="Arial"/>
                <a:cs typeface="Arial"/>
              </a:rPr>
              <a:t>China has hundreds of millions of SKUs. We buy directly from factories and suppliers, then use audience + recommender to choose the right slice.</a:t>
            </a:r>
            <a:endParaRPr sz="1500"/>
          </a:p>
        </p:txBody>
      </p:sp>
      <p:sp>
        <p:nvSpPr>
          <p:cNvPr id="5" name="Shape 3">
            <a:extLst xmlns:a="http://schemas.openxmlformats.org/drawingml/2006/main">
              <a:ext uri="{FF2B5EF4-FFF2-40B4-BE49-F238E27FC236}">
                <a16:creationId xmlns:a16="http://schemas.microsoft.com/office/drawing/2014/main" id="{2EC4B32C-8F74-4395-BCF7-8676B39D2C81}"/>
              </a:ext>
            </a:extLst>
          </p:cNvPr>
          <p:cNvSpPr>
            <a:spLocks xmlns:a="http://schemas.openxmlformats.org/drawingml/2006/main" noGrp="1"/>
          </p:cNvSpPr>
          <p:nvPr/>
        </p:nvSpPr>
        <p:spPr>
          <a:xfrm xmlns:a="http://schemas.openxmlformats.org/drawingml/2006/main">
            <a:off x="640080" y="2743200"/>
            <a:ext cx="3429000" cy="2880360"/>
          </a:xfrm>
          <a:prstGeom xmlns:a="http://schemas.openxmlformats.org/drawingml/2006/main" prst="roundRect">
            <a:avLst>
              <a:gd name="adj" fmla="val 2857"/>
            </a:avLst>
          </a:prstGeom>
          <a:solidFill xmlns:a="http://schemas.openxmlformats.org/drawingml/2006/main">
            <a:srgbClr val="1E2747"/>
          </a:solidFill>
          <a:ln xmlns:a="http://schemas.openxmlformats.org/drawingml/2006/main" w="12700">
            <a:solidFill>
              <a:srgbClr val="31406E"/>
            </a:solidFill>
            <a:prstDash val="solid"/>
          </a:ln>
        </p:spPr>
      </p:sp>
      <p:sp>
        <p:nvSpPr>
          <p:cNvPr id="6" name="Shape 4">
            <a:extLst xmlns:a="http://schemas.openxmlformats.org/drawingml/2006/main">
              <a:ext uri="{FF2B5EF4-FFF2-40B4-BE49-F238E27FC236}">
                <a16:creationId xmlns:a16="http://schemas.microsoft.com/office/drawing/2014/main" id="{8938B47F-5AEF-4AB3-8C46-E2499091F1BC}"/>
              </a:ext>
            </a:extLst>
          </p:cNvPr>
          <p:cNvSpPr>
            <a:spLocks xmlns:a="http://schemas.openxmlformats.org/drawingml/2006/main" noGrp="1"/>
          </p:cNvSpPr>
          <p:nvPr/>
        </p:nvSpPr>
        <p:spPr>
          <a:xfrm xmlns:a="http://schemas.openxmlformats.org/drawingml/2006/main">
            <a:off x="932688" y="3054096"/>
            <a:ext cx="603504" cy="603504"/>
          </a:xfrm>
          <a:prstGeom xmlns:a="http://schemas.openxmlformats.org/drawingml/2006/main" prst="ellipse">
            <a:avLst/>
          </a:prstGeom>
          <a:solidFill xmlns:a="http://schemas.openxmlformats.org/drawingml/2006/main">
            <a:srgbClr val="FF5A6E"/>
          </a:solidFill>
        </p:spPr>
      </p:sp>
      <p:pic>
        <p:nvPicPr>
          <p:cNvPr id="31" name="Image 0"/>
          <p:cNvPicPr>
            <a:picLocks xmlns:a="http://schemas.openxmlformats.org/drawingml/2006/main" noChangeAspect="1"/>
          </p:cNvPicPr>
          <p:nvPr/>
        </p:nvPicPr>
        <p:blipFill>
          <a:blip xmlns:r="http://schemas.openxmlformats.org/officeDocument/2006/relationships" xmlns:a="http://schemas.openxmlformats.org/drawingml/2006/main" r:embed="Rfae104d328eb47b9"/>
          <a:stretch xmlns:a="http://schemas.openxmlformats.org/drawingml/2006/main">
            <a:fillRect l="0" t="0" r="0" b="0"/>
          </a:stretch>
        </p:blipFill>
        <p:spPr>
          <a:xfrm xmlns:a="http://schemas.openxmlformats.org/drawingml/2006/main">
            <a:off x="1089599" y="3211007"/>
            <a:ext cx="289682" cy="289682"/>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6EB9B916-EE56-4042-9B7E-25F2B456DCED}"/>
              </a:ext>
            </a:extLst>
          </p:cNvPr>
          <p:cNvSpPr>
            <a:spLocks xmlns:a="http://schemas.openxmlformats.org/drawingml/2006/main" noGrp="1"/>
          </p:cNvSpPr>
          <p:nvPr/>
        </p:nvSpPr>
        <p:spPr>
          <a:xfrm xmlns:a="http://schemas.openxmlformats.org/drawingml/2006/main">
            <a:off x="932688"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FFFFFF"/>
                </a:solidFill>
                <a:latin typeface="Arial"/>
                <a:ea typeface="Arial"/>
                <a:cs typeface="Arial"/>
              </a:rPr>
              <a:t>Same supply, different slice</a:t>
            </a:r>
            <a:endParaRPr sz="1550"/>
          </a:p>
        </p:txBody>
      </p:sp>
      <p:sp>
        <p:nvSpPr>
          <p:cNvPr id="9" name="Text 6">
            <a:extLst xmlns:a="http://schemas.openxmlformats.org/drawingml/2006/main">
              <a:ext uri="{FF2B5EF4-FFF2-40B4-BE49-F238E27FC236}">
                <a16:creationId xmlns:a16="http://schemas.microsoft.com/office/drawing/2014/main" id="{F5B16CE9-1F75-425F-B640-2F40D0622BCA}"/>
              </a:ext>
            </a:extLst>
          </p:cNvPr>
          <p:cNvSpPr>
            <a:spLocks xmlns:a="http://schemas.openxmlformats.org/drawingml/2006/main" noGrp="1"/>
          </p:cNvSpPr>
          <p:nvPr/>
        </p:nvSpPr>
        <p:spPr>
          <a:xfrm xmlns:a="http://schemas.openxmlformats.org/drawingml/2006/main">
            <a:off x="932688"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CBD5F0"/>
                </a:solidFill>
                <a:latin typeface="Arial"/>
                <a:ea typeface="Arial"/>
                <a:cs typeface="Arial"/>
              </a:rPr>
              <a:t>Temu optimizes for “cheapest” through broad reseller listings. We buy direct from factories, then surface a curated, stylish slice.</a:t>
            </a:r>
            <a:endParaRPr sz="1200"/>
          </a:p>
        </p:txBody>
      </p:sp>
      <p:sp>
        <p:nvSpPr>
          <p:cNvPr id="10" name="Shape 7">
            <a:extLst xmlns:a="http://schemas.openxmlformats.org/drawingml/2006/main">
              <a:ext uri="{FF2B5EF4-FFF2-40B4-BE49-F238E27FC236}">
                <a16:creationId xmlns:a16="http://schemas.microsoft.com/office/drawing/2014/main" id="{0C8ABAA2-0863-4992-9C01-E056C29D418A}"/>
              </a:ext>
            </a:extLst>
          </p:cNvPr>
          <p:cNvSpPr>
            <a:spLocks xmlns:a="http://schemas.openxmlformats.org/drawingml/2006/main" noGrp="1"/>
          </p:cNvSpPr>
          <p:nvPr/>
        </p:nvSpPr>
        <p:spPr>
          <a:xfrm xmlns:a="http://schemas.openxmlformats.org/drawingml/2006/main">
            <a:off x="4361688" y="2743200"/>
            <a:ext cx="3429000" cy="2880360"/>
          </a:xfrm>
          <a:prstGeom xmlns:a="http://schemas.openxmlformats.org/drawingml/2006/main" prst="roundRect">
            <a:avLst>
              <a:gd name="adj" fmla="val 2857"/>
            </a:avLst>
          </a:prstGeom>
          <a:solidFill xmlns:a="http://schemas.openxmlformats.org/drawingml/2006/main">
            <a:srgbClr val="1E2747"/>
          </a:solidFill>
          <a:ln xmlns:a="http://schemas.openxmlformats.org/drawingml/2006/main" w="12700">
            <a:solidFill>
              <a:srgbClr val="31406E"/>
            </a:solidFill>
            <a:prstDash val="solid"/>
          </a:ln>
        </p:spPr>
      </p:sp>
      <p:sp>
        <p:nvSpPr>
          <p:cNvPr id="11" name="Shape 8">
            <a:extLst xmlns:a="http://schemas.openxmlformats.org/drawingml/2006/main">
              <a:ext uri="{FF2B5EF4-FFF2-40B4-BE49-F238E27FC236}">
                <a16:creationId xmlns:a16="http://schemas.microsoft.com/office/drawing/2014/main" id="{37D3820E-3677-4139-A6E9-C6C2D4F0FD1B}"/>
              </a:ext>
            </a:extLst>
          </p:cNvPr>
          <p:cNvSpPr>
            <a:spLocks xmlns:a="http://schemas.openxmlformats.org/drawingml/2006/main" noGrp="1"/>
          </p:cNvSpPr>
          <p:nvPr/>
        </p:nvSpPr>
        <p:spPr>
          <a:xfrm xmlns:a="http://schemas.openxmlformats.org/drawingml/2006/main">
            <a:off x="4654296" y="3054096"/>
            <a:ext cx="603504" cy="603504"/>
          </a:xfrm>
          <a:prstGeom xmlns:a="http://schemas.openxmlformats.org/drawingml/2006/main" prst="ellipse">
            <a:avLst/>
          </a:prstGeom>
          <a:solidFill xmlns:a="http://schemas.openxmlformats.org/drawingml/2006/main">
            <a:srgbClr val="FF5A6E"/>
          </a:solidFill>
        </p:spPr>
      </p:sp>
      <p:pic>
        <p:nvPicPr>
          <p:cNvPr id="36" name="Image 1"/>
          <p:cNvPicPr>
            <a:picLocks xmlns:a="http://schemas.openxmlformats.org/drawingml/2006/main" noChangeAspect="1"/>
          </p:cNvPicPr>
          <p:nvPr/>
        </p:nvPicPr>
        <p:blipFill>
          <a:blip xmlns:r="http://schemas.openxmlformats.org/officeDocument/2006/relationships" xmlns:a="http://schemas.openxmlformats.org/drawingml/2006/main" r:embed="R8e5dacfc6ece4cac"/>
          <a:stretch xmlns:a="http://schemas.openxmlformats.org/drawingml/2006/main">
            <a:fillRect l="0" t="0" r="0" b="0"/>
          </a:stretch>
        </p:blipFill>
        <p:spPr>
          <a:xfrm xmlns:a="http://schemas.openxmlformats.org/drawingml/2006/main">
            <a:off x="4811207" y="3211007"/>
            <a:ext cx="289682" cy="289682"/>
          </a:xfrm>
          <a:prstGeom xmlns:a="http://schemas.openxmlformats.org/drawingml/2006/main" prst="rect">
            <a:avLst/>
          </a:prstGeom>
        </p:spPr>
      </p:pic>
      <p:sp>
        <p:nvSpPr>
          <p:cNvPr id="13" name="Text 9">
            <a:extLst xmlns:a="http://schemas.openxmlformats.org/drawingml/2006/main">
              <a:ext uri="{FF2B5EF4-FFF2-40B4-BE49-F238E27FC236}">
                <a16:creationId xmlns:a16="http://schemas.microsoft.com/office/drawing/2014/main" id="{835B21D5-D4FE-4BEA-B02D-37B500FE66D6}"/>
              </a:ext>
            </a:extLst>
          </p:cNvPr>
          <p:cNvSpPr>
            <a:spLocks xmlns:a="http://schemas.openxmlformats.org/drawingml/2006/main" noGrp="1"/>
          </p:cNvSpPr>
          <p:nvPr/>
        </p:nvSpPr>
        <p:spPr>
          <a:xfrm xmlns:a="http://schemas.openxmlformats.org/drawingml/2006/main">
            <a:off x="4654296"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FFFFFF"/>
                </a:solidFill>
                <a:latin typeface="Arial"/>
                <a:ea typeface="Arial"/>
                <a:cs typeface="Arial"/>
              </a:rPr>
              <a:t>The audience trains the catalog</a:t>
            </a:r>
            <a:endParaRPr sz="1550"/>
          </a:p>
        </p:txBody>
      </p:sp>
      <p:sp>
        <p:nvSpPr>
          <p:cNvPr id="14" name="Text 10">
            <a:extLst xmlns:a="http://schemas.openxmlformats.org/drawingml/2006/main">
              <a:ext uri="{FF2B5EF4-FFF2-40B4-BE49-F238E27FC236}">
                <a16:creationId xmlns:a16="http://schemas.microsoft.com/office/drawing/2014/main" id="{C58F58CB-0021-4B15-8E0B-2B0B3E668095}"/>
              </a:ext>
            </a:extLst>
          </p:cNvPr>
          <p:cNvSpPr>
            <a:spLocks xmlns:a="http://schemas.openxmlformats.org/drawingml/2006/main" noGrp="1"/>
          </p:cNvSpPr>
          <p:nvPr/>
        </p:nvSpPr>
        <p:spPr>
          <a:xfrm xmlns:a="http://schemas.openxmlformats.org/drawingml/2006/main">
            <a:off x="4654296"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CBD5F0"/>
                </a:solidFill>
                <a:latin typeface="Arial"/>
                <a:ea typeface="Arial"/>
                <a:cs typeface="Arial"/>
              </a:rPr>
              <a:t>Our traffic was young women from TikTok, so our engine learned to surface stylish, Pinterest-like items. It became a curated showroom, not a discount warehouse.</a:t>
            </a:r>
            <a:endParaRPr sz="1200"/>
          </a:p>
        </p:txBody>
      </p:sp>
      <p:sp>
        <p:nvSpPr>
          <p:cNvPr id="15" name="Shape 11">
            <a:extLst xmlns:a="http://schemas.openxmlformats.org/drawingml/2006/main">
              <a:ext uri="{FF2B5EF4-FFF2-40B4-BE49-F238E27FC236}">
                <a16:creationId xmlns:a16="http://schemas.microsoft.com/office/drawing/2014/main" id="{F2B2CF31-AF33-47F6-A750-3364256A2A7E}"/>
              </a:ext>
            </a:extLst>
          </p:cNvPr>
          <p:cNvSpPr>
            <a:spLocks xmlns:a="http://schemas.openxmlformats.org/drawingml/2006/main" noGrp="1"/>
          </p:cNvSpPr>
          <p:nvPr/>
        </p:nvSpPr>
        <p:spPr>
          <a:xfrm xmlns:a="http://schemas.openxmlformats.org/drawingml/2006/main">
            <a:off x="8083296" y="2743200"/>
            <a:ext cx="3429000" cy="2880360"/>
          </a:xfrm>
          <a:prstGeom xmlns:a="http://schemas.openxmlformats.org/drawingml/2006/main" prst="roundRect">
            <a:avLst>
              <a:gd name="adj" fmla="val 2857"/>
            </a:avLst>
          </a:prstGeom>
          <a:solidFill xmlns:a="http://schemas.openxmlformats.org/drawingml/2006/main">
            <a:srgbClr val="1E2747"/>
          </a:solidFill>
          <a:ln xmlns:a="http://schemas.openxmlformats.org/drawingml/2006/main" w="12700">
            <a:solidFill>
              <a:srgbClr val="31406E"/>
            </a:solidFill>
            <a:prstDash val="solid"/>
          </a:ln>
        </p:spPr>
      </p:sp>
      <p:sp>
        <p:nvSpPr>
          <p:cNvPr id="16" name="Shape 12">
            <a:extLst xmlns:a="http://schemas.openxmlformats.org/drawingml/2006/main">
              <a:ext uri="{FF2B5EF4-FFF2-40B4-BE49-F238E27FC236}">
                <a16:creationId xmlns:a16="http://schemas.microsoft.com/office/drawing/2014/main" id="{EEAFC954-F7B8-40F1-8829-764DAF65671A}"/>
              </a:ext>
            </a:extLst>
          </p:cNvPr>
          <p:cNvSpPr>
            <a:spLocks xmlns:a="http://schemas.openxmlformats.org/drawingml/2006/main" noGrp="1"/>
          </p:cNvSpPr>
          <p:nvPr/>
        </p:nvSpPr>
        <p:spPr>
          <a:xfrm xmlns:a="http://schemas.openxmlformats.org/drawingml/2006/main">
            <a:off x="8375904" y="3054096"/>
            <a:ext cx="603504" cy="603504"/>
          </a:xfrm>
          <a:prstGeom xmlns:a="http://schemas.openxmlformats.org/drawingml/2006/main" prst="ellipse">
            <a:avLst/>
          </a:prstGeom>
          <a:solidFill xmlns:a="http://schemas.openxmlformats.org/drawingml/2006/main">
            <a:srgbClr val="FF5A6E"/>
          </a:solidFill>
        </p:spPr>
      </p:sp>
      <p:pic>
        <p:nvPicPr>
          <p:cNvPr id="41" name="Image 2"/>
          <p:cNvPicPr>
            <a:picLocks xmlns:a="http://schemas.openxmlformats.org/drawingml/2006/main" noChangeAspect="1"/>
          </p:cNvPicPr>
          <p:nvPr/>
        </p:nvPicPr>
        <p:blipFill>
          <a:blip xmlns:r="http://schemas.openxmlformats.org/officeDocument/2006/relationships" xmlns:a="http://schemas.openxmlformats.org/drawingml/2006/main" r:embed="R3ce211f9cad0444a"/>
          <a:stretch xmlns:a="http://schemas.openxmlformats.org/drawingml/2006/main">
            <a:fillRect l="0" t="0" r="0" b="0"/>
          </a:stretch>
        </p:blipFill>
        <p:spPr>
          <a:xfrm xmlns:a="http://schemas.openxmlformats.org/drawingml/2006/main">
            <a:off x="8532815" y="3211007"/>
            <a:ext cx="289682" cy="289682"/>
          </a:xfrm>
          <a:prstGeom xmlns:a="http://schemas.openxmlformats.org/drawingml/2006/main" prst="rect">
            <a:avLst/>
          </a:prstGeom>
        </p:spPr>
      </p:pic>
      <p:sp>
        <p:nvSpPr>
          <p:cNvPr id="18" name="Text 13">
            <a:extLst xmlns:a="http://schemas.openxmlformats.org/drawingml/2006/main">
              <a:ext uri="{FF2B5EF4-FFF2-40B4-BE49-F238E27FC236}">
                <a16:creationId xmlns:a16="http://schemas.microsoft.com/office/drawing/2014/main" id="{FA919650-EF9E-4662-9793-24ED1F171CA4}"/>
              </a:ext>
            </a:extLst>
          </p:cNvPr>
          <p:cNvSpPr>
            <a:spLocks xmlns:a="http://schemas.openxmlformats.org/drawingml/2006/main" noGrp="1"/>
          </p:cNvSpPr>
          <p:nvPr/>
        </p:nvSpPr>
        <p:spPr>
          <a:xfrm xmlns:a="http://schemas.openxmlformats.org/drawingml/2006/main">
            <a:off x="8375904" y="3822192"/>
            <a:ext cx="288036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0000"/>
              </a:lnSpc>
              <a:buNone/>
            </a:pPr>
            <a:r>
              <a:rPr sz="1550" b="1">
                <a:solidFill>
                  <a:srgbClr val="FFFFFF"/>
                </a:solidFill>
                <a:latin typeface="Arial"/>
                <a:ea typeface="Arial"/>
                <a:cs typeface="Arial"/>
              </a:rPr>
              <a:t>Different app, different job</a:t>
            </a:r>
            <a:endParaRPr sz="1550"/>
          </a:p>
        </p:txBody>
      </p:sp>
      <p:sp>
        <p:nvSpPr>
          <p:cNvPr id="19" name="Text 14">
            <a:extLst xmlns:a="http://schemas.openxmlformats.org/drawingml/2006/main">
              <a:ext uri="{FF2B5EF4-FFF2-40B4-BE49-F238E27FC236}">
                <a16:creationId xmlns:a16="http://schemas.microsoft.com/office/drawing/2014/main" id="{FF39394C-E44E-4386-B36A-759AC2340242}"/>
              </a:ext>
            </a:extLst>
          </p:cNvPr>
          <p:cNvSpPr>
            <a:spLocks xmlns:a="http://schemas.openxmlformats.org/drawingml/2006/main" noGrp="1"/>
          </p:cNvSpPr>
          <p:nvPr/>
        </p:nvSpPr>
        <p:spPr>
          <a:xfrm xmlns:a="http://schemas.openxmlformats.org/drawingml/2006/main">
            <a:off x="8375904" y="4526280"/>
            <a:ext cx="2880360" cy="9601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3000"/>
              </a:lnSpc>
              <a:buNone/>
            </a:pPr>
            <a:r>
              <a:rPr sz="1200">
                <a:solidFill>
                  <a:srgbClr val="CBD5F0"/>
                </a:solidFill>
                <a:latin typeface="Arial"/>
                <a:ea typeface="Arial"/>
                <a:cs typeface="Arial"/>
              </a:rPr>
              <a:t>People keep several feeds open for different moods. Commerce splits the same way: a “cheap random stuff” app and a separate “affordable but stylish” one.</a:t>
            </a:r>
            <a:endParaRPr sz="1200"/>
          </a:p>
        </p:txBody>
      </p:sp>
      <p:sp>
        <p:nvSpPr>
          <p:cNvPr id="20" name="Text 15">
            <a:extLst xmlns:a="http://schemas.openxmlformats.org/drawingml/2006/main">
              <a:ext uri="{FF2B5EF4-FFF2-40B4-BE49-F238E27FC236}">
                <a16:creationId xmlns:a16="http://schemas.microsoft.com/office/drawing/2014/main" id="{4A26FE95-D219-4D11-9E29-9CE0E85A14B9}"/>
              </a:ext>
            </a:extLst>
          </p:cNvPr>
          <p:cNvSpPr>
            <a:spLocks xmlns:a="http://schemas.openxmlformats.org/drawingml/2006/main" noGrp="1"/>
          </p:cNvSpPr>
          <p:nvPr/>
        </p:nvSpPr>
        <p:spPr>
          <a:xfrm xmlns:a="http://schemas.openxmlformats.org/drawingml/2006/main">
            <a:off x="640080" y="589788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a:solidFill>
                  <a:srgbClr val="9AA3B2"/>
                </a:solidFill>
                <a:latin typeface="Arial"/>
                <a:ea typeface="Arial"/>
                <a:cs typeface="Arial"/>
              </a:rPr>
              <a:t>We don't beat Temu on breadth. We remove the reseller layer, curate a different slice of the same supply, and add trust before shipping.</a:t>
            </a:r>
            <a:endParaRPr sz="1350"/>
          </a:p>
        </p:txBody>
      </p:sp>
      <p:sp>
        <p:nvSpPr>
          <p:cNvPr id="21" name="Text 16">
            <a:extLst xmlns:a="http://schemas.openxmlformats.org/drawingml/2006/main">
              <a:ext uri="{FF2B5EF4-FFF2-40B4-BE49-F238E27FC236}">
                <a16:creationId xmlns:a16="http://schemas.microsoft.com/office/drawing/2014/main" id="{1280A264-55FF-42B4-BC3E-9D0B8D14CB83}"/>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AA3B2"/>
                </a:solidFill>
                <a:latin typeface="Arial"/>
                <a:ea typeface="Arial"/>
                <a:cs typeface="Arial"/>
              </a:rPr>
              <a:t>SuperCheap.market  ·  working name</a:t>
            </a:r>
            <a:endParaRPr sz="900"/>
          </a:p>
        </p:txBody>
      </p:sp>
      <p:sp>
        <p:nvSpPr>
          <p:cNvPr id="22" name="Text 17">
            <a:extLst xmlns:a="http://schemas.openxmlformats.org/drawingml/2006/main">
              <a:ext uri="{FF2B5EF4-FFF2-40B4-BE49-F238E27FC236}">
                <a16:creationId xmlns:a16="http://schemas.microsoft.com/office/drawing/2014/main" id="{2E7A2C7C-3B37-44A2-A7C1-A7EF94FB2D8C}"/>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AA3B2"/>
                </a:solidFill>
                <a:latin typeface="Arial"/>
                <a:ea typeface="Arial"/>
                <a:cs typeface="Arial"/>
              </a:rPr>
              <a:t>4</a:t>
            </a:r>
            <a:endParaRPr sz="900"/>
          </a:p>
        </p:txBody>
      </p:sp>
    </p:spTree>
    <p:extLst>
      <p:ext uri="{BB962C8B-B14F-4D97-AF65-F5344CB8AC3E}">
        <p14:creationId xmlns:p14="http://schemas.microsoft.com/office/powerpoint/2010/main" val="905403856"/>
      </p:ext>
    </p:extLst>
  </p:cSld>
</p:sld>
</file>

<file path=ppt/slides/slide5.xml><?xml version="1.0" encoding="utf-8"?>
<p:sld xmlns:p="http://schemas.openxmlformats.org/presentationml/2006/main">
  <p:cSld>
    <p:bg>
      <p:bgPr>
        <a:solidFill xmlns:a="http://schemas.openxmlformats.org/drawingml/2006/main">
          <a:srgbClr val="F7F5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C548AAB-BCB4-4503-AA30-4B2E493E6AAB}"/>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FF5A6E"/>
                </a:solidFill>
                <a:latin typeface="Arial"/>
                <a:ea typeface="Arial"/>
                <a:cs typeface="Arial"/>
              </a:rPr>
              <a:t>SOLUTION</a:t>
            </a:r>
            <a:endParaRPr sz="1200"/>
          </a:p>
        </p:txBody>
      </p:sp>
      <p:sp>
        <p:nvSpPr>
          <p:cNvPr id="3" name="Text 1">
            <a:extLst xmlns:a="http://schemas.openxmlformats.org/drawingml/2006/main">
              <a:ext uri="{FF2B5EF4-FFF2-40B4-BE49-F238E27FC236}">
                <a16:creationId xmlns:a16="http://schemas.microsoft.com/office/drawing/2014/main" id="{DA6E46FE-A30D-42E3-B8D9-35DCC8A12705}"/>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A2138"/>
                </a:solidFill>
                <a:latin typeface="Cambria"/>
                <a:ea typeface="Cambria"/>
                <a:cs typeface="Cambria"/>
              </a:rPr>
              <a:t>A factory-direct feed with a trust layer no one else ships</a:t>
            </a:r>
            <a:endParaRPr sz="3200"/>
          </a:p>
        </p:txBody>
      </p:sp>
      <p:sp>
        <p:nvSpPr>
          <p:cNvPr id="4" name="Shape 2">
            <a:extLst xmlns:a="http://schemas.openxmlformats.org/drawingml/2006/main">
              <a:ext uri="{FF2B5EF4-FFF2-40B4-BE49-F238E27FC236}">
                <a16:creationId xmlns:a16="http://schemas.microsoft.com/office/drawing/2014/main" id="{EE35FFB9-F8DE-4F5B-A7B0-9C0476096DF8}"/>
              </a:ext>
            </a:extLst>
          </p:cNvPr>
          <p:cNvSpPr>
            <a:spLocks xmlns:a="http://schemas.openxmlformats.org/drawingml/2006/main" noGrp="1"/>
          </p:cNvSpPr>
          <p:nvPr/>
        </p:nvSpPr>
        <p:spPr>
          <a:xfrm xmlns:a="http://schemas.openxmlformats.org/drawingml/2006/main">
            <a:off x="640080"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Shape 3">
            <a:extLst xmlns:a="http://schemas.openxmlformats.org/drawingml/2006/main">
              <a:ext uri="{FF2B5EF4-FFF2-40B4-BE49-F238E27FC236}">
                <a16:creationId xmlns:a16="http://schemas.microsoft.com/office/drawing/2014/main" id="{E91B540B-503F-412C-A398-CDD2286D9CF1}"/>
              </a:ext>
            </a:extLst>
          </p:cNvPr>
          <p:cNvSpPr>
            <a:spLocks xmlns:a="http://schemas.openxmlformats.org/drawingml/2006/main" noGrp="1"/>
          </p:cNvSpPr>
          <p:nvPr/>
        </p:nvSpPr>
        <p:spPr>
          <a:xfrm xmlns:a="http://schemas.openxmlformats.org/drawingml/2006/main">
            <a:off x="914400" y="2167128"/>
            <a:ext cx="548640" cy="548640"/>
          </a:xfrm>
          <a:prstGeom xmlns:a="http://schemas.openxmlformats.org/drawingml/2006/main" prst="ellipse">
            <a:avLst/>
          </a:prstGeom>
          <a:solidFill xmlns:a="http://schemas.openxmlformats.org/drawingml/2006/main">
            <a:srgbClr val="FF5A6E"/>
          </a:solidFill>
        </p:spPr>
      </p:sp>
      <p:pic>
        <p:nvPicPr>
          <p:cNvPr id="47" name="Image 0"/>
          <p:cNvPicPr>
            <a:picLocks xmlns:a="http://schemas.openxmlformats.org/drawingml/2006/main" noChangeAspect="1"/>
          </p:cNvPicPr>
          <p:nvPr/>
        </p:nvPicPr>
        <p:blipFill>
          <a:blip xmlns:r="http://schemas.openxmlformats.org/officeDocument/2006/relationships" xmlns:a="http://schemas.openxmlformats.org/drawingml/2006/main" r:embed="R013039814ffd4472"/>
          <a:stretch xmlns:a="http://schemas.openxmlformats.org/drawingml/2006/main">
            <a:fillRect l="0" t="0" r="0" b="0"/>
          </a:stretch>
        </p:blipFill>
        <p:spPr>
          <a:xfrm xmlns:a="http://schemas.openxmlformats.org/drawingml/2006/main">
            <a:off x="1057046" y="2309774"/>
            <a:ext cx="263347" cy="263347"/>
          </a:xfrm>
          <a:prstGeom xmlns:a="http://schemas.openxmlformats.org/drawingml/2006/main" prst="rect">
            <a:avLst/>
          </a:prstGeom>
        </p:spPr>
      </p:pic>
      <p:sp>
        <p:nvSpPr>
          <p:cNvPr id="7" name="Text 4">
            <a:extLst xmlns:a="http://schemas.openxmlformats.org/drawingml/2006/main">
              <a:ext uri="{FF2B5EF4-FFF2-40B4-BE49-F238E27FC236}">
                <a16:creationId xmlns:a16="http://schemas.microsoft.com/office/drawing/2014/main" id="{DADAAFA4-AE7C-4BA1-BBF4-2600B5B2748D}"/>
              </a:ext>
            </a:extLst>
          </p:cNvPr>
          <p:cNvSpPr>
            <a:spLocks xmlns:a="http://schemas.openxmlformats.org/drawingml/2006/main" noGrp="1"/>
          </p:cNvSpPr>
          <p:nvPr/>
        </p:nvSpPr>
        <p:spPr>
          <a:xfrm xmlns:a="http://schemas.openxmlformats.org/drawingml/2006/main">
            <a:off x="1600200"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A2138"/>
                </a:solidFill>
                <a:latin typeface="Arial"/>
                <a:ea typeface="Arial"/>
                <a:cs typeface="Arial"/>
              </a:rPr>
              <a:t>Curated stylish feed</a:t>
            </a:r>
            <a:endParaRPr sz="1400"/>
          </a:p>
        </p:txBody>
      </p:sp>
      <p:sp>
        <p:nvSpPr>
          <p:cNvPr id="8" name="Text 5">
            <a:extLst xmlns:a="http://schemas.openxmlformats.org/drawingml/2006/main">
              <a:ext uri="{FF2B5EF4-FFF2-40B4-BE49-F238E27FC236}">
                <a16:creationId xmlns:a16="http://schemas.microsoft.com/office/drawing/2014/main" id="{2CF9B0B5-E6F2-4E2F-8D11-B971D7DD3648}"/>
              </a:ext>
            </a:extLst>
          </p:cNvPr>
          <p:cNvSpPr>
            <a:spLocks xmlns:a="http://schemas.openxmlformats.org/drawingml/2006/main" noGrp="1"/>
          </p:cNvSpPr>
          <p:nvPr/>
        </p:nvSpPr>
        <p:spPr>
          <a:xfrm xmlns:a="http://schemas.openxmlformats.org/drawingml/2006/main">
            <a:off x="914400"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B7280"/>
                </a:solidFill>
                <a:latin typeface="Arial"/>
                <a:ea typeface="Arial"/>
                <a:cs typeface="Arial"/>
              </a:rPr>
              <a:t>TikTok/Pinterest looks matched to real in-stock items, personalized for young women.</a:t>
            </a:r>
            <a:endParaRPr sz="1130"/>
          </a:p>
        </p:txBody>
      </p:sp>
      <p:sp>
        <p:nvSpPr>
          <p:cNvPr id="9" name="Shape 6">
            <a:extLst xmlns:a="http://schemas.openxmlformats.org/drawingml/2006/main">
              <a:ext uri="{FF2B5EF4-FFF2-40B4-BE49-F238E27FC236}">
                <a16:creationId xmlns:a16="http://schemas.microsoft.com/office/drawing/2014/main" id="{C7F61C27-3518-497F-B39C-84A08016A199}"/>
              </a:ext>
            </a:extLst>
          </p:cNvPr>
          <p:cNvSpPr>
            <a:spLocks xmlns:a="http://schemas.openxmlformats.org/drawingml/2006/main" noGrp="1"/>
          </p:cNvSpPr>
          <p:nvPr/>
        </p:nvSpPr>
        <p:spPr>
          <a:xfrm xmlns:a="http://schemas.openxmlformats.org/drawingml/2006/main">
            <a:off x="4361688"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0" name="Shape 7">
            <a:extLst xmlns:a="http://schemas.openxmlformats.org/drawingml/2006/main">
              <a:ext uri="{FF2B5EF4-FFF2-40B4-BE49-F238E27FC236}">
                <a16:creationId xmlns:a16="http://schemas.microsoft.com/office/drawing/2014/main" id="{4291F46A-D8B7-491C-B184-AC63430F609A}"/>
              </a:ext>
            </a:extLst>
          </p:cNvPr>
          <p:cNvSpPr>
            <a:spLocks xmlns:a="http://schemas.openxmlformats.org/drawingml/2006/main" noGrp="1"/>
          </p:cNvSpPr>
          <p:nvPr/>
        </p:nvSpPr>
        <p:spPr>
          <a:xfrm xmlns:a="http://schemas.openxmlformats.org/drawingml/2006/main">
            <a:off x="4636008" y="2167128"/>
            <a:ext cx="548640" cy="548640"/>
          </a:xfrm>
          <a:prstGeom xmlns:a="http://schemas.openxmlformats.org/drawingml/2006/main" prst="ellipse">
            <a:avLst/>
          </a:prstGeom>
          <a:solidFill xmlns:a="http://schemas.openxmlformats.org/drawingml/2006/main">
            <a:srgbClr val="FF5A6E"/>
          </a:solidFill>
        </p:spPr>
      </p:sp>
      <p:pic>
        <p:nvPicPr>
          <p:cNvPr id="52" name="Image 1"/>
          <p:cNvPicPr>
            <a:picLocks xmlns:a="http://schemas.openxmlformats.org/drawingml/2006/main" noChangeAspect="1"/>
          </p:cNvPicPr>
          <p:nvPr/>
        </p:nvPicPr>
        <p:blipFill>
          <a:blip xmlns:r="http://schemas.openxmlformats.org/officeDocument/2006/relationships" xmlns:a="http://schemas.openxmlformats.org/drawingml/2006/main" r:embed="R12f1a511b54d4dda"/>
          <a:stretch xmlns:a="http://schemas.openxmlformats.org/drawingml/2006/main">
            <a:fillRect l="0" t="0" r="0" b="0"/>
          </a:stretch>
        </p:blipFill>
        <p:spPr>
          <a:xfrm xmlns:a="http://schemas.openxmlformats.org/drawingml/2006/main">
            <a:off x="4778654" y="2309774"/>
            <a:ext cx="263347" cy="263347"/>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75BC7DF7-E521-48F9-8B89-C5DB121B5F31}"/>
              </a:ext>
            </a:extLst>
          </p:cNvPr>
          <p:cNvSpPr>
            <a:spLocks xmlns:a="http://schemas.openxmlformats.org/drawingml/2006/main" noGrp="1"/>
          </p:cNvSpPr>
          <p:nvPr/>
        </p:nvSpPr>
        <p:spPr>
          <a:xfrm xmlns:a="http://schemas.openxmlformats.org/drawingml/2006/main">
            <a:off x="5321808"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A2138"/>
                </a:solidFill>
                <a:latin typeface="Arial"/>
                <a:ea typeface="Arial"/>
                <a:cs typeface="Arial"/>
              </a:rPr>
              <a:t>Pre-ship studio photo</a:t>
            </a:r>
            <a:endParaRPr sz="1400"/>
          </a:p>
        </p:txBody>
      </p:sp>
      <p:sp>
        <p:nvSpPr>
          <p:cNvPr id="13" name="Text 9">
            <a:extLst xmlns:a="http://schemas.openxmlformats.org/drawingml/2006/main">
              <a:ext uri="{FF2B5EF4-FFF2-40B4-BE49-F238E27FC236}">
                <a16:creationId xmlns:a16="http://schemas.microsoft.com/office/drawing/2014/main" id="{04754187-71F1-4562-A494-CF6FA3E62D4E}"/>
              </a:ext>
            </a:extLst>
          </p:cNvPr>
          <p:cNvSpPr>
            <a:spLocks xmlns:a="http://schemas.openxmlformats.org/drawingml/2006/main" noGrp="1"/>
          </p:cNvSpPr>
          <p:nvPr/>
        </p:nvSpPr>
        <p:spPr>
          <a:xfrm xmlns:a="http://schemas.openxmlformats.org/drawingml/2006/main">
            <a:off x="4636008"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B7280"/>
                </a:solidFill>
                <a:latin typeface="Arial"/>
                <a:ea typeface="Arial"/>
                <a:cs typeface="Arial"/>
              </a:rPr>
              <a:t>Before we ship, she sees the actual item shot on a measurement grid under good lighting.</a:t>
            </a:r>
            <a:endParaRPr sz="1130"/>
          </a:p>
        </p:txBody>
      </p:sp>
      <p:sp>
        <p:nvSpPr>
          <p:cNvPr id="14" name="Shape 10">
            <a:extLst xmlns:a="http://schemas.openxmlformats.org/drawingml/2006/main">
              <a:ext uri="{FF2B5EF4-FFF2-40B4-BE49-F238E27FC236}">
                <a16:creationId xmlns:a16="http://schemas.microsoft.com/office/drawing/2014/main" id="{50F01EAE-F967-48FB-B838-86A8C6755D45}"/>
              </a:ext>
            </a:extLst>
          </p:cNvPr>
          <p:cNvSpPr>
            <a:spLocks xmlns:a="http://schemas.openxmlformats.org/drawingml/2006/main" noGrp="1"/>
          </p:cNvSpPr>
          <p:nvPr/>
        </p:nvSpPr>
        <p:spPr>
          <a:xfrm xmlns:a="http://schemas.openxmlformats.org/drawingml/2006/main">
            <a:off x="8083296" y="1874520"/>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5" name="Shape 11">
            <a:extLst xmlns:a="http://schemas.openxmlformats.org/drawingml/2006/main">
              <a:ext uri="{FF2B5EF4-FFF2-40B4-BE49-F238E27FC236}">
                <a16:creationId xmlns:a16="http://schemas.microsoft.com/office/drawing/2014/main" id="{58228ACF-F8FE-46F5-9595-734E79289F96}"/>
              </a:ext>
            </a:extLst>
          </p:cNvPr>
          <p:cNvSpPr>
            <a:spLocks xmlns:a="http://schemas.openxmlformats.org/drawingml/2006/main" noGrp="1"/>
          </p:cNvSpPr>
          <p:nvPr/>
        </p:nvSpPr>
        <p:spPr>
          <a:xfrm xmlns:a="http://schemas.openxmlformats.org/drawingml/2006/main">
            <a:off x="8357616" y="2167128"/>
            <a:ext cx="548640" cy="548640"/>
          </a:xfrm>
          <a:prstGeom xmlns:a="http://schemas.openxmlformats.org/drawingml/2006/main" prst="ellipse">
            <a:avLst/>
          </a:prstGeom>
          <a:solidFill xmlns:a="http://schemas.openxmlformats.org/drawingml/2006/main">
            <a:srgbClr val="FF5A6E"/>
          </a:solidFill>
        </p:spPr>
      </p:sp>
      <p:pic>
        <p:nvPicPr>
          <p:cNvPr id="57" name="Image 2"/>
          <p:cNvPicPr>
            <a:picLocks xmlns:a="http://schemas.openxmlformats.org/drawingml/2006/main" noChangeAspect="1"/>
          </p:cNvPicPr>
          <p:nvPr/>
        </p:nvPicPr>
        <p:blipFill>
          <a:blip xmlns:r="http://schemas.openxmlformats.org/officeDocument/2006/relationships" xmlns:a="http://schemas.openxmlformats.org/drawingml/2006/main" r:embed="R3c30edf30d784e74"/>
          <a:stretch xmlns:a="http://schemas.openxmlformats.org/drawingml/2006/main">
            <a:fillRect l="0" t="0" r="0" b="0"/>
          </a:stretch>
        </p:blipFill>
        <p:spPr>
          <a:xfrm xmlns:a="http://schemas.openxmlformats.org/drawingml/2006/main">
            <a:off x="8500262" y="2309774"/>
            <a:ext cx="263347" cy="263347"/>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FFD2DC1C-7CEF-4F0C-B6C3-9FA33E325ACC}"/>
              </a:ext>
            </a:extLst>
          </p:cNvPr>
          <p:cNvSpPr>
            <a:spLocks xmlns:a="http://schemas.openxmlformats.org/drawingml/2006/main" noGrp="1"/>
          </p:cNvSpPr>
          <p:nvPr/>
        </p:nvSpPr>
        <p:spPr>
          <a:xfrm xmlns:a="http://schemas.openxmlformats.org/drawingml/2006/main">
            <a:off x="9043416" y="2185416"/>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A2138"/>
                </a:solidFill>
                <a:latin typeface="Arial"/>
                <a:ea typeface="Arial"/>
                <a:cs typeface="Arial"/>
              </a:rPr>
              <a:t>See true size &amp; quality</a:t>
            </a:r>
            <a:endParaRPr sz="1400"/>
          </a:p>
        </p:txBody>
      </p:sp>
      <p:sp>
        <p:nvSpPr>
          <p:cNvPr id="18" name="Text 13">
            <a:extLst xmlns:a="http://schemas.openxmlformats.org/drawingml/2006/main">
              <a:ext uri="{FF2B5EF4-FFF2-40B4-BE49-F238E27FC236}">
                <a16:creationId xmlns:a16="http://schemas.microsoft.com/office/drawing/2014/main" id="{957F6067-E44F-47AC-BC43-41B93DEE3ABC}"/>
              </a:ext>
            </a:extLst>
          </p:cNvPr>
          <p:cNvSpPr>
            <a:spLocks xmlns:a="http://schemas.openxmlformats.org/drawingml/2006/main" noGrp="1"/>
          </p:cNvSpPr>
          <p:nvPr/>
        </p:nvSpPr>
        <p:spPr>
          <a:xfrm xmlns:a="http://schemas.openxmlformats.org/drawingml/2006/main">
            <a:off x="8357616" y="2770632"/>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B7280"/>
                </a:solidFill>
                <a:latin typeface="Arial"/>
                <a:ea typeface="Arial"/>
                <a:cs typeface="Arial"/>
              </a:rPr>
              <a:t>The grid shows real measurements and finish, so “will it fit?” gets an answer up front.</a:t>
            </a:r>
            <a:endParaRPr sz="1130"/>
          </a:p>
        </p:txBody>
      </p:sp>
      <p:sp>
        <p:nvSpPr>
          <p:cNvPr id="19" name="Shape 14">
            <a:extLst xmlns:a="http://schemas.openxmlformats.org/drawingml/2006/main">
              <a:ext uri="{FF2B5EF4-FFF2-40B4-BE49-F238E27FC236}">
                <a16:creationId xmlns:a16="http://schemas.microsoft.com/office/drawing/2014/main" id="{E6AEC114-4B05-470C-A116-FB0B721A2659}"/>
              </a:ext>
            </a:extLst>
          </p:cNvPr>
          <p:cNvSpPr>
            <a:spLocks xmlns:a="http://schemas.openxmlformats.org/drawingml/2006/main" noGrp="1"/>
          </p:cNvSpPr>
          <p:nvPr/>
        </p:nvSpPr>
        <p:spPr>
          <a:xfrm xmlns:a="http://schemas.openxmlformats.org/drawingml/2006/main">
            <a:off x="640080"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0" name="Shape 15">
            <a:extLst xmlns:a="http://schemas.openxmlformats.org/drawingml/2006/main">
              <a:ext uri="{FF2B5EF4-FFF2-40B4-BE49-F238E27FC236}">
                <a16:creationId xmlns:a16="http://schemas.microsoft.com/office/drawing/2014/main" id="{292C6B50-FC35-4B0D-9088-C077B8A67450}"/>
              </a:ext>
            </a:extLst>
          </p:cNvPr>
          <p:cNvSpPr>
            <a:spLocks xmlns:a="http://schemas.openxmlformats.org/drawingml/2006/main" noGrp="1"/>
          </p:cNvSpPr>
          <p:nvPr/>
        </p:nvSpPr>
        <p:spPr>
          <a:xfrm xmlns:a="http://schemas.openxmlformats.org/drawingml/2006/main">
            <a:off x="914400" y="3977640"/>
            <a:ext cx="548640" cy="548640"/>
          </a:xfrm>
          <a:prstGeom xmlns:a="http://schemas.openxmlformats.org/drawingml/2006/main" prst="ellipse">
            <a:avLst/>
          </a:prstGeom>
          <a:solidFill xmlns:a="http://schemas.openxmlformats.org/drawingml/2006/main">
            <a:srgbClr val="FF5A6E"/>
          </a:solidFill>
        </p:spPr>
      </p:sp>
      <p:pic>
        <p:nvPicPr>
          <p:cNvPr id="62" name="Image 3"/>
          <p:cNvPicPr>
            <a:picLocks xmlns:a="http://schemas.openxmlformats.org/drawingml/2006/main" noChangeAspect="1"/>
          </p:cNvPicPr>
          <p:nvPr/>
        </p:nvPicPr>
        <p:blipFill>
          <a:blip xmlns:r="http://schemas.openxmlformats.org/officeDocument/2006/relationships" xmlns:a="http://schemas.openxmlformats.org/drawingml/2006/main" r:embed="Rbbecebe78ec34e57"/>
          <a:stretch xmlns:a="http://schemas.openxmlformats.org/drawingml/2006/main">
            <a:fillRect l="0" t="0" r="0" b="0"/>
          </a:stretch>
        </p:blipFill>
        <p:spPr>
          <a:xfrm xmlns:a="http://schemas.openxmlformats.org/drawingml/2006/main">
            <a:off x="1057046" y="4120286"/>
            <a:ext cx="263347" cy="263347"/>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29298BE3-C55C-4918-8217-ABC189C38F6D}"/>
              </a:ext>
            </a:extLst>
          </p:cNvPr>
          <p:cNvSpPr>
            <a:spLocks xmlns:a="http://schemas.openxmlformats.org/drawingml/2006/main" noGrp="1"/>
          </p:cNvSpPr>
          <p:nvPr/>
        </p:nvSpPr>
        <p:spPr>
          <a:xfrm xmlns:a="http://schemas.openxmlformats.org/drawingml/2006/main">
            <a:off x="1600200"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A2138"/>
                </a:solidFill>
                <a:latin typeface="Arial"/>
                <a:ea typeface="Arial"/>
                <a:cs typeface="Arial"/>
              </a:rPr>
              <a:t>Refuse at our warehouse</a:t>
            </a:r>
            <a:endParaRPr sz="1400"/>
          </a:p>
        </p:txBody>
      </p:sp>
      <p:sp>
        <p:nvSpPr>
          <p:cNvPr id="23" name="Text 17">
            <a:extLst xmlns:a="http://schemas.openxmlformats.org/drawingml/2006/main">
              <a:ext uri="{FF2B5EF4-FFF2-40B4-BE49-F238E27FC236}">
                <a16:creationId xmlns:a16="http://schemas.microsoft.com/office/drawing/2014/main" id="{7A1405A2-26AB-408E-B5E7-299D0D664A4B}"/>
              </a:ext>
            </a:extLst>
          </p:cNvPr>
          <p:cNvSpPr>
            <a:spLocks xmlns:a="http://schemas.openxmlformats.org/drawingml/2006/main" noGrp="1"/>
          </p:cNvSpPr>
          <p:nvPr/>
        </p:nvSpPr>
        <p:spPr>
          <a:xfrm xmlns:a="http://schemas.openxmlformats.org/drawingml/2006/main">
            <a:off x="914400"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B7280"/>
                </a:solidFill>
                <a:latin typeface="Arial"/>
                <a:ea typeface="Arial"/>
                <a:cs typeface="Arial"/>
              </a:rPr>
              <a:t>If it's not right, she declines it at our hub and doesn't lose her money.</a:t>
            </a:r>
            <a:endParaRPr sz="1130"/>
          </a:p>
        </p:txBody>
      </p:sp>
      <p:sp>
        <p:nvSpPr>
          <p:cNvPr id="24" name="Shape 18">
            <a:extLst xmlns:a="http://schemas.openxmlformats.org/drawingml/2006/main">
              <a:ext uri="{FF2B5EF4-FFF2-40B4-BE49-F238E27FC236}">
                <a16:creationId xmlns:a16="http://schemas.microsoft.com/office/drawing/2014/main" id="{383968BD-4805-4A94-8820-EE8BFDC9FFBE}"/>
              </a:ext>
            </a:extLst>
          </p:cNvPr>
          <p:cNvSpPr>
            <a:spLocks xmlns:a="http://schemas.openxmlformats.org/drawingml/2006/main" noGrp="1"/>
          </p:cNvSpPr>
          <p:nvPr/>
        </p:nvSpPr>
        <p:spPr>
          <a:xfrm xmlns:a="http://schemas.openxmlformats.org/drawingml/2006/main">
            <a:off x="4361688"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5" name="Shape 19">
            <a:extLst xmlns:a="http://schemas.openxmlformats.org/drawingml/2006/main">
              <a:ext uri="{FF2B5EF4-FFF2-40B4-BE49-F238E27FC236}">
                <a16:creationId xmlns:a16="http://schemas.microsoft.com/office/drawing/2014/main" id="{9E1C89D2-E47C-4651-9466-C120067CC99E}"/>
              </a:ext>
            </a:extLst>
          </p:cNvPr>
          <p:cNvSpPr>
            <a:spLocks xmlns:a="http://schemas.openxmlformats.org/drawingml/2006/main" noGrp="1"/>
          </p:cNvSpPr>
          <p:nvPr/>
        </p:nvSpPr>
        <p:spPr>
          <a:xfrm xmlns:a="http://schemas.openxmlformats.org/drawingml/2006/main">
            <a:off x="4636008" y="3977640"/>
            <a:ext cx="548640" cy="548640"/>
          </a:xfrm>
          <a:prstGeom xmlns:a="http://schemas.openxmlformats.org/drawingml/2006/main" prst="ellipse">
            <a:avLst/>
          </a:prstGeom>
          <a:solidFill xmlns:a="http://schemas.openxmlformats.org/drawingml/2006/main">
            <a:srgbClr val="FF5A6E"/>
          </a:solidFill>
        </p:spPr>
      </p:sp>
      <p:pic>
        <p:nvPicPr>
          <p:cNvPr id="67" name="Image 4"/>
          <p:cNvPicPr>
            <a:picLocks xmlns:a="http://schemas.openxmlformats.org/drawingml/2006/main" noChangeAspect="1"/>
          </p:cNvPicPr>
          <p:nvPr/>
        </p:nvPicPr>
        <p:blipFill>
          <a:blip xmlns:r="http://schemas.openxmlformats.org/officeDocument/2006/relationships" xmlns:a="http://schemas.openxmlformats.org/drawingml/2006/main" r:embed="Rec5931868bdd48bb"/>
          <a:stretch xmlns:a="http://schemas.openxmlformats.org/drawingml/2006/main">
            <a:fillRect l="0" t="0" r="0" b="0"/>
          </a:stretch>
        </p:blipFill>
        <p:spPr>
          <a:xfrm xmlns:a="http://schemas.openxmlformats.org/drawingml/2006/main">
            <a:off x="4778654" y="4120286"/>
            <a:ext cx="263347" cy="263347"/>
          </a:xfrm>
          <a:prstGeom xmlns:a="http://schemas.openxmlformats.org/drawingml/2006/main" prst="rect">
            <a:avLst/>
          </a:prstGeom>
        </p:spPr>
      </p:pic>
      <p:sp>
        <p:nvSpPr>
          <p:cNvPr id="27" name="Text 20">
            <a:extLst xmlns:a="http://schemas.openxmlformats.org/drawingml/2006/main">
              <a:ext uri="{FF2B5EF4-FFF2-40B4-BE49-F238E27FC236}">
                <a16:creationId xmlns:a16="http://schemas.microsoft.com/office/drawing/2014/main" id="{0C9707CE-5844-4521-ADE0-05AA50F4BFE8}"/>
              </a:ext>
            </a:extLst>
          </p:cNvPr>
          <p:cNvSpPr>
            <a:spLocks xmlns:a="http://schemas.openxmlformats.org/drawingml/2006/main" noGrp="1"/>
          </p:cNvSpPr>
          <p:nvPr/>
        </p:nvSpPr>
        <p:spPr>
          <a:xfrm xmlns:a="http://schemas.openxmlformats.org/drawingml/2006/main">
            <a:off x="5321808"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A2138"/>
                </a:solidFill>
                <a:latin typeface="Arial"/>
                <a:ea typeface="Arial"/>
                <a:cs typeface="Arial"/>
              </a:rPr>
              <a:t>Enhanced QC in China</a:t>
            </a:r>
            <a:endParaRPr sz="1400"/>
          </a:p>
        </p:txBody>
      </p:sp>
      <p:sp>
        <p:nvSpPr>
          <p:cNvPr id="28" name="Text 21">
            <a:extLst xmlns:a="http://schemas.openxmlformats.org/drawingml/2006/main">
              <a:ext uri="{FF2B5EF4-FFF2-40B4-BE49-F238E27FC236}">
                <a16:creationId xmlns:a16="http://schemas.microsoft.com/office/drawing/2014/main" id="{B56B9EDB-688F-42AD-BF91-BF702C5AFA7D}"/>
              </a:ext>
            </a:extLst>
          </p:cNvPr>
          <p:cNvSpPr>
            <a:spLocks xmlns:a="http://schemas.openxmlformats.org/drawingml/2006/main" noGrp="1"/>
          </p:cNvSpPr>
          <p:nvPr/>
        </p:nvSpPr>
        <p:spPr>
          <a:xfrm xmlns:a="http://schemas.openxmlformats.org/drawingml/2006/main">
            <a:off x="4636008"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B7280"/>
                </a:solidFill>
                <a:latin typeface="Arial"/>
                <a:ea typeface="Arial"/>
                <a:cs typeface="Arial"/>
              </a:rPr>
              <a:t>We inspect harder than generic platforms, because this audience won't tolerate junk.</a:t>
            </a:r>
            <a:endParaRPr sz="1130"/>
          </a:p>
        </p:txBody>
      </p:sp>
      <p:sp>
        <p:nvSpPr>
          <p:cNvPr id="29" name="Shape 22">
            <a:extLst xmlns:a="http://schemas.openxmlformats.org/drawingml/2006/main">
              <a:ext uri="{FF2B5EF4-FFF2-40B4-BE49-F238E27FC236}">
                <a16:creationId xmlns:a16="http://schemas.microsoft.com/office/drawing/2014/main" id="{D0C7EADF-5664-4C09-BDC4-2F4A145890C4}"/>
              </a:ext>
            </a:extLst>
          </p:cNvPr>
          <p:cNvSpPr>
            <a:spLocks xmlns:a="http://schemas.openxmlformats.org/drawingml/2006/main" noGrp="1"/>
          </p:cNvSpPr>
          <p:nvPr/>
        </p:nvSpPr>
        <p:spPr>
          <a:xfrm xmlns:a="http://schemas.openxmlformats.org/drawingml/2006/main">
            <a:off x="8083296" y="3685032"/>
            <a:ext cx="3429000" cy="1554480"/>
          </a:xfrm>
          <a:prstGeom xmlns:a="http://schemas.openxmlformats.org/drawingml/2006/main" prst="roundRect">
            <a:avLst>
              <a:gd name="adj" fmla="val 5294"/>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30" name="Shape 23">
            <a:extLst xmlns:a="http://schemas.openxmlformats.org/drawingml/2006/main">
              <a:ext uri="{FF2B5EF4-FFF2-40B4-BE49-F238E27FC236}">
                <a16:creationId xmlns:a16="http://schemas.microsoft.com/office/drawing/2014/main" id="{B02866C9-B2E5-4689-ABBE-D66460057E1B}"/>
              </a:ext>
            </a:extLst>
          </p:cNvPr>
          <p:cNvSpPr>
            <a:spLocks xmlns:a="http://schemas.openxmlformats.org/drawingml/2006/main" noGrp="1"/>
          </p:cNvSpPr>
          <p:nvPr/>
        </p:nvSpPr>
        <p:spPr>
          <a:xfrm xmlns:a="http://schemas.openxmlformats.org/drawingml/2006/main">
            <a:off x="8357616" y="3977640"/>
            <a:ext cx="548640" cy="548640"/>
          </a:xfrm>
          <a:prstGeom xmlns:a="http://schemas.openxmlformats.org/drawingml/2006/main" prst="ellipse">
            <a:avLst/>
          </a:prstGeom>
          <a:solidFill xmlns:a="http://schemas.openxmlformats.org/drawingml/2006/main">
            <a:srgbClr val="FF5A6E"/>
          </a:solidFill>
        </p:spPr>
      </p:sp>
      <p:pic>
        <p:nvPicPr>
          <p:cNvPr id="72" name="Image 5"/>
          <p:cNvPicPr>
            <a:picLocks xmlns:a="http://schemas.openxmlformats.org/drawingml/2006/main" noChangeAspect="1"/>
          </p:cNvPicPr>
          <p:nvPr/>
        </p:nvPicPr>
        <p:blipFill>
          <a:blip xmlns:r="http://schemas.openxmlformats.org/officeDocument/2006/relationships" xmlns:a="http://schemas.openxmlformats.org/drawingml/2006/main" r:embed="Rc16b6304f57b4dcb"/>
          <a:stretch xmlns:a="http://schemas.openxmlformats.org/drawingml/2006/main">
            <a:fillRect l="0" t="0" r="0" b="0"/>
          </a:stretch>
        </p:blipFill>
        <p:spPr>
          <a:xfrm xmlns:a="http://schemas.openxmlformats.org/drawingml/2006/main">
            <a:off x="8500262" y="4120286"/>
            <a:ext cx="263347" cy="263347"/>
          </a:xfrm>
          <a:prstGeom xmlns:a="http://schemas.openxmlformats.org/drawingml/2006/main" prst="rect">
            <a:avLst/>
          </a:prstGeom>
        </p:spPr>
      </p:pic>
      <p:sp>
        <p:nvSpPr>
          <p:cNvPr id="32" name="Text 24">
            <a:extLst xmlns:a="http://schemas.openxmlformats.org/drawingml/2006/main">
              <a:ext uri="{FF2B5EF4-FFF2-40B4-BE49-F238E27FC236}">
                <a16:creationId xmlns:a16="http://schemas.microsoft.com/office/drawing/2014/main" id="{0C421118-779F-42F6-A628-20ABBB035F93}"/>
              </a:ext>
            </a:extLst>
          </p:cNvPr>
          <p:cNvSpPr>
            <a:spLocks xmlns:a="http://schemas.openxmlformats.org/drawingml/2006/main" noGrp="1"/>
          </p:cNvSpPr>
          <p:nvPr/>
        </p:nvSpPr>
        <p:spPr>
          <a:xfrm xmlns:a="http://schemas.openxmlformats.org/drawingml/2006/main">
            <a:off x="9043416" y="3995928"/>
            <a:ext cx="228600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95000"/>
              </a:lnSpc>
              <a:buNone/>
            </a:pPr>
            <a:r>
              <a:rPr sz="1400" b="1">
                <a:solidFill>
                  <a:srgbClr val="1A2138"/>
                </a:solidFill>
                <a:latin typeface="Arial"/>
                <a:ea typeface="Arial"/>
                <a:cs typeface="Arial"/>
              </a:rPr>
              <a:t>Direct factory supply</a:t>
            </a:r>
            <a:endParaRPr sz="1400"/>
          </a:p>
        </p:txBody>
      </p:sp>
      <p:sp>
        <p:nvSpPr>
          <p:cNvPr id="33" name="Text 25">
            <a:extLst xmlns:a="http://schemas.openxmlformats.org/drawingml/2006/main">
              <a:ext uri="{FF2B5EF4-FFF2-40B4-BE49-F238E27FC236}">
                <a16:creationId xmlns:a16="http://schemas.microsoft.com/office/drawing/2014/main" id="{33378A64-C96B-4110-9A40-8C6BEC973F0D}"/>
              </a:ext>
            </a:extLst>
          </p:cNvPr>
          <p:cNvSpPr>
            <a:spLocks xmlns:a="http://schemas.openxmlformats.org/drawingml/2006/main" noGrp="1"/>
          </p:cNvSpPr>
          <p:nvPr/>
        </p:nvSpPr>
        <p:spPr>
          <a:xfrm xmlns:a="http://schemas.openxmlformats.org/drawingml/2006/main">
            <a:off x="8357616" y="4581144"/>
            <a:ext cx="29260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30">
                <a:solidFill>
                  <a:srgbClr val="6B7280"/>
                </a:solidFill>
                <a:latin typeface="Arial"/>
                <a:ea typeface="Arial"/>
                <a:cs typeface="Arial"/>
              </a:rPr>
              <a:t>Buy directly from real manufacturers. No reseller layer means lower prices and clearer accountability.</a:t>
            </a:r>
            <a:endParaRPr sz="1130"/>
          </a:p>
        </p:txBody>
      </p:sp>
      <p:sp>
        <p:nvSpPr>
          <p:cNvPr id="34" name="Text 26">
            <a:extLst xmlns:a="http://schemas.openxmlformats.org/drawingml/2006/main">
              <a:ext uri="{FF2B5EF4-FFF2-40B4-BE49-F238E27FC236}">
                <a16:creationId xmlns:a16="http://schemas.microsoft.com/office/drawing/2014/main" id="{31F00721-8F9C-4444-BF29-82B6F937A383}"/>
              </a:ext>
            </a:extLst>
          </p:cNvPr>
          <p:cNvSpPr>
            <a:spLocks xmlns:a="http://schemas.openxmlformats.org/drawingml/2006/main" noGrp="1"/>
          </p:cNvSpPr>
          <p:nvPr/>
        </p:nvSpPr>
        <p:spPr>
          <a:xfrm xmlns:a="http://schemas.openxmlformats.org/drawingml/2006/main">
            <a:off x="640080" y="5943600"/>
            <a:ext cx="108813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5A6E"/>
                </a:solidFill>
                <a:latin typeface="Arial"/>
                <a:ea typeface="Arial"/>
                <a:cs typeface="Arial"/>
              </a:rPr>
              <a:t>The wedge: sizing fear and quality doubt stop conversion and reorder. Direct supply keeps price low; we answer both before the box ships.</a:t>
            </a:r>
            <a:endParaRPr sz="1300"/>
          </a:p>
        </p:txBody>
      </p:sp>
      <p:sp>
        <p:nvSpPr>
          <p:cNvPr id="35" name="Text 27">
            <a:extLst xmlns:a="http://schemas.openxmlformats.org/drawingml/2006/main">
              <a:ext uri="{FF2B5EF4-FFF2-40B4-BE49-F238E27FC236}">
                <a16:creationId xmlns:a16="http://schemas.microsoft.com/office/drawing/2014/main" id="{85D60077-8669-40B0-A196-010A9296625D}"/>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280"/>
                </a:solidFill>
                <a:latin typeface="Arial"/>
                <a:ea typeface="Arial"/>
                <a:cs typeface="Arial"/>
              </a:rPr>
              <a:t>SuperCheap.market  ·  working name</a:t>
            </a:r>
            <a:endParaRPr sz="900"/>
          </a:p>
        </p:txBody>
      </p:sp>
      <p:sp>
        <p:nvSpPr>
          <p:cNvPr id="36" name="Text 28">
            <a:extLst xmlns:a="http://schemas.openxmlformats.org/drawingml/2006/main">
              <a:ext uri="{FF2B5EF4-FFF2-40B4-BE49-F238E27FC236}">
                <a16:creationId xmlns:a16="http://schemas.microsoft.com/office/drawing/2014/main" id="{1E7F1024-C891-439B-9FDE-3891D2DC73C8}"/>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7280"/>
                </a:solidFill>
                <a:latin typeface="Arial"/>
                <a:ea typeface="Arial"/>
                <a:cs typeface="Arial"/>
              </a:rPr>
              <a:t>5</a:t>
            </a:r>
            <a:endParaRPr sz="900"/>
          </a:p>
        </p:txBody>
      </p:sp>
    </p:spTree>
    <p:extLst>
      <p:ext uri="{BB962C8B-B14F-4D97-AF65-F5344CB8AC3E}">
        <p14:creationId xmlns:p14="http://schemas.microsoft.com/office/powerpoint/2010/main" val="238834531"/>
      </p:ext>
    </p:extLst>
  </p:cSld>
</p:sld>
</file>

<file path=ppt/slides/slide6.xml><?xml version="1.0" encoding="utf-8"?>
<p:sld xmlns:p="http://schemas.openxmlformats.org/presentationml/2006/main">
  <p:cSld>
    <p:bg>
      <p:bgPr>
        <a:solidFill xmlns:a="http://schemas.openxmlformats.org/drawingml/2006/main">
          <a:srgbClr val="F7F5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BCA682D-C872-4AE3-9752-B2F32DAF5AD2}"/>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FF5A6E"/>
                </a:solidFill>
                <a:latin typeface="Arial"/>
                <a:ea typeface="Arial"/>
                <a:cs typeface="Arial"/>
              </a:rPr>
              <a:t>PRODUCT</a:t>
            </a:r>
            <a:endParaRPr sz="1200"/>
          </a:p>
        </p:txBody>
      </p:sp>
      <p:sp>
        <p:nvSpPr>
          <p:cNvPr id="3" name="Text 1">
            <a:extLst xmlns:a="http://schemas.openxmlformats.org/drawingml/2006/main">
              <a:ext uri="{FF2B5EF4-FFF2-40B4-BE49-F238E27FC236}">
                <a16:creationId xmlns:a16="http://schemas.microsoft.com/office/drawing/2014/main" id="{E4820169-6683-4FC3-A228-7EBFB36C74A4}"/>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A2138"/>
                </a:solidFill>
                <a:latin typeface="Cambria"/>
                <a:ea typeface="Cambria"/>
                <a:cs typeface="Cambria"/>
              </a:rPr>
              <a:t>How it works, end to end</a:t>
            </a:r>
            <a:endParaRPr sz="3200"/>
          </a:p>
        </p:txBody>
      </p:sp>
      <p:sp>
        <p:nvSpPr>
          <p:cNvPr id="4" name="Shape 2">
            <a:extLst xmlns:a="http://schemas.openxmlformats.org/drawingml/2006/main">
              <a:ext uri="{FF2B5EF4-FFF2-40B4-BE49-F238E27FC236}">
                <a16:creationId xmlns:a16="http://schemas.microsoft.com/office/drawing/2014/main" id="{4557A104-9622-432A-AD81-BEE136C74894}"/>
              </a:ext>
            </a:extLst>
          </p:cNvPr>
          <p:cNvSpPr>
            <a:spLocks xmlns:a="http://schemas.openxmlformats.org/drawingml/2006/main" noGrp="1"/>
          </p:cNvSpPr>
          <p:nvPr/>
        </p:nvSpPr>
        <p:spPr>
          <a:xfrm xmlns:a="http://schemas.openxmlformats.org/drawingml/2006/main">
            <a:off x="653796"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5" name="Text 3">
            <a:extLst xmlns:a="http://schemas.openxmlformats.org/drawingml/2006/main">
              <a:ext uri="{FF2B5EF4-FFF2-40B4-BE49-F238E27FC236}">
                <a16:creationId xmlns:a16="http://schemas.microsoft.com/office/drawing/2014/main" id="{0047E39B-0FF0-46D7-A547-1170BAA657CA}"/>
              </a:ext>
            </a:extLst>
          </p:cNvPr>
          <p:cNvSpPr>
            <a:spLocks xmlns:a="http://schemas.openxmlformats.org/drawingml/2006/main" noGrp="1"/>
          </p:cNvSpPr>
          <p:nvPr/>
        </p:nvSpPr>
        <p:spPr>
          <a:xfrm xmlns:a="http://schemas.openxmlformats.org/drawingml/2006/main">
            <a:off x="854964"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FF8494"/>
                </a:solidFill>
                <a:latin typeface="Cambria"/>
                <a:ea typeface="Cambria"/>
                <a:cs typeface="Cambria"/>
              </a:rPr>
              <a:t>1</a:t>
            </a:r>
            <a:endParaRPr sz="2600"/>
          </a:p>
        </p:txBody>
      </p:sp>
      <p:sp>
        <p:nvSpPr>
          <p:cNvPr id="6" name="Shape 4">
            <a:extLst xmlns:a="http://schemas.openxmlformats.org/drawingml/2006/main">
              <a:ext uri="{FF2B5EF4-FFF2-40B4-BE49-F238E27FC236}">
                <a16:creationId xmlns:a16="http://schemas.microsoft.com/office/drawing/2014/main" id="{91F24392-03BC-4DA1-B73B-0DE57B3E07E5}"/>
              </a:ext>
            </a:extLst>
          </p:cNvPr>
          <p:cNvSpPr>
            <a:spLocks xmlns:a="http://schemas.openxmlformats.org/drawingml/2006/main" noGrp="1"/>
          </p:cNvSpPr>
          <p:nvPr/>
        </p:nvSpPr>
        <p:spPr>
          <a:xfrm xmlns:a="http://schemas.openxmlformats.org/drawingml/2006/main">
            <a:off x="1833372" y="2523744"/>
            <a:ext cx="548640" cy="548640"/>
          </a:xfrm>
          <a:prstGeom xmlns:a="http://schemas.openxmlformats.org/drawingml/2006/main" prst="ellipse">
            <a:avLst/>
          </a:prstGeom>
          <a:solidFill xmlns:a="http://schemas.openxmlformats.org/drawingml/2006/main">
            <a:srgbClr val="FF5A6E"/>
          </a:solidFill>
        </p:spPr>
      </p:sp>
      <p:pic>
        <p:nvPicPr>
          <p:cNvPr id="55" name="Image 0"/>
          <p:cNvPicPr>
            <a:picLocks xmlns:a="http://schemas.openxmlformats.org/drawingml/2006/main" noChangeAspect="1"/>
          </p:cNvPicPr>
          <p:nvPr/>
        </p:nvPicPr>
        <p:blipFill>
          <a:blip xmlns:r="http://schemas.openxmlformats.org/officeDocument/2006/relationships" xmlns:a="http://schemas.openxmlformats.org/drawingml/2006/main" r:embed="Ra9086548efa44988"/>
          <a:stretch xmlns:a="http://schemas.openxmlformats.org/drawingml/2006/main">
            <a:fillRect l="0" t="0" r="0" b="0"/>
          </a:stretch>
        </p:blipFill>
        <p:spPr>
          <a:xfrm xmlns:a="http://schemas.openxmlformats.org/drawingml/2006/main">
            <a:off x="1976018" y="2666390"/>
            <a:ext cx="263347" cy="263347"/>
          </a:xfrm>
          <a:prstGeom xmlns:a="http://schemas.openxmlformats.org/drawingml/2006/main" prst="rect">
            <a:avLst/>
          </a:prstGeom>
        </p:spPr>
      </p:pic>
      <p:sp>
        <p:nvSpPr>
          <p:cNvPr id="8" name="Text 5">
            <a:extLst xmlns:a="http://schemas.openxmlformats.org/drawingml/2006/main">
              <a:ext uri="{FF2B5EF4-FFF2-40B4-BE49-F238E27FC236}">
                <a16:creationId xmlns:a16="http://schemas.microsoft.com/office/drawing/2014/main" id="{7DE8DFDF-397C-457A-A7E1-EE9BD2C65999}"/>
              </a:ext>
            </a:extLst>
          </p:cNvPr>
          <p:cNvSpPr>
            <a:spLocks xmlns:a="http://schemas.openxmlformats.org/drawingml/2006/main" noGrp="1"/>
          </p:cNvSpPr>
          <p:nvPr/>
        </p:nvSpPr>
        <p:spPr>
          <a:xfrm xmlns:a="http://schemas.openxmlformats.org/drawingml/2006/main">
            <a:off x="873252"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A2138"/>
                </a:solidFill>
                <a:latin typeface="Arial"/>
                <a:ea typeface="Arial"/>
                <a:cs typeface="Arial"/>
              </a:rPr>
              <a:t>Curated feed</a:t>
            </a:r>
            <a:endParaRPr sz="1450"/>
          </a:p>
        </p:txBody>
      </p:sp>
      <p:sp>
        <p:nvSpPr>
          <p:cNvPr id="9" name="Text 6">
            <a:extLst xmlns:a="http://schemas.openxmlformats.org/drawingml/2006/main">
              <a:ext uri="{FF2B5EF4-FFF2-40B4-BE49-F238E27FC236}">
                <a16:creationId xmlns:a16="http://schemas.microsoft.com/office/drawing/2014/main" id="{40624620-7908-46A7-8ADB-C58B49AFA3C6}"/>
              </a:ext>
            </a:extLst>
          </p:cNvPr>
          <p:cNvSpPr>
            <a:spLocks xmlns:a="http://schemas.openxmlformats.org/drawingml/2006/main" noGrp="1"/>
          </p:cNvSpPr>
          <p:nvPr/>
        </p:nvSpPr>
        <p:spPr>
          <a:xfrm xmlns:a="http://schemas.openxmlformats.org/drawingml/2006/main">
            <a:off x="873252"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B7280"/>
                </a:solidFill>
                <a:latin typeface="Arial"/>
                <a:ea typeface="Arial"/>
                <a:cs typeface="Arial"/>
              </a:rPr>
              <a:t>She scrolls looks matched to her taste</a:t>
            </a:r>
            <a:endParaRPr sz="1130"/>
          </a:p>
        </p:txBody>
      </p:sp>
      <p:pic>
        <p:nvPicPr>
          <p:cNvPr id="58" name="Image 1"/>
          <p:cNvPicPr>
            <a:picLocks xmlns:a="http://schemas.openxmlformats.org/drawingml/2006/main" noChangeAspect="1"/>
          </p:cNvPicPr>
          <p:nvPr/>
        </p:nvPicPr>
        <p:blipFill>
          <a:blip xmlns:r="http://schemas.openxmlformats.org/officeDocument/2006/relationships" xmlns:a="http://schemas.openxmlformats.org/drawingml/2006/main" r:embed="Rb87f27bb04f94b9b"/>
          <a:stretch xmlns:a="http://schemas.openxmlformats.org/drawingml/2006/main">
            <a:fillRect l="0" t="0" r="0" b="0"/>
          </a:stretch>
        </p:blipFill>
        <p:spPr>
          <a:xfrm xmlns:a="http://schemas.openxmlformats.org/drawingml/2006/main">
            <a:off x="2628900" y="3493008"/>
            <a:ext cx="237744" cy="237744"/>
          </a:xfrm>
          <a:prstGeom xmlns:a="http://schemas.openxmlformats.org/drawingml/2006/main" prst="rect">
            <a:avLst/>
          </a:prstGeom>
        </p:spPr>
      </p:pic>
      <p:sp>
        <p:nvSpPr>
          <p:cNvPr id="11" name="Shape 7">
            <a:extLst xmlns:a="http://schemas.openxmlformats.org/drawingml/2006/main">
              <a:ext uri="{FF2B5EF4-FFF2-40B4-BE49-F238E27FC236}">
                <a16:creationId xmlns:a16="http://schemas.microsoft.com/office/drawing/2014/main" id="{4C7D4FB8-B7A3-4251-AD7C-536645316D86}"/>
              </a:ext>
            </a:extLst>
          </p:cNvPr>
          <p:cNvSpPr>
            <a:spLocks xmlns:a="http://schemas.openxmlformats.org/drawingml/2006/main" noGrp="1"/>
          </p:cNvSpPr>
          <p:nvPr/>
        </p:nvSpPr>
        <p:spPr>
          <a:xfrm xmlns:a="http://schemas.openxmlformats.org/drawingml/2006/main">
            <a:off x="2875788"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2" name="Text 8">
            <a:extLst xmlns:a="http://schemas.openxmlformats.org/drawingml/2006/main">
              <a:ext uri="{FF2B5EF4-FFF2-40B4-BE49-F238E27FC236}">
                <a16:creationId xmlns:a16="http://schemas.microsoft.com/office/drawing/2014/main" id="{FC5D3C57-0728-440E-9099-002F328F5EC5}"/>
              </a:ext>
            </a:extLst>
          </p:cNvPr>
          <p:cNvSpPr>
            <a:spLocks xmlns:a="http://schemas.openxmlformats.org/drawingml/2006/main" noGrp="1"/>
          </p:cNvSpPr>
          <p:nvPr/>
        </p:nvSpPr>
        <p:spPr>
          <a:xfrm xmlns:a="http://schemas.openxmlformats.org/drawingml/2006/main">
            <a:off x="3076956"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FF8494"/>
                </a:solidFill>
                <a:latin typeface="Cambria"/>
                <a:ea typeface="Cambria"/>
                <a:cs typeface="Cambria"/>
              </a:rPr>
              <a:t>2</a:t>
            </a:r>
            <a:endParaRPr sz="2600"/>
          </a:p>
        </p:txBody>
      </p:sp>
      <p:sp>
        <p:nvSpPr>
          <p:cNvPr id="13" name="Shape 9">
            <a:extLst xmlns:a="http://schemas.openxmlformats.org/drawingml/2006/main">
              <a:ext uri="{FF2B5EF4-FFF2-40B4-BE49-F238E27FC236}">
                <a16:creationId xmlns:a16="http://schemas.microsoft.com/office/drawing/2014/main" id="{5D3FC100-79AB-448C-9184-D0F44D494E63}"/>
              </a:ext>
            </a:extLst>
          </p:cNvPr>
          <p:cNvSpPr>
            <a:spLocks xmlns:a="http://schemas.openxmlformats.org/drawingml/2006/main" noGrp="1"/>
          </p:cNvSpPr>
          <p:nvPr/>
        </p:nvSpPr>
        <p:spPr>
          <a:xfrm xmlns:a="http://schemas.openxmlformats.org/drawingml/2006/main">
            <a:off x="4055364" y="2523744"/>
            <a:ext cx="548640" cy="548640"/>
          </a:xfrm>
          <a:prstGeom xmlns:a="http://schemas.openxmlformats.org/drawingml/2006/main" prst="ellipse">
            <a:avLst/>
          </a:prstGeom>
          <a:solidFill xmlns:a="http://schemas.openxmlformats.org/drawingml/2006/main">
            <a:srgbClr val="FF5A6E"/>
          </a:solidFill>
        </p:spPr>
      </p:sp>
      <p:pic>
        <p:nvPicPr>
          <p:cNvPr id="62" name="Image 2"/>
          <p:cNvPicPr>
            <a:picLocks xmlns:a="http://schemas.openxmlformats.org/drawingml/2006/main" noChangeAspect="1"/>
          </p:cNvPicPr>
          <p:nvPr/>
        </p:nvPicPr>
        <p:blipFill>
          <a:blip xmlns:r="http://schemas.openxmlformats.org/officeDocument/2006/relationships" xmlns:a="http://schemas.openxmlformats.org/drawingml/2006/main" r:embed="R722707f729004e7d"/>
          <a:stretch xmlns:a="http://schemas.openxmlformats.org/drawingml/2006/main">
            <a:fillRect l="0" t="0" r="0" b="0"/>
          </a:stretch>
        </p:blipFill>
        <p:spPr>
          <a:xfrm xmlns:a="http://schemas.openxmlformats.org/drawingml/2006/main">
            <a:off x="4198010" y="2666390"/>
            <a:ext cx="263347" cy="263347"/>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1F93FF95-F4BE-4D6A-8894-0F51A7AA7427}"/>
              </a:ext>
            </a:extLst>
          </p:cNvPr>
          <p:cNvSpPr>
            <a:spLocks xmlns:a="http://schemas.openxmlformats.org/drawingml/2006/main" noGrp="1"/>
          </p:cNvSpPr>
          <p:nvPr/>
        </p:nvSpPr>
        <p:spPr>
          <a:xfrm xmlns:a="http://schemas.openxmlformats.org/drawingml/2006/main">
            <a:off x="3095244"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A2138"/>
                </a:solidFill>
                <a:latin typeface="Arial"/>
                <a:ea typeface="Arial"/>
                <a:cs typeface="Arial"/>
              </a:rPr>
              <a:t>AI catalog</a:t>
            </a:r>
            <a:endParaRPr sz="1450"/>
          </a:p>
        </p:txBody>
      </p:sp>
      <p:sp>
        <p:nvSpPr>
          <p:cNvPr id="16" name="Text 11">
            <a:extLst xmlns:a="http://schemas.openxmlformats.org/drawingml/2006/main">
              <a:ext uri="{FF2B5EF4-FFF2-40B4-BE49-F238E27FC236}">
                <a16:creationId xmlns:a16="http://schemas.microsoft.com/office/drawing/2014/main" id="{7635DD7A-A939-45D1-92CD-C76467C6B2C9}"/>
              </a:ext>
            </a:extLst>
          </p:cNvPr>
          <p:cNvSpPr>
            <a:spLocks xmlns:a="http://schemas.openxmlformats.org/drawingml/2006/main" noGrp="1"/>
          </p:cNvSpPr>
          <p:nvPr/>
        </p:nvSpPr>
        <p:spPr>
          <a:xfrm xmlns:a="http://schemas.openxmlformats.org/drawingml/2006/main">
            <a:off x="3095244"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B7280"/>
                </a:solidFill>
                <a:latin typeface="Arial"/>
                <a:ea typeface="Arial"/>
                <a:cs typeface="Arial"/>
              </a:rPr>
              <a:t>13M SKUs cleaned, enriched, matched to trends</a:t>
            </a:r>
            <a:endParaRPr sz="1130"/>
          </a:p>
        </p:txBody>
      </p:sp>
      <p:pic>
        <p:nvPicPr>
          <p:cNvPr id="65" name="Image 3"/>
          <p:cNvPicPr>
            <a:picLocks xmlns:a="http://schemas.openxmlformats.org/drawingml/2006/main" noChangeAspect="1"/>
          </p:cNvPicPr>
          <p:nvPr/>
        </p:nvPicPr>
        <p:blipFill>
          <a:blip xmlns:r="http://schemas.openxmlformats.org/officeDocument/2006/relationships" xmlns:a="http://schemas.openxmlformats.org/drawingml/2006/main" r:embed="Rf99235d61c154a16"/>
          <a:stretch xmlns:a="http://schemas.openxmlformats.org/drawingml/2006/main">
            <a:fillRect l="0" t="0" r="0" b="0"/>
          </a:stretch>
        </p:blipFill>
        <p:spPr>
          <a:xfrm xmlns:a="http://schemas.openxmlformats.org/drawingml/2006/main">
            <a:off x="4850892" y="3493008"/>
            <a:ext cx="237744" cy="237744"/>
          </a:xfrm>
          <a:prstGeom xmlns:a="http://schemas.openxmlformats.org/drawingml/2006/main" prst="rect">
            <a:avLst/>
          </a:prstGeom>
        </p:spPr>
      </p:pic>
      <p:sp>
        <p:nvSpPr>
          <p:cNvPr id="18" name="Shape 12">
            <a:extLst xmlns:a="http://schemas.openxmlformats.org/drawingml/2006/main">
              <a:ext uri="{FF2B5EF4-FFF2-40B4-BE49-F238E27FC236}">
                <a16:creationId xmlns:a16="http://schemas.microsoft.com/office/drawing/2014/main" id="{7F4F5364-C193-4466-95F7-684D17AAED67}"/>
              </a:ext>
            </a:extLst>
          </p:cNvPr>
          <p:cNvSpPr>
            <a:spLocks xmlns:a="http://schemas.openxmlformats.org/drawingml/2006/main" noGrp="1"/>
          </p:cNvSpPr>
          <p:nvPr/>
        </p:nvSpPr>
        <p:spPr>
          <a:xfrm xmlns:a="http://schemas.openxmlformats.org/drawingml/2006/main">
            <a:off x="5097780"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9" name="Text 13">
            <a:extLst xmlns:a="http://schemas.openxmlformats.org/drawingml/2006/main">
              <a:ext uri="{FF2B5EF4-FFF2-40B4-BE49-F238E27FC236}">
                <a16:creationId xmlns:a16="http://schemas.microsoft.com/office/drawing/2014/main" id="{35F9E19B-A51E-49CD-B3FD-187B351E149D}"/>
              </a:ext>
            </a:extLst>
          </p:cNvPr>
          <p:cNvSpPr>
            <a:spLocks xmlns:a="http://schemas.openxmlformats.org/drawingml/2006/main" noGrp="1"/>
          </p:cNvSpPr>
          <p:nvPr/>
        </p:nvSpPr>
        <p:spPr>
          <a:xfrm xmlns:a="http://schemas.openxmlformats.org/drawingml/2006/main">
            <a:off x="5298948"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FF8494"/>
                </a:solidFill>
                <a:latin typeface="Cambria"/>
                <a:ea typeface="Cambria"/>
                <a:cs typeface="Cambria"/>
              </a:rPr>
              <a:t>3</a:t>
            </a:r>
            <a:endParaRPr sz="2600"/>
          </a:p>
        </p:txBody>
      </p:sp>
      <p:sp>
        <p:nvSpPr>
          <p:cNvPr id="20" name="Shape 14">
            <a:extLst xmlns:a="http://schemas.openxmlformats.org/drawingml/2006/main">
              <a:ext uri="{FF2B5EF4-FFF2-40B4-BE49-F238E27FC236}">
                <a16:creationId xmlns:a16="http://schemas.microsoft.com/office/drawing/2014/main" id="{496E5834-A5CE-4155-9EDB-EA2B9E3A6A36}"/>
              </a:ext>
            </a:extLst>
          </p:cNvPr>
          <p:cNvSpPr>
            <a:spLocks xmlns:a="http://schemas.openxmlformats.org/drawingml/2006/main" noGrp="1"/>
          </p:cNvSpPr>
          <p:nvPr/>
        </p:nvSpPr>
        <p:spPr>
          <a:xfrm xmlns:a="http://schemas.openxmlformats.org/drawingml/2006/main">
            <a:off x="6277356" y="2523744"/>
            <a:ext cx="548640" cy="548640"/>
          </a:xfrm>
          <a:prstGeom xmlns:a="http://schemas.openxmlformats.org/drawingml/2006/main" prst="ellipse">
            <a:avLst/>
          </a:prstGeom>
          <a:solidFill xmlns:a="http://schemas.openxmlformats.org/drawingml/2006/main">
            <a:srgbClr val="FF5A6E"/>
          </a:solidFill>
        </p:spPr>
      </p:sp>
      <p:pic>
        <p:nvPicPr>
          <p:cNvPr id="69" name="Image 4"/>
          <p:cNvPicPr>
            <a:picLocks xmlns:a="http://schemas.openxmlformats.org/drawingml/2006/main" noChangeAspect="1"/>
          </p:cNvPicPr>
          <p:nvPr/>
        </p:nvPicPr>
        <p:blipFill>
          <a:blip xmlns:r="http://schemas.openxmlformats.org/officeDocument/2006/relationships" xmlns:a="http://schemas.openxmlformats.org/drawingml/2006/main" r:embed="R5d4d2ca6d0254db9"/>
          <a:stretch xmlns:a="http://schemas.openxmlformats.org/drawingml/2006/main">
            <a:fillRect l="0" t="0" r="0" b="0"/>
          </a:stretch>
        </p:blipFill>
        <p:spPr>
          <a:xfrm xmlns:a="http://schemas.openxmlformats.org/drawingml/2006/main">
            <a:off x="6420002" y="2666390"/>
            <a:ext cx="263347" cy="263347"/>
          </a:xfrm>
          <a:prstGeom xmlns:a="http://schemas.openxmlformats.org/drawingml/2006/main" prst="rect">
            <a:avLst/>
          </a:prstGeom>
        </p:spPr>
      </p:pic>
      <p:sp>
        <p:nvSpPr>
          <p:cNvPr id="22" name="Text 15">
            <a:extLst xmlns:a="http://schemas.openxmlformats.org/drawingml/2006/main">
              <a:ext uri="{FF2B5EF4-FFF2-40B4-BE49-F238E27FC236}">
                <a16:creationId xmlns:a16="http://schemas.microsoft.com/office/drawing/2014/main" id="{AEDED615-0B71-4690-AD66-03FFE1ECF146}"/>
              </a:ext>
            </a:extLst>
          </p:cNvPr>
          <p:cNvSpPr>
            <a:spLocks xmlns:a="http://schemas.openxmlformats.org/drawingml/2006/main" noGrp="1"/>
          </p:cNvSpPr>
          <p:nvPr/>
        </p:nvSpPr>
        <p:spPr>
          <a:xfrm xmlns:a="http://schemas.openxmlformats.org/drawingml/2006/main">
            <a:off x="5317236"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A2138"/>
                </a:solidFill>
                <a:latin typeface="Arial"/>
                <a:ea typeface="Arial"/>
                <a:cs typeface="Arial"/>
              </a:rPr>
              <a:t>Photo + grid</a:t>
            </a:r>
            <a:endParaRPr sz="1450"/>
          </a:p>
        </p:txBody>
      </p:sp>
      <p:sp>
        <p:nvSpPr>
          <p:cNvPr id="23" name="Text 16">
            <a:extLst xmlns:a="http://schemas.openxmlformats.org/drawingml/2006/main">
              <a:ext uri="{FF2B5EF4-FFF2-40B4-BE49-F238E27FC236}">
                <a16:creationId xmlns:a16="http://schemas.microsoft.com/office/drawing/2014/main" id="{8937DC3E-4657-47E7-B4AA-EE7E82972FA5}"/>
              </a:ext>
            </a:extLst>
          </p:cNvPr>
          <p:cNvSpPr>
            <a:spLocks xmlns:a="http://schemas.openxmlformats.org/drawingml/2006/main" noGrp="1"/>
          </p:cNvSpPr>
          <p:nvPr/>
        </p:nvSpPr>
        <p:spPr>
          <a:xfrm xmlns:a="http://schemas.openxmlformats.org/drawingml/2006/main">
            <a:off x="5317236"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B7280"/>
                </a:solidFill>
                <a:latin typeface="Arial"/>
                <a:ea typeface="Arial"/>
                <a:cs typeface="Arial"/>
              </a:rPr>
              <a:t>Real pre-ship photo on a measurement grid</a:t>
            </a:r>
            <a:endParaRPr sz="1130"/>
          </a:p>
        </p:txBody>
      </p:sp>
      <p:pic>
        <p:nvPicPr>
          <p:cNvPr id="72" name="Image 5"/>
          <p:cNvPicPr>
            <a:picLocks xmlns:a="http://schemas.openxmlformats.org/drawingml/2006/main" noChangeAspect="1"/>
          </p:cNvPicPr>
          <p:nvPr/>
        </p:nvPicPr>
        <p:blipFill>
          <a:blip xmlns:r="http://schemas.openxmlformats.org/officeDocument/2006/relationships" xmlns:a="http://schemas.openxmlformats.org/drawingml/2006/main" r:embed="Rd0305757152a41b0"/>
          <a:stretch xmlns:a="http://schemas.openxmlformats.org/drawingml/2006/main">
            <a:fillRect l="0" t="0" r="0" b="0"/>
          </a:stretch>
        </p:blipFill>
        <p:spPr>
          <a:xfrm xmlns:a="http://schemas.openxmlformats.org/drawingml/2006/main">
            <a:off x="7072884" y="3493008"/>
            <a:ext cx="237744" cy="237744"/>
          </a:xfrm>
          <a:prstGeom xmlns:a="http://schemas.openxmlformats.org/drawingml/2006/main" prst="rect">
            <a:avLst/>
          </a:prstGeom>
        </p:spPr>
      </p:pic>
      <p:sp>
        <p:nvSpPr>
          <p:cNvPr id="25" name="Shape 17">
            <a:extLst xmlns:a="http://schemas.openxmlformats.org/drawingml/2006/main">
              <a:ext uri="{FF2B5EF4-FFF2-40B4-BE49-F238E27FC236}">
                <a16:creationId xmlns:a16="http://schemas.microsoft.com/office/drawing/2014/main" id="{62103355-0CC3-42E3-9ABF-0DA3139FE13F}"/>
              </a:ext>
            </a:extLst>
          </p:cNvPr>
          <p:cNvSpPr>
            <a:spLocks xmlns:a="http://schemas.openxmlformats.org/drawingml/2006/main" noGrp="1"/>
          </p:cNvSpPr>
          <p:nvPr/>
        </p:nvSpPr>
        <p:spPr>
          <a:xfrm xmlns:a="http://schemas.openxmlformats.org/drawingml/2006/main">
            <a:off x="7319772"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6" name="Text 18">
            <a:extLst xmlns:a="http://schemas.openxmlformats.org/drawingml/2006/main">
              <a:ext uri="{FF2B5EF4-FFF2-40B4-BE49-F238E27FC236}">
                <a16:creationId xmlns:a16="http://schemas.microsoft.com/office/drawing/2014/main" id="{24A1B0FA-1013-465E-B9DD-EF3E34D4F8AE}"/>
              </a:ext>
            </a:extLst>
          </p:cNvPr>
          <p:cNvSpPr>
            <a:spLocks xmlns:a="http://schemas.openxmlformats.org/drawingml/2006/main" noGrp="1"/>
          </p:cNvSpPr>
          <p:nvPr/>
        </p:nvSpPr>
        <p:spPr>
          <a:xfrm xmlns:a="http://schemas.openxmlformats.org/drawingml/2006/main">
            <a:off x="7520940"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FF8494"/>
                </a:solidFill>
                <a:latin typeface="Cambria"/>
                <a:ea typeface="Cambria"/>
                <a:cs typeface="Cambria"/>
              </a:rPr>
              <a:t>4</a:t>
            </a:r>
            <a:endParaRPr sz="2600"/>
          </a:p>
        </p:txBody>
      </p:sp>
      <p:sp>
        <p:nvSpPr>
          <p:cNvPr id="27" name="Shape 19">
            <a:extLst xmlns:a="http://schemas.openxmlformats.org/drawingml/2006/main">
              <a:ext uri="{FF2B5EF4-FFF2-40B4-BE49-F238E27FC236}">
                <a16:creationId xmlns:a16="http://schemas.microsoft.com/office/drawing/2014/main" id="{828E65B1-C80D-4D7B-B8DA-A199C8947EC2}"/>
              </a:ext>
            </a:extLst>
          </p:cNvPr>
          <p:cNvSpPr>
            <a:spLocks xmlns:a="http://schemas.openxmlformats.org/drawingml/2006/main" noGrp="1"/>
          </p:cNvSpPr>
          <p:nvPr/>
        </p:nvSpPr>
        <p:spPr>
          <a:xfrm xmlns:a="http://schemas.openxmlformats.org/drawingml/2006/main">
            <a:off x="8499348" y="2523744"/>
            <a:ext cx="548640" cy="548640"/>
          </a:xfrm>
          <a:prstGeom xmlns:a="http://schemas.openxmlformats.org/drawingml/2006/main" prst="ellipse">
            <a:avLst/>
          </a:prstGeom>
          <a:solidFill xmlns:a="http://schemas.openxmlformats.org/drawingml/2006/main">
            <a:srgbClr val="FF5A6E"/>
          </a:solidFill>
        </p:spPr>
      </p:sp>
      <p:pic>
        <p:nvPicPr>
          <p:cNvPr id="76" name="Image 6"/>
          <p:cNvPicPr>
            <a:picLocks xmlns:a="http://schemas.openxmlformats.org/drawingml/2006/main" noChangeAspect="1"/>
          </p:cNvPicPr>
          <p:nvPr/>
        </p:nvPicPr>
        <p:blipFill>
          <a:blip xmlns:r="http://schemas.openxmlformats.org/officeDocument/2006/relationships" xmlns:a="http://schemas.openxmlformats.org/drawingml/2006/main" r:embed="R8baaee77ad71415c"/>
          <a:stretch xmlns:a="http://schemas.openxmlformats.org/drawingml/2006/main">
            <a:fillRect l="0" t="0" r="0" b="0"/>
          </a:stretch>
        </p:blipFill>
        <p:spPr>
          <a:xfrm xmlns:a="http://schemas.openxmlformats.org/drawingml/2006/main">
            <a:off x="8641994" y="2666390"/>
            <a:ext cx="263347" cy="263347"/>
          </a:xfrm>
          <a:prstGeom xmlns:a="http://schemas.openxmlformats.org/drawingml/2006/main" prst="rect">
            <a:avLst/>
          </a:prstGeom>
        </p:spPr>
      </p:pic>
      <p:sp>
        <p:nvSpPr>
          <p:cNvPr id="29" name="Text 20">
            <a:extLst xmlns:a="http://schemas.openxmlformats.org/drawingml/2006/main">
              <a:ext uri="{FF2B5EF4-FFF2-40B4-BE49-F238E27FC236}">
                <a16:creationId xmlns:a16="http://schemas.microsoft.com/office/drawing/2014/main" id="{23A83F78-B7E8-469F-B2FA-FC76F69918CA}"/>
              </a:ext>
            </a:extLst>
          </p:cNvPr>
          <p:cNvSpPr>
            <a:spLocks xmlns:a="http://schemas.openxmlformats.org/drawingml/2006/main" noGrp="1"/>
          </p:cNvSpPr>
          <p:nvPr/>
        </p:nvSpPr>
        <p:spPr>
          <a:xfrm xmlns:a="http://schemas.openxmlformats.org/drawingml/2006/main">
            <a:off x="7539228"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A2138"/>
                </a:solidFill>
                <a:latin typeface="Arial"/>
                <a:ea typeface="Arial"/>
                <a:cs typeface="Arial"/>
              </a:rPr>
              <a:t>QC + refuse</a:t>
            </a:r>
            <a:endParaRPr sz="1450"/>
          </a:p>
        </p:txBody>
      </p:sp>
      <p:sp>
        <p:nvSpPr>
          <p:cNvPr id="30" name="Text 21">
            <a:extLst xmlns:a="http://schemas.openxmlformats.org/drawingml/2006/main">
              <a:ext uri="{FF2B5EF4-FFF2-40B4-BE49-F238E27FC236}">
                <a16:creationId xmlns:a16="http://schemas.microsoft.com/office/drawing/2014/main" id="{7561C71E-6810-446A-91B4-05DA6F8D2EA8}"/>
              </a:ext>
            </a:extLst>
          </p:cNvPr>
          <p:cNvSpPr>
            <a:spLocks xmlns:a="http://schemas.openxmlformats.org/drawingml/2006/main" noGrp="1"/>
          </p:cNvSpPr>
          <p:nvPr/>
        </p:nvSpPr>
        <p:spPr>
          <a:xfrm xmlns:a="http://schemas.openxmlformats.org/drawingml/2006/main">
            <a:off x="7539228"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B7280"/>
                </a:solidFill>
                <a:latin typeface="Arial"/>
                <a:ea typeface="Arial"/>
                <a:cs typeface="Arial"/>
              </a:rPr>
              <a:t>Hard quality check; refuse at warehouse</a:t>
            </a:r>
            <a:endParaRPr sz="1130"/>
          </a:p>
        </p:txBody>
      </p:sp>
      <p:pic>
        <p:nvPicPr>
          <p:cNvPr id="79" name="Image 7"/>
          <p:cNvPicPr>
            <a:picLocks xmlns:a="http://schemas.openxmlformats.org/drawingml/2006/main" noChangeAspect="1"/>
          </p:cNvPicPr>
          <p:nvPr/>
        </p:nvPicPr>
        <p:blipFill>
          <a:blip xmlns:r="http://schemas.openxmlformats.org/officeDocument/2006/relationships" xmlns:a="http://schemas.openxmlformats.org/drawingml/2006/main" r:embed="Rad0ba97d28bf4328"/>
          <a:stretch xmlns:a="http://schemas.openxmlformats.org/drawingml/2006/main">
            <a:fillRect l="0" t="0" r="0" b="0"/>
          </a:stretch>
        </p:blipFill>
        <p:spPr>
          <a:xfrm xmlns:a="http://schemas.openxmlformats.org/drawingml/2006/main">
            <a:off x="9294876" y="3493008"/>
            <a:ext cx="237744" cy="237744"/>
          </a:xfrm>
          <a:prstGeom xmlns:a="http://schemas.openxmlformats.org/drawingml/2006/main" prst="rect">
            <a:avLst/>
          </a:prstGeom>
        </p:spPr>
      </p:pic>
      <p:sp>
        <p:nvSpPr>
          <p:cNvPr id="32" name="Shape 22">
            <a:extLst xmlns:a="http://schemas.openxmlformats.org/drawingml/2006/main">
              <a:ext uri="{FF2B5EF4-FFF2-40B4-BE49-F238E27FC236}">
                <a16:creationId xmlns:a16="http://schemas.microsoft.com/office/drawing/2014/main" id="{87957543-32EB-491A-9CAC-3DD665E5F2C7}"/>
              </a:ext>
            </a:extLst>
          </p:cNvPr>
          <p:cNvSpPr>
            <a:spLocks xmlns:a="http://schemas.openxmlformats.org/drawingml/2006/main" noGrp="1"/>
          </p:cNvSpPr>
          <p:nvPr/>
        </p:nvSpPr>
        <p:spPr>
          <a:xfrm xmlns:a="http://schemas.openxmlformats.org/drawingml/2006/main">
            <a:off x="9541764" y="2286000"/>
            <a:ext cx="1965960" cy="2651760"/>
          </a:xfrm>
          <a:prstGeom xmlns:a="http://schemas.openxmlformats.org/drawingml/2006/main" prst="roundRect">
            <a:avLst>
              <a:gd name="adj" fmla="val 418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33" name="Text 23">
            <a:extLst xmlns:a="http://schemas.openxmlformats.org/drawingml/2006/main">
              <a:ext uri="{FF2B5EF4-FFF2-40B4-BE49-F238E27FC236}">
                <a16:creationId xmlns:a16="http://schemas.microsoft.com/office/drawing/2014/main" id="{BFF7D85A-51B9-4E8F-8FBE-69A930FC7A20}"/>
              </a:ext>
            </a:extLst>
          </p:cNvPr>
          <p:cNvSpPr>
            <a:spLocks xmlns:a="http://schemas.openxmlformats.org/drawingml/2006/main" noGrp="1"/>
          </p:cNvSpPr>
          <p:nvPr/>
        </p:nvSpPr>
        <p:spPr>
          <a:xfrm xmlns:a="http://schemas.openxmlformats.org/drawingml/2006/main">
            <a:off x="9742932" y="2487168"/>
            <a:ext cx="6400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600" b="1">
                <a:solidFill>
                  <a:srgbClr val="FF8494"/>
                </a:solidFill>
                <a:latin typeface="Cambria"/>
                <a:ea typeface="Cambria"/>
                <a:cs typeface="Cambria"/>
              </a:rPr>
              <a:t>5</a:t>
            </a:r>
            <a:endParaRPr sz="2600"/>
          </a:p>
        </p:txBody>
      </p:sp>
      <p:sp>
        <p:nvSpPr>
          <p:cNvPr id="34" name="Shape 24">
            <a:extLst xmlns:a="http://schemas.openxmlformats.org/drawingml/2006/main">
              <a:ext uri="{FF2B5EF4-FFF2-40B4-BE49-F238E27FC236}">
                <a16:creationId xmlns:a16="http://schemas.microsoft.com/office/drawing/2014/main" id="{7BECCBE5-0E24-431C-B387-293A25F91BA6}"/>
              </a:ext>
            </a:extLst>
          </p:cNvPr>
          <p:cNvSpPr>
            <a:spLocks xmlns:a="http://schemas.openxmlformats.org/drawingml/2006/main" noGrp="1"/>
          </p:cNvSpPr>
          <p:nvPr/>
        </p:nvSpPr>
        <p:spPr>
          <a:xfrm xmlns:a="http://schemas.openxmlformats.org/drawingml/2006/main">
            <a:off x="10721340" y="2523744"/>
            <a:ext cx="548640" cy="548640"/>
          </a:xfrm>
          <a:prstGeom xmlns:a="http://schemas.openxmlformats.org/drawingml/2006/main" prst="ellipse">
            <a:avLst/>
          </a:prstGeom>
          <a:solidFill xmlns:a="http://schemas.openxmlformats.org/drawingml/2006/main">
            <a:srgbClr val="FF5A6E"/>
          </a:solidFill>
        </p:spPr>
      </p:sp>
      <p:pic>
        <p:nvPicPr>
          <p:cNvPr id="83" name="Image 8"/>
          <p:cNvPicPr>
            <a:picLocks xmlns:a="http://schemas.openxmlformats.org/drawingml/2006/main" noChangeAspect="1"/>
          </p:cNvPicPr>
          <p:nvPr/>
        </p:nvPicPr>
        <p:blipFill>
          <a:blip xmlns:r="http://schemas.openxmlformats.org/officeDocument/2006/relationships" xmlns:a="http://schemas.openxmlformats.org/drawingml/2006/main" r:embed="Rfa443ebb27ef4e28"/>
          <a:stretch xmlns:a="http://schemas.openxmlformats.org/drawingml/2006/main">
            <a:fillRect l="0" t="0" r="0" b="0"/>
          </a:stretch>
        </p:blipFill>
        <p:spPr>
          <a:xfrm xmlns:a="http://schemas.openxmlformats.org/drawingml/2006/main">
            <a:off x="10863986" y="2666390"/>
            <a:ext cx="263347" cy="263347"/>
          </a:xfrm>
          <a:prstGeom xmlns:a="http://schemas.openxmlformats.org/drawingml/2006/main" prst="rect">
            <a:avLst/>
          </a:prstGeom>
        </p:spPr>
      </p:pic>
      <p:sp>
        <p:nvSpPr>
          <p:cNvPr id="36" name="Text 25">
            <a:extLst xmlns:a="http://schemas.openxmlformats.org/drawingml/2006/main">
              <a:ext uri="{FF2B5EF4-FFF2-40B4-BE49-F238E27FC236}">
                <a16:creationId xmlns:a16="http://schemas.microsoft.com/office/drawing/2014/main" id="{81085A9B-7F18-410F-84E8-FEC70EB4904F}"/>
              </a:ext>
            </a:extLst>
          </p:cNvPr>
          <p:cNvSpPr>
            <a:spLocks xmlns:a="http://schemas.openxmlformats.org/drawingml/2006/main" noGrp="1"/>
          </p:cNvSpPr>
          <p:nvPr/>
        </p:nvSpPr>
        <p:spPr>
          <a:xfrm xmlns:a="http://schemas.openxmlformats.org/drawingml/2006/main">
            <a:off x="9761220" y="3337560"/>
            <a:ext cx="1563624"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A2138"/>
                </a:solidFill>
                <a:latin typeface="Arial"/>
                <a:ea typeface="Arial"/>
                <a:cs typeface="Arial"/>
              </a:rPr>
              <a:t>Ship &amp; track</a:t>
            </a:r>
            <a:endParaRPr sz="1450"/>
          </a:p>
        </p:txBody>
      </p:sp>
      <p:sp>
        <p:nvSpPr>
          <p:cNvPr id="37" name="Text 26">
            <a:extLst xmlns:a="http://schemas.openxmlformats.org/drawingml/2006/main">
              <a:ext uri="{FF2B5EF4-FFF2-40B4-BE49-F238E27FC236}">
                <a16:creationId xmlns:a16="http://schemas.microsoft.com/office/drawing/2014/main" id="{6791680D-9E8F-47F1-9362-CA899C71CB2C}"/>
              </a:ext>
            </a:extLst>
          </p:cNvPr>
          <p:cNvSpPr>
            <a:spLocks xmlns:a="http://schemas.openxmlformats.org/drawingml/2006/main" noGrp="1"/>
          </p:cNvSpPr>
          <p:nvPr/>
        </p:nvSpPr>
        <p:spPr>
          <a:xfrm xmlns:a="http://schemas.openxmlformats.org/drawingml/2006/main">
            <a:off x="9761220" y="3767328"/>
            <a:ext cx="1563624" cy="10058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30">
                <a:solidFill>
                  <a:srgbClr val="6B7280"/>
                </a:solidFill>
                <a:latin typeface="Arial"/>
                <a:ea typeface="Arial"/>
                <a:cs typeface="Arial"/>
              </a:rPr>
              <a:t>Cross-border logistics, delivered &amp; tracked</a:t>
            </a:r>
            <a:endParaRPr sz="1130"/>
          </a:p>
        </p:txBody>
      </p:sp>
      <p:sp>
        <p:nvSpPr>
          <p:cNvPr id="38" name="Text 27">
            <a:extLst xmlns:a="http://schemas.openxmlformats.org/drawingml/2006/main">
              <a:ext uri="{FF2B5EF4-FFF2-40B4-BE49-F238E27FC236}">
                <a16:creationId xmlns:a16="http://schemas.microsoft.com/office/drawing/2014/main" id="{95F45F98-3F7F-40F0-AC4A-F7FA241675B8}"/>
              </a:ext>
            </a:extLst>
          </p:cNvPr>
          <p:cNvSpPr>
            <a:spLocks xmlns:a="http://schemas.openxmlformats.org/drawingml/2006/main" noGrp="1"/>
          </p:cNvSpPr>
          <p:nvPr/>
        </p:nvSpPr>
        <p:spPr>
          <a:xfrm xmlns:a="http://schemas.openxmlformats.org/drawingml/2006/main">
            <a:off x="640080" y="5806440"/>
            <a:ext cx="10881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i="1">
                <a:solidFill>
                  <a:srgbClr val="1A2138"/>
                </a:solidFill>
                <a:latin typeface="Arial"/>
                <a:ea typeface="Arial"/>
                <a:cs typeface="Arial"/>
              </a:rPr>
              <a:t>The value isn't access to Chinese supply. Everyone has that. It's direct factory buying plus trust and personalization on top.</a:t>
            </a:r>
            <a:endParaRPr sz="1350"/>
          </a:p>
        </p:txBody>
      </p:sp>
      <p:sp>
        <p:nvSpPr>
          <p:cNvPr id="39" name="Text 28">
            <a:extLst xmlns:a="http://schemas.openxmlformats.org/drawingml/2006/main">
              <a:ext uri="{FF2B5EF4-FFF2-40B4-BE49-F238E27FC236}">
                <a16:creationId xmlns:a16="http://schemas.microsoft.com/office/drawing/2014/main" id="{85554EE2-940B-4A81-BBB2-AD5E4CD389FA}"/>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280"/>
                </a:solidFill>
                <a:latin typeface="Arial"/>
                <a:ea typeface="Arial"/>
                <a:cs typeface="Arial"/>
              </a:rPr>
              <a:t>SuperCheap.market  ·  working name</a:t>
            </a:r>
            <a:endParaRPr sz="900"/>
          </a:p>
        </p:txBody>
      </p:sp>
      <p:sp>
        <p:nvSpPr>
          <p:cNvPr id="40" name="Text 29">
            <a:extLst xmlns:a="http://schemas.openxmlformats.org/drawingml/2006/main">
              <a:ext uri="{FF2B5EF4-FFF2-40B4-BE49-F238E27FC236}">
                <a16:creationId xmlns:a16="http://schemas.microsoft.com/office/drawing/2014/main" id="{CBD94F47-64F4-4917-AF4F-9FA8EF6007CD}"/>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7280"/>
                </a:solidFill>
                <a:latin typeface="Arial"/>
                <a:ea typeface="Arial"/>
                <a:cs typeface="Arial"/>
              </a:rPr>
              <a:t>6</a:t>
            </a:r>
            <a:endParaRPr sz="900"/>
          </a:p>
        </p:txBody>
      </p:sp>
    </p:spTree>
    <p:extLst>
      <p:ext uri="{BB962C8B-B14F-4D97-AF65-F5344CB8AC3E}">
        <p14:creationId xmlns:p14="http://schemas.microsoft.com/office/powerpoint/2010/main" val="721898273"/>
      </p:ext>
    </p:extLst>
  </p:cSld>
</p:sld>
</file>

<file path=ppt/slides/slide7.xml><?xml version="1.0" encoding="utf-8"?>
<p:sld xmlns:p="http://schemas.openxmlformats.org/presentationml/2006/main">
  <p:cSld>
    <p:bg>
      <p:bgPr>
        <a:solidFill xmlns:a="http://schemas.openxmlformats.org/drawingml/2006/main">
          <a:srgbClr val="141B3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3A6834ED-E94A-4511-B199-17FE8C1CA8AF}"/>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FF5A6E"/>
                </a:solidFill>
                <a:latin typeface="Arial"/>
                <a:ea typeface="Arial"/>
                <a:cs typeface="Arial"/>
              </a:rPr>
              <a:t>WHY NOW</a:t>
            </a:r>
            <a:endParaRPr sz="1200"/>
          </a:p>
        </p:txBody>
      </p:sp>
      <p:sp>
        <p:nvSpPr>
          <p:cNvPr id="3" name="Text 1">
            <a:extLst xmlns:a="http://schemas.openxmlformats.org/drawingml/2006/main">
              <a:ext uri="{FF2B5EF4-FFF2-40B4-BE49-F238E27FC236}">
                <a16:creationId xmlns:a16="http://schemas.microsoft.com/office/drawing/2014/main" id="{3E73E86E-B84C-44F3-92BD-43129AF58A5F}"/>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FFFFFF"/>
                </a:solidFill>
                <a:latin typeface="Cambria"/>
                <a:ea typeface="Cambria"/>
                <a:cs typeface="Cambria"/>
              </a:rPr>
              <a:t>A small team can now build a trust-first marketplace</a:t>
            </a:r>
            <a:endParaRPr sz="3200"/>
          </a:p>
        </p:txBody>
      </p:sp>
      <p:sp>
        <p:nvSpPr>
          <p:cNvPr id="4" name="Shape 2">
            <a:extLst xmlns:a="http://schemas.openxmlformats.org/drawingml/2006/main">
              <a:ext uri="{FF2B5EF4-FFF2-40B4-BE49-F238E27FC236}">
                <a16:creationId xmlns:a16="http://schemas.microsoft.com/office/drawing/2014/main" id="{F167E255-5EAD-4BF7-A9DB-3E26CAEF3A99}"/>
              </a:ext>
            </a:extLst>
          </p:cNvPr>
          <p:cNvSpPr>
            <a:spLocks xmlns:a="http://schemas.openxmlformats.org/drawingml/2006/main" noGrp="1"/>
          </p:cNvSpPr>
          <p:nvPr/>
        </p:nvSpPr>
        <p:spPr>
          <a:xfrm xmlns:a="http://schemas.openxmlformats.org/drawingml/2006/main">
            <a:off x="640080" y="2011680"/>
            <a:ext cx="5074920" cy="2514600"/>
          </a:xfrm>
          <a:prstGeom xmlns:a="http://schemas.openxmlformats.org/drawingml/2006/main" prst="roundRect">
            <a:avLst>
              <a:gd name="adj" fmla="val 3273"/>
            </a:avLst>
          </a:prstGeom>
          <a:solidFill xmlns:a="http://schemas.openxmlformats.org/drawingml/2006/main">
            <a:srgbClr val="1E2747"/>
          </a:solidFill>
          <a:ln xmlns:a="http://schemas.openxmlformats.org/drawingml/2006/main" w="12700">
            <a:solidFill>
              <a:srgbClr val="31406E"/>
            </a:solidFill>
            <a:prstDash val="solid"/>
          </a:ln>
        </p:spPr>
      </p:sp>
      <p:sp>
        <p:nvSpPr>
          <p:cNvPr id="5" name="Text 3">
            <a:extLst xmlns:a="http://schemas.openxmlformats.org/drawingml/2006/main">
              <a:ext uri="{FF2B5EF4-FFF2-40B4-BE49-F238E27FC236}">
                <a16:creationId xmlns:a16="http://schemas.microsoft.com/office/drawing/2014/main" id="{1E30A0A4-469E-4A87-9B14-F6471DD3BF12}"/>
              </a:ext>
            </a:extLst>
          </p:cNvPr>
          <p:cNvSpPr>
            <a:spLocks xmlns:a="http://schemas.openxmlformats.org/drawingml/2006/main" noGrp="1"/>
          </p:cNvSpPr>
          <p:nvPr/>
        </p:nvSpPr>
        <p:spPr>
          <a:xfrm xmlns:a="http://schemas.openxmlformats.org/drawingml/2006/main">
            <a:off x="960120" y="22860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9AA3B2"/>
                </a:solidFill>
                <a:latin typeface="Arial"/>
                <a:ea typeface="Arial"/>
                <a:cs typeface="Arial"/>
              </a:rPr>
              <a:t>BEFORE</a:t>
            </a:r>
            <a:endParaRPr sz="1200"/>
          </a:p>
        </p:txBody>
      </p:sp>
      <p:sp>
        <p:nvSpPr>
          <p:cNvPr id="6" name="Text 4">
            <a:extLst xmlns:a="http://schemas.openxmlformats.org/drawingml/2006/main">
              <a:ext uri="{FF2B5EF4-FFF2-40B4-BE49-F238E27FC236}">
                <a16:creationId xmlns:a16="http://schemas.microsoft.com/office/drawing/2014/main" id="{79FCCC66-B4B5-438E-87C1-1C6550CA0EBF}"/>
              </a:ext>
            </a:extLst>
          </p:cNvPr>
          <p:cNvSpPr>
            <a:spLocks xmlns:a="http://schemas.openxmlformats.org/drawingml/2006/main" noGrp="1"/>
          </p:cNvSpPr>
          <p:nvPr/>
        </p:nvSpPr>
        <p:spPr>
          <a:xfrm xmlns:a="http://schemas.openxmlformats.org/drawingml/2006/main">
            <a:off x="960120" y="2788920"/>
            <a:ext cx="443484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500">
                <a:solidFill>
                  <a:srgbClr val="CBD5F0"/>
                </a:solidFill>
                <a:latin typeface="Arial"/>
                <a:ea typeface="Arial"/>
                <a:cs typeface="Arial"/>
              </a:rPr>
              <a:t>Catalog, translation, recommendations, moderation, support, logistics and creative all needed a large, expensive team.</a:t>
            </a:r>
            <a:endParaRPr sz="1500"/>
          </a:p>
        </p:txBody>
      </p:sp>
      <p:pic>
        <p:nvPicPr>
          <p:cNvPr id="24" name="Image 0"/>
          <p:cNvPicPr>
            <a:picLocks xmlns:a="http://schemas.openxmlformats.org/drawingml/2006/main" noChangeAspect="1"/>
          </p:cNvPicPr>
          <p:nvPr/>
        </p:nvPicPr>
        <p:blipFill>
          <a:blip xmlns:r="http://schemas.openxmlformats.org/officeDocument/2006/relationships" xmlns:a="http://schemas.openxmlformats.org/drawingml/2006/main" r:embed="R5ec6661c0c894382"/>
          <a:stretch xmlns:a="http://schemas.openxmlformats.org/drawingml/2006/main">
            <a:fillRect l="0" t="0" r="0" b="0"/>
          </a:stretch>
        </p:blipFill>
        <p:spPr>
          <a:xfrm xmlns:a="http://schemas.openxmlformats.org/drawingml/2006/main">
            <a:off x="6007608" y="3086100"/>
            <a:ext cx="365760" cy="365760"/>
          </a:xfrm>
          <a:prstGeom xmlns:a="http://schemas.openxmlformats.org/drawingml/2006/main" prst="rect">
            <a:avLst/>
          </a:prstGeom>
        </p:spPr>
      </p:pic>
      <p:sp>
        <p:nvSpPr>
          <p:cNvPr id="8" name="Shape 5">
            <a:extLst xmlns:a="http://schemas.openxmlformats.org/drawingml/2006/main">
              <a:ext uri="{FF2B5EF4-FFF2-40B4-BE49-F238E27FC236}">
                <a16:creationId xmlns:a16="http://schemas.microsoft.com/office/drawing/2014/main" id="{063080C2-0432-4B9F-88B6-4DE0A7E5787F}"/>
              </a:ext>
            </a:extLst>
          </p:cNvPr>
          <p:cNvSpPr>
            <a:spLocks xmlns:a="http://schemas.openxmlformats.org/drawingml/2006/main" noGrp="1"/>
          </p:cNvSpPr>
          <p:nvPr/>
        </p:nvSpPr>
        <p:spPr>
          <a:xfrm xmlns:a="http://schemas.openxmlformats.org/drawingml/2006/main">
            <a:off x="6675120" y="2011680"/>
            <a:ext cx="5074920" cy="2514600"/>
          </a:xfrm>
          <a:prstGeom xmlns:a="http://schemas.openxmlformats.org/drawingml/2006/main" prst="roundRect">
            <a:avLst>
              <a:gd name="adj" fmla="val 3273"/>
            </a:avLst>
          </a:prstGeom>
          <a:solidFill xmlns:a="http://schemas.openxmlformats.org/drawingml/2006/main">
            <a:srgbClr val="FF5A6E"/>
          </a:solidFill>
        </p:spPr>
      </p:sp>
      <p:sp>
        <p:nvSpPr>
          <p:cNvPr id="9" name="Text 6">
            <a:extLst xmlns:a="http://schemas.openxmlformats.org/drawingml/2006/main">
              <a:ext uri="{FF2B5EF4-FFF2-40B4-BE49-F238E27FC236}">
                <a16:creationId xmlns:a16="http://schemas.microsoft.com/office/drawing/2014/main" id="{B2EFFD7D-ACD7-405F-B4FB-9C80538A6E42}"/>
              </a:ext>
            </a:extLst>
          </p:cNvPr>
          <p:cNvSpPr>
            <a:spLocks xmlns:a="http://schemas.openxmlformats.org/drawingml/2006/main" noGrp="1"/>
          </p:cNvSpPr>
          <p:nvPr/>
        </p:nvSpPr>
        <p:spPr>
          <a:xfrm xmlns:a="http://schemas.openxmlformats.org/drawingml/2006/main">
            <a:off x="6995160" y="2286000"/>
            <a:ext cx="2743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FFFFFF"/>
                </a:solidFill>
                <a:latin typeface="Arial"/>
                <a:ea typeface="Arial"/>
                <a:cs typeface="Arial"/>
              </a:rPr>
              <a:t>TODAY</a:t>
            </a:r>
            <a:endParaRPr sz="1200"/>
          </a:p>
        </p:txBody>
      </p:sp>
      <p:sp>
        <p:nvSpPr>
          <p:cNvPr id="10" name="Text 7">
            <a:extLst xmlns:a="http://schemas.openxmlformats.org/drawingml/2006/main">
              <a:ext uri="{FF2B5EF4-FFF2-40B4-BE49-F238E27FC236}">
                <a16:creationId xmlns:a16="http://schemas.microsoft.com/office/drawing/2014/main" id="{C9F7E99C-6DC1-4F90-8B0F-073E2BE8E24D}"/>
              </a:ext>
            </a:extLst>
          </p:cNvPr>
          <p:cNvSpPr>
            <a:spLocks xmlns:a="http://schemas.openxmlformats.org/drawingml/2006/main" noGrp="1"/>
          </p:cNvSpPr>
          <p:nvPr/>
        </p:nvSpPr>
        <p:spPr>
          <a:xfrm xmlns:a="http://schemas.openxmlformats.org/drawingml/2006/main">
            <a:off x="6995160" y="2788920"/>
            <a:ext cx="443484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500" b="1">
                <a:solidFill>
                  <a:srgbClr val="FFFFFF"/>
                </a:solidFill>
                <a:latin typeface="Arial"/>
                <a:ea typeface="Arial"/>
                <a:cs typeface="Arial"/>
              </a:rPr>
              <a:t>AI automates most of the stack. One operator who's done it before can build a more personal, higher-quality marketplace, faster and leaner.</a:t>
            </a:r>
            <a:endParaRPr sz="1500"/>
          </a:p>
        </p:txBody>
      </p:sp>
      <p:sp>
        <p:nvSpPr>
          <p:cNvPr id="11" name="Shape 8">
            <a:extLst xmlns:a="http://schemas.openxmlformats.org/drawingml/2006/main">
              <a:ext uri="{FF2B5EF4-FFF2-40B4-BE49-F238E27FC236}">
                <a16:creationId xmlns:a16="http://schemas.microsoft.com/office/drawing/2014/main" id="{A351F799-7C64-42B5-ADCF-916D677B6A52}"/>
              </a:ext>
            </a:extLst>
          </p:cNvPr>
          <p:cNvSpPr>
            <a:spLocks xmlns:a="http://schemas.openxmlformats.org/drawingml/2006/main" noGrp="1"/>
          </p:cNvSpPr>
          <p:nvPr/>
        </p:nvSpPr>
        <p:spPr>
          <a:xfrm xmlns:a="http://schemas.openxmlformats.org/drawingml/2006/main">
            <a:off x="640080" y="4892040"/>
            <a:ext cx="10881360" cy="1234440"/>
          </a:xfrm>
          <a:prstGeom xmlns:a="http://schemas.openxmlformats.org/drawingml/2006/main" prst="roundRect">
            <a:avLst>
              <a:gd name="adj" fmla="val 6667"/>
            </a:avLst>
          </a:prstGeom>
          <a:solidFill xmlns:a="http://schemas.openxmlformats.org/drawingml/2006/main">
            <a:srgbClr val="1E2747"/>
          </a:solidFill>
          <a:ln xmlns:a="http://schemas.openxmlformats.org/drawingml/2006/main" w="12700">
            <a:solidFill>
              <a:srgbClr val="31406E"/>
            </a:solidFill>
            <a:prstDash val="solid"/>
          </a:ln>
        </p:spPr>
      </p:sp>
      <p:sp>
        <p:nvSpPr>
          <p:cNvPr id="12" name="Shape 9">
            <a:extLst xmlns:a="http://schemas.openxmlformats.org/drawingml/2006/main">
              <a:ext uri="{FF2B5EF4-FFF2-40B4-BE49-F238E27FC236}">
                <a16:creationId xmlns:a16="http://schemas.microsoft.com/office/drawing/2014/main" id="{3B9A588E-F13C-4EF3-A5A8-E6437D3927A7}"/>
              </a:ext>
            </a:extLst>
          </p:cNvPr>
          <p:cNvSpPr>
            <a:spLocks xmlns:a="http://schemas.openxmlformats.org/drawingml/2006/main" noGrp="1"/>
          </p:cNvSpPr>
          <p:nvPr/>
        </p:nvSpPr>
        <p:spPr>
          <a:xfrm xmlns:a="http://schemas.openxmlformats.org/drawingml/2006/main">
            <a:off x="914400" y="5221224"/>
            <a:ext cx="566928" cy="566928"/>
          </a:xfrm>
          <a:prstGeom xmlns:a="http://schemas.openxmlformats.org/drawingml/2006/main" prst="ellipse">
            <a:avLst/>
          </a:prstGeom>
          <a:solidFill xmlns:a="http://schemas.openxmlformats.org/drawingml/2006/main">
            <a:srgbClr val="FF5A6E"/>
          </a:solidFill>
        </p:spPr>
      </p:sp>
      <p:pic>
        <p:nvPicPr>
          <p:cNvPr id="30" name="Image 1"/>
          <p:cNvPicPr>
            <a:picLocks xmlns:a="http://schemas.openxmlformats.org/drawingml/2006/main" noChangeAspect="1"/>
          </p:cNvPicPr>
          <p:nvPr/>
        </p:nvPicPr>
        <p:blipFill>
          <a:blip xmlns:r="http://schemas.openxmlformats.org/officeDocument/2006/relationships" xmlns:a="http://schemas.openxmlformats.org/drawingml/2006/main" r:embed="R9cf10b45fb9d43f5"/>
          <a:stretch xmlns:a="http://schemas.openxmlformats.org/drawingml/2006/main">
            <a:fillRect l="0" t="0" r="0" b="0"/>
          </a:stretch>
        </p:blipFill>
        <p:spPr>
          <a:xfrm xmlns:a="http://schemas.openxmlformats.org/drawingml/2006/main">
            <a:off x="1061801" y="5368625"/>
            <a:ext cx="272125" cy="272125"/>
          </a:xfrm>
          <a:prstGeom xmlns:a="http://schemas.openxmlformats.org/drawingml/2006/main" prst="rect">
            <a:avLst/>
          </a:prstGeom>
        </p:spPr>
      </p:pic>
      <p:sp>
        <p:nvSpPr>
          <p:cNvPr id="14" name="Text 10">
            <a:extLst xmlns:a="http://schemas.openxmlformats.org/drawingml/2006/main">
              <a:ext uri="{FF2B5EF4-FFF2-40B4-BE49-F238E27FC236}">
                <a16:creationId xmlns:a16="http://schemas.microsoft.com/office/drawing/2014/main" id="{BA0E972C-23C7-4B02-AA95-208BBBA81CDA}"/>
              </a:ext>
            </a:extLst>
          </p:cNvPr>
          <p:cNvSpPr>
            <a:spLocks xmlns:a="http://schemas.openxmlformats.org/drawingml/2006/main" noGrp="1"/>
          </p:cNvSpPr>
          <p:nvPr/>
        </p:nvSpPr>
        <p:spPr>
          <a:xfrm xmlns:a="http://schemas.openxmlformats.org/drawingml/2006/main">
            <a:off x="1691640" y="5148072"/>
            <a:ext cx="9601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250" b="1">
                <a:solidFill>
                  <a:srgbClr val="FFFFFF"/>
                </a:solidFill>
                <a:latin typeface="Arial"/>
                <a:ea typeface="Arial"/>
                <a:cs typeface="Arial"/>
              </a:rPr>
              <a:t>The tariff reset leveled the field.  </a:t>
            </a:r>
            <a:r>
              <a:rPr sz="1250">
                <a:solidFill>
                  <a:srgbClr val="CBD5F0"/>
                </a:solidFill>
                <a:latin typeface="Arial"/>
                <a:ea typeface="Arial"/>
                <a:cs typeface="Arial"/>
              </a:rPr>
              <a:t>The end of US de minimis (May 2025) forced Shein and Temu to raise prices, so incumbents lost part of their price moat right as the AI window opened. Whoever builds the vertical, trust-first marketplace first takes the category.</a:t>
            </a:r>
            <a:endParaRPr sz="1250"/>
          </a:p>
        </p:txBody>
      </p:sp>
      <p:sp>
        <p:nvSpPr>
          <p:cNvPr id="15" name="Text 11">
            <a:extLst xmlns:a="http://schemas.openxmlformats.org/drawingml/2006/main">
              <a:ext uri="{FF2B5EF4-FFF2-40B4-BE49-F238E27FC236}">
                <a16:creationId xmlns:a16="http://schemas.microsoft.com/office/drawing/2014/main" id="{27F8D677-A40E-45AD-B402-43698038BC2E}"/>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AA3B2"/>
                </a:solidFill>
                <a:latin typeface="Arial"/>
                <a:ea typeface="Arial"/>
                <a:cs typeface="Arial"/>
              </a:rPr>
              <a:t>SuperCheap.market  ·  working name</a:t>
            </a:r>
            <a:endParaRPr sz="900"/>
          </a:p>
        </p:txBody>
      </p:sp>
      <p:sp>
        <p:nvSpPr>
          <p:cNvPr id="16" name="Text 12">
            <a:extLst xmlns:a="http://schemas.openxmlformats.org/drawingml/2006/main">
              <a:ext uri="{FF2B5EF4-FFF2-40B4-BE49-F238E27FC236}">
                <a16:creationId xmlns:a16="http://schemas.microsoft.com/office/drawing/2014/main" id="{BD9575E2-D8B2-4237-8FE0-CAE968358CD5}"/>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AA3B2"/>
                </a:solidFill>
                <a:latin typeface="Arial"/>
                <a:ea typeface="Arial"/>
                <a:cs typeface="Arial"/>
              </a:rPr>
              <a:t>7</a:t>
            </a:r>
            <a:endParaRPr sz="900"/>
          </a:p>
        </p:txBody>
      </p:sp>
    </p:spTree>
    <p:extLst>
      <p:ext uri="{BB962C8B-B14F-4D97-AF65-F5344CB8AC3E}">
        <p14:creationId xmlns:p14="http://schemas.microsoft.com/office/powerpoint/2010/main" val="89644096"/>
      </p:ext>
    </p:extLst>
  </p:cSld>
</p:sld>
</file>

<file path=ppt/slides/slide8.xml><?xml version="1.0" encoding="utf-8"?>
<p:sld xmlns:p="http://schemas.openxmlformats.org/presentationml/2006/main">
  <p:cSld>
    <p:bg>
      <p:bgPr>
        <a:solidFill xmlns:a="http://schemas.openxmlformats.org/drawingml/2006/main">
          <a:srgbClr val="F7F5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FB61D3D-E850-4952-9157-4C3508CDE71A}"/>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FF5A6E"/>
                </a:solidFill>
                <a:latin typeface="Arial"/>
                <a:ea typeface="Arial"/>
                <a:cs typeface="Arial"/>
              </a:rPr>
              <a:t>PROOF, PREVIOUS VERSION</a:t>
            </a:r>
            <a:endParaRPr sz="1200"/>
          </a:p>
        </p:txBody>
      </p:sp>
      <p:sp>
        <p:nvSpPr>
          <p:cNvPr id="3" name="Text 1">
            <a:extLst xmlns:a="http://schemas.openxmlformats.org/drawingml/2006/main">
              <a:ext uri="{FF2B5EF4-FFF2-40B4-BE49-F238E27FC236}">
                <a16:creationId xmlns:a16="http://schemas.microsoft.com/office/drawing/2014/main" id="{B3381115-B19B-4BD8-80FE-FBC29F069DF3}"/>
              </a:ext>
            </a:extLst>
          </p:cNvPr>
          <p:cNvSpPr>
            <a:spLocks xmlns:a="http://schemas.openxmlformats.org/drawingml/2006/main" noGrp="1"/>
          </p:cNvSpPr>
          <p:nvPr/>
        </p:nvSpPr>
        <p:spPr>
          <a:xfrm xmlns:a="http://schemas.openxmlformats.org/drawingml/2006/main">
            <a:off x="640080" y="868680"/>
            <a:ext cx="75895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A2138"/>
                </a:solidFill>
                <a:latin typeface="Cambria"/>
                <a:ea typeface="Cambria"/>
                <a:cs typeface="Cambria"/>
              </a:rPr>
              <a:t>The model was already validated with real money</a:t>
            </a:r>
            <a:endParaRPr sz="3200"/>
          </a:p>
        </p:txBody>
      </p:sp>
      <p:sp>
        <p:nvSpPr>
          <p:cNvPr id="4" name="Shape 2">
            <a:extLst xmlns:a="http://schemas.openxmlformats.org/drawingml/2006/main">
              <a:ext uri="{FF2B5EF4-FFF2-40B4-BE49-F238E27FC236}">
                <a16:creationId xmlns:a16="http://schemas.microsoft.com/office/drawing/2014/main" id="{5B138CA8-2F8E-447D-861C-33E2AE8572EC}"/>
              </a:ext>
            </a:extLst>
          </p:cNvPr>
          <p:cNvSpPr>
            <a:spLocks xmlns:a="http://schemas.openxmlformats.org/drawingml/2006/main" noGrp="1"/>
          </p:cNvSpPr>
          <p:nvPr/>
        </p:nvSpPr>
        <p:spPr>
          <a:xfrm xmlns:a="http://schemas.openxmlformats.org/drawingml/2006/main">
            <a:off x="8366760" y="457200"/>
            <a:ext cx="3154680" cy="566928"/>
          </a:xfrm>
          <a:prstGeom xmlns:a="http://schemas.openxmlformats.org/drawingml/2006/main" prst="roundRect">
            <a:avLst>
              <a:gd name="adj" fmla="val 50000"/>
            </a:avLst>
          </a:prstGeom>
          <a:solidFill xmlns:a="http://schemas.openxmlformats.org/drawingml/2006/main">
            <a:srgbClr val="E7FBF3"/>
          </a:solidFill>
          <a:ln xmlns:a="http://schemas.openxmlformats.org/drawingml/2006/main" w="12700">
            <a:solidFill>
              <a:srgbClr val="37D3A8"/>
            </a:solidFill>
            <a:prstDash val="solid"/>
          </a:ln>
        </p:spPr>
      </p:sp>
      <p:pic>
        <p:nvPicPr>
          <p:cNvPr id="38" name="Image 0"/>
          <p:cNvPicPr>
            <a:picLocks xmlns:a="http://schemas.openxmlformats.org/drawingml/2006/main" noChangeAspect="1"/>
          </p:cNvPicPr>
          <p:nvPr/>
        </p:nvPicPr>
        <p:blipFill>
          <a:blip xmlns:r="http://schemas.openxmlformats.org/officeDocument/2006/relationships" xmlns:a="http://schemas.openxmlformats.org/drawingml/2006/main" r:embed="R9a4f0ef8436044bd"/>
          <a:stretch xmlns:a="http://schemas.openxmlformats.org/drawingml/2006/main">
            <a:fillRect l="0" t="0" r="0" b="0"/>
          </a:stretch>
        </p:blipFill>
        <p:spPr>
          <a:xfrm xmlns:a="http://schemas.openxmlformats.org/drawingml/2006/main">
            <a:off x="8577072" y="594360"/>
            <a:ext cx="292608" cy="292608"/>
          </a:xfrm>
          <a:prstGeom xmlns:a="http://schemas.openxmlformats.org/drawingml/2006/main" prst="rect">
            <a:avLst/>
          </a:prstGeom>
        </p:spPr>
      </p:pic>
      <p:sp>
        <p:nvSpPr>
          <p:cNvPr id="6" name="Text 3">
            <a:extLst xmlns:a="http://schemas.openxmlformats.org/drawingml/2006/main">
              <a:ext uri="{FF2B5EF4-FFF2-40B4-BE49-F238E27FC236}">
                <a16:creationId xmlns:a16="http://schemas.microsoft.com/office/drawing/2014/main" id="{8E7046D6-8297-473D-B778-A678F0AC4052}"/>
              </a:ext>
            </a:extLst>
          </p:cNvPr>
          <p:cNvSpPr>
            <a:spLocks xmlns:a="http://schemas.openxmlformats.org/drawingml/2006/main" noGrp="1"/>
          </p:cNvSpPr>
          <p:nvPr/>
        </p:nvSpPr>
        <p:spPr>
          <a:xfrm xmlns:a="http://schemas.openxmlformats.org/drawingml/2006/main">
            <a:off x="8942832" y="457200"/>
            <a:ext cx="246888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0F8A66"/>
                </a:solidFill>
                <a:latin typeface="Arial"/>
                <a:ea typeface="Arial"/>
                <a:cs typeface="Arial"/>
              </a:rPr>
              <a:t>Validated, not projected</a:t>
            </a:r>
            <a:endParaRPr sz="1150"/>
          </a:p>
        </p:txBody>
      </p:sp>
      <p:sp>
        <p:nvSpPr>
          <p:cNvPr id="7" name="Shape 4">
            <a:extLst xmlns:a="http://schemas.openxmlformats.org/drawingml/2006/main">
              <a:ext uri="{FF2B5EF4-FFF2-40B4-BE49-F238E27FC236}">
                <a16:creationId xmlns:a16="http://schemas.microsoft.com/office/drawing/2014/main" id="{A1CC89A8-43B8-4C7D-8DE8-2A14660869B2}"/>
              </a:ext>
            </a:extLst>
          </p:cNvPr>
          <p:cNvSpPr>
            <a:spLocks xmlns:a="http://schemas.openxmlformats.org/drawingml/2006/main" noGrp="1"/>
          </p:cNvSpPr>
          <p:nvPr/>
        </p:nvSpPr>
        <p:spPr>
          <a:xfrm xmlns:a="http://schemas.openxmlformats.org/drawingml/2006/main">
            <a:off x="64008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8" name="Text 5">
            <a:extLst xmlns:a="http://schemas.openxmlformats.org/drawingml/2006/main">
              <a:ext uri="{FF2B5EF4-FFF2-40B4-BE49-F238E27FC236}">
                <a16:creationId xmlns:a16="http://schemas.microsoft.com/office/drawing/2014/main" id="{083BC051-C8D1-43E9-A943-858F97D9324B}"/>
              </a:ext>
            </a:extLst>
          </p:cNvPr>
          <p:cNvSpPr>
            <a:spLocks xmlns:a="http://schemas.openxmlformats.org/drawingml/2006/main" noGrp="1"/>
          </p:cNvSpPr>
          <p:nvPr/>
        </p:nvSpPr>
        <p:spPr>
          <a:xfrm xmlns:a="http://schemas.openxmlformats.org/drawingml/2006/main">
            <a:off x="85953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A2138"/>
                </a:solidFill>
                <a:latin typeface="Cambria"/>
                <a:ea typeface="Cambria"/>
                <a:cs typeface="Cambria"/>
              </a:rPr>
              <a:t>$489K</a:t>
            </a:r>
            <a:endParaRPr sz="3300"/>
          </a:p>
        </p:txBody>
      </p:sp>
      <p:sp>
        <p:nvSpPr>
          <p:cNvPr id="9" name="Text 6">
            <a:extLst xmlns:a="http://schemas.openxmlformats.org/drawingml/2006/main">
              <a:ext uri="{FF2B5EF4-FFF2-40B4-BE49-F238E27FC236}">
                <a16:creationId xmlns:a16="http://schemas.microsoft.com/office/drawing/2014/main" id="{5801D4B8-8FFA-4B6A-8A3C-FA3D63478F0A}"/>
              </a:ext>
            </a:extLst>
          </p:cNvPr>
          <p:cNvSpPr>
            <a:spLocks xmlns:a="http://schemas.openxmlformats.org/drawingml/2006/main" noGrp="1"/>
          </p:cNvSpPr>
          <p:nvPr/>
        </p:nvSpPr>
        <p:spPr>
          <a:xfrm xmlns:a="http://schemas.openxmlformats.org/drawingml/2006/main">
            <a:off x="87782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B7280"/>
                </a:solidFill>
                <a:latin typeface="Arial"/>
                <a:ea typeface="Arial"/>
                <a:cs typeface="Arial"/>
              </a:rPr>
              <a:t>GMV</a:t>
            </a:r>
            <a:endParaRPr sz="1200"/>
          </a:p>
        </p:txBody>
      </p:sp>
      <p:sp>
        <p:nvSpPr>
          <p:cNvPr id="10" name="Shape 7">
            <a:extLst xmlns:a="http://schemas.openxmlformats.org/drawingml/2006/main">
              <a:ext uri="{FF2B5EF4-FFF2-40B4-BE49-F238E27FC236}">
                <a16:creationId xmlns:a16="http://schemas.microsoft.com/office/drawing/2014/main" id="{8287AC00-F83C-47CF-964B-38867D13357E}"/>
              </a:ext>
            </a:extLst>
          </p:cNvPr>
          <p:cNvSpPr>
            <a:spLocks xmlns:a="http://schemas.openxmlformats.org/drawingml/2006/main" noGrp="1"/>
          </p:cNvSpPr>
          <p:nvPr/>
        </p:nvSpPr>
        <p:spPr>
          <a:xfrm xmlns:a="http://schemas.openxmlformats.org/drawingml/2006/main">
            <a:off x="347472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1" name="Text 8">
            <a:extLst xmlns:a="http://schemas.openxmlformats.org/drawingml/2006/main">
              <a:ext uri="{FF2B5EF4-FFF2-40B4-BE49-F238E27FC236}">
                <a16:creationId xmlns:a16="http://schemas.microsoft.com/office/drawing/2014/main" id="{DB4E9118-1F05-49A3-B5AB-A969B0C11EFD}"/>
              </a:ext>
            </a:extLst>
          </p:cNvPr>
          <p:cNvSpPr>
            <a:spLocks xmlns:a="http://schemas.openxmlformats.org/drawingml/2006/main" noGrp="1"/>
          </p:cNvSpPr>
          <p:nvPr/>
        </p:nvSpPr>
        <p:spPr>
          <a:xfrm xmlns:a="http://schemas.openxmlformats.org/drawingml/2006/main">
            <a:off x="369417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A2138"/>
                </a:solidFill>
                <a:latin typeface="Cambria"/>
                <a:ea typeface="Cambria"/>
                <a:cs typeface="Cambria"/>
              </a:rPr>
              <a:t>14.3K</a:t>
            </a:r>
            <a:endParaRPr sz="3300"/>
          </a:p>
        </p:txBody>
      </p:sp>
      <p:sp>
        <p:nvSpPr>
          <p:cNvPr id="12" name="Text 9">
            <a:extLst xmlns:a="http://schemas.openxmlformats.org/drawingml/2006/main">
              <a:ext uri="{FF2B5EF4-FFF2-40B4-BE49-F238E27FC236}">
                <a16:creationId xmlns:a16="http://schemas.microsoft.com/office/drawing/2014/main" id="{CC59DAC2-F0E2-45E6-BBE2-B50D7BBCF680}"/>
              </a:ext>
            </a:extLst>
          </p:cNvPr>
          <p:cNvSpPr>
            <a:spLocks xmlns:a="http://schemas.openxmlformats.org/drawingml/2006/main" noGrp="1"/>
          </p:cNvSpPr>
          <p:nvPr/>
        </p:nvSpPr>
        <p:spPr>
          <a:xfrm xmlns:a="http://schemas.openxmlformats.org/drawingml/2006/main">
            <a:off x="371246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B7280"/>
                </a:solidFill>
                <a:latin typeface="Arial"/>
                <a:ea typeface="Arial"/>
                <a:cs typeface="Arial"/>
              </a:rPr>
              <a:t>Orders</a:t>
            </a:r>
            <a:endParaRPr sz="1200"/>
          </a:p>
        </p:txBody>
      </p:sp>
      <p:sp>
        <p:nvSpPr>
          <p:cNvPr id="13" name="Shape 10">
            <a:extLst xmlns:a="http://schemas.openxmlformats.org/drawingml/2006/main">
              <a:ext uri="{FF2B5EF4-FFF2-40B4-BE49-F238E27FC236}">
                <a16:creationId xmlns:a16="http://schemas.microsoft.com/office/drawing/2014/main" id="{D0F8B01F-7FC7-4978-AC3C-214D4CDD06D8}"/>
              </a:ext>
            </a:extLst>
          </p:cNvPr>
          <p:cNvSpPr>
            <a:spLocks xmlns:a="http://schemas.openxmlformats.org/drawingml/2006/main" noGrp="1"/>
          </p:cNvSpPr>
          <p:nvPr/>
        </p:nvSpPr>
        <p:spPr>
          <a:xfrm xmlns:a="http://schemas.openxmlformats.org/drawingml/2006/main">
            <a:off x="630936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4" name="Text 11">
            <a:extLst xmlns:a="http://schemas.openxmlformats.org/drawingml/2006/main">
              <a:ext uri="{FF2B5EF4-FFF2-40B4-BE49-F238E27FC236}">
                <a16:creationId xmlns:a16="http://schemas.microsoft.com/office/drawing/2014/main" id="{3E6962AB-19A3-4650-9789-CC163EC08E3C}"/>
              </a:ext>
            </a:extLst>
          </p:cNvPr>
          <p:cNvSpPr>
            <a:spLocks xmlns:a="http://schemas.openxmlformats.org/drawingml/2006/main" noGrp="1"/>
          </p:cNvSpPr>
          <p:nvPr/>
        </p:nvSpPr>
        <p:spPr>
          <a:xfrm xmlns:a="http://schemas.openxmlformats.org/drawingml/2006/main">
            <a:off x="652881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A2138"/>
                </a:solidFill>
                <a:latin typeface="Cambria"/>
                <a:ea typeface="Cambria"/>
                <a:cs typeface="Cambria"/>
              </a:rPr>
              <a:t>7.6K</a:t>
            </a:r>
            <a:endParaRPr sz="3300"/>
          </a:p>
        </p:txBody>
      </p:sp>
      <p:sp>
        <p:nvSpPr>
          <p:cNvPr id="15" name="Text 12">
            <a:extLst xmlns:a="http://schemas.openxmlformats.org/drawingml/2006/main">
              <a:ext uri="{FF2B5EF4-FFF2-40B4-BE49-F238E27FC236}">
                <a16:creationId xmlns:a16="http://schemas.microsoft.com/office/drawing/2014/main" id="{03D16949-8FAA-44C9-81D5-3C7999B4A77E}"/>
              </a:ext>
            </a:extLst>
          </p:cNvPr>
          <p:cNvSpPr>
            <a:spLocks xmlns:a="http://schemas.openxmlformats.org/drawingml/2006/main" noGrp="1"/>
          </p:cNvSpPr>
          <p:nvPr/>
        </p:nvSpPr>
        <p:spPr>
          <a:xfrm xmlns:a="http://schemas.openxmlformats.org/drawingml/2006/main">
            <a:off x="654710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B7280"/>
                </a:solidFill>
                <a:latin typeface="Arial"/>
                <a:ea typeface="Arial"/>
                <a:cs typeface="Arial"/>
              </a:rPr>
              <a:t>Buyers</a:t>
            </a:r>
            <a:endParaRPr sz="1200"/>
          </a:p>
        </p:txBody>
      </p:sp>
      <p:sp>
        <p:nvSpPr>
          <p:cNvPr id="16" name="Shape 13">
            <a:extLst xmlns:a="http://schemas.openxmlformats.org/drawingml/2006/main">
              <a:ext uri="{FF2B5EF4-FFF2-40B4-BE49-F238E27FC236}">
                <a16:creationId xmlns:a16="http://schemas.microsoft.com/office/drawing/2014/main" id="{619C6BB2-2B12-4A23-A21F-F8DEF20502C9}"/>
              </a:ext>
            </a:extLst>
          </p:cNvPr>
          <p:cNvSpPr>
            <a:spLocks xmlns:a="http://schemas.openxmlformats.org/drawingml/2006/main" noGrp="1"/>
          </p:cNvSpPr>
          <p:nvPr/>
        </p:nvSpPr>
        <p:spPr>
          <a:xfrm xmlns:a="http://schemas.openxmlformats.org/drawingml/2006/main">
            <a:off x="9144000" y="1874520"/>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Text 14">
            <a:extLst xmlns:a="http://schemas.openxmlformats.org/drawingml/2006/main">
              <a:ext uri="{FF2B5EF4-FFF2-40B4-BE49-F238E27FC236}">
                <a16:creationId xmlns:a16="http://schemas.microsoft.com/office/drawing/2014/main" id="{C8D9E402-D773-41A4-9EA4-C5551F9B4DEE}"/>
              </a:ext>
            </a:extLst>
          </p:cNvPr>
          <p:cNvSpPr>
            <a:spLocks xmlns:a="http://schemas.openxmlformats.org/drawingml/2006/main" noGrp="1"/>
          </p:cNvSpPr>
          <p:nvPr/>
        </p:nvSpPr>
        <p:spPr>
          <a:xfrm xmlns:a="http://schemas.openxmlformats.org/drawingml/2006/main">
            <a:off x="9363456" y="2112264"/>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A2138"/>
                </a:solidFill>
                <a:latin typeface="Cambria"/>
                <a:ea typeface="Cambria"/>
                <a:cs typeface="Cambria"/>
              </a:rPr>
              <a:t>$1.3M</a:t>
            </a:r>
            <a:endParaRPr sz="3300"/>
          </a:p>
        </p:txBody>
      </p:sp>
      <p:sp>
        <p:nvSpPr>
          <p:cNvPr id="18" name="Text 15">
            <a:extLst xmlns:a="http://schemas.openxmlformats.org/drawingml/2006/main">
              <a:ext uri="{FF2B5EF4-FFF2-40B4-BE49-F238E27FC236}">
                <a16:creationId xmlns:a16="http://schemas.microsoft.com/office/drawing/2014/main" id="{66DF4254-FD32-474C-9653-A63FD8879492}"/>
              </a:ext>
            </a:extLst>
          </p:cNvPr>
          <p:cNvSpPr>
            <a:spLocks xmlns:a="http://schemas.openxmlformats.org/drawingml/2006/main" noGrp="1"/>
          </p:cNvSpPr>
          <p:nvPr/>
        </p:nvSpPr>
        <p:spPr>
          <a:xfrm xmlns:a="http://schemas.openxmlformats.org/drawingml/2006/main">
            <a:off x="9381744" y="2788920"/>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B7280"/>
                </a:solidFill>
                <a:latin typeface="Arial"/>
                <a:ea typeface="Arial"/>
                <a:cs typeface="Arial"/>
              </a:rPr>
              <a:t>Annualized run-rate</a:t>
            </a:r>
            <a:endParaRPr sz="1200"/>
          </a:p>
        </p:txBody>
      </p:sp>
      <p:sp>
        <p:nvSpPr>
          <p:cNvPr id="19" name="Shape 16">
            <a:extLst xmlns:a="http://schemas.openxmlformats.org/drawingml/2006/main">
              <a:ext uri="{FF2B5EF4-FFF2-40B4-BE49-F238E27FC236}">
                <a16:creationId xmlns:a16="http://schemas.microsoft.com/office/drawing/2014/main" id="{73335A31-B318-479E-BA63-A3F9FC998228}"/>
              </a:ext>
            </a:extLst>
          </p:cNvPr>
          <p:cNvSpPr>
            <a:spLocks xmlns:a="http://schemas.openxmlformats.org/drawingml/2006/main" noGrp="1"/>
          </p:cNvSpPr>
          <p:nvPr/>
        </p:nvSpPr>
        <p:spPr>
          <a:xfrm xmlns:a="http://schemas.openxmlformats.org/drawingml/2006/main">
            <a:off x="64008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0" name="Text 17">
            <a:extLst xmlns:a="http://schemas.openxmlformats.org/drawingml/2006/main">
              <a:ext uri="{FF2B5EF4-FFF2-40B4-BE49-F238E27FC236}">
                <a16:creationId xmlns:a16="http://schemas.microsoft.com/office/drawing/2014/main" id="{DA566AE0-E59C-4188-A27D-6025E1E14D16}"/>
              </a:ext>
            </a:extLst>
          </p:cNvPr>
          <p:cNvSpPr>
            <a:spLocks xmlns:a="http://schemas.openxmlformats.org/drawingml/2006/main" noGrp="1"/>
          </p:cNvSpPr>
          <p:nvPr/>
        </p:nvSpPr>
        <p:spPr>
          <a:xfrm xmlns:a="http://schemas.openxmlformats.org/drawingml/2006/main">
            <a:off x="85953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A2138"/>
                </a:solidFill>
                <a:latin typeface="Cambria"/>
                <a:ea typeface="Cambria"/>
                <a:cs typeface="Cambria"/>
              </a:rPr>
              <a:t>~$8</a:t>
            </a:r>
            <a:endParaRPr sz="3300"/>
          </a:p>
        </p:txBody>
      </p:sp>
      <p:sp>
        <p:nvSpPr>
          <p:cNvPr id="21" name="Text 18">
            <a:extLst xmlns:a="http://schemas.openxmlformats.org/drawingml/2006/main">
              <a:ext uri="{FF2B5EF4-FFF2-40B4-BE49-F238E27FC236}">
                <a16:creationId xmlns:a16="http://schemas.microsoft.com/office/drawing/2014/main" id="{27CB8A5B-B5D3-4DFD-B360-80946138A280}"/>
              </a:ext>
            </a:extLst>
          </p:cNvPr>
          <p:cNvSpPr>
            <a:spLocks xmlns:a="http://schemas.openxmlformats.org/drawingml/2006/main" noGrp="1"/>
          </p:cNvSpPr>
          <p:nvPr/>
        </p:nvSpPr>
        <p:spPr>
          <a:xfrm xmlns:a="http://schemas.openxmlformats.org/drawingml/2006/main">
            <a:off x="87782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B7280"/>
                </a:solidFill>
                <a:latin typeface="Arial"/>
                <a:ea typeface="Arial"/>
                <a:cs typeface="Arial"/>
              </a:rPr>
              <a:t>Paid CAC / buyer</a:t>
            </a:r>
            <a:endParaRPr sz="1200"/>
          </a:p>
        </p:txBody>
      </p:sp>
      <p:sp>
        <p:nvSpPr>
          <p:cNvPr id="22" name="Shape 19">
            <a:extLst xmlns:a="http://schemas.openxmlformats.org/drawingml/2006/main">
              <a:ext uri="{FF2B5EF4-FFF2-40B4-BE49-F238E27FC236}">
                <a16:creationId xmlns:a16="http://schemas.microsoft.com/office/drawing/2014/main" id="{4F0A8D4A-7D48-499E-A252-62DADA93F1CE}"/>
              </a:ext>
            </a:extLst>
          </p:cNvPr>
          <p:cNvSpPr>
            <a:spLocks xmlns:a="http://schemas.openxmlformats.org/drawingml/2006/main" noGrp="1"/>
          </p:cNvSpPr>
          <p:nvPr/>
        </p:nvSpPr>
        <p:spPr>
          <a:xfrm xmlns:a="http://schemas.openxmlformats.org/drawingml/2006/main">
            <a:off x="347472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3" name="Text 20">
            <a:extLst xmlns:a="http://schemas.openxmlformats.org/drawingml/2006/main">
              <a:ext uri="{FF2B5EF4-FFF2-40B4-BE49-F238E27FC236}">
                <a16:creationId xmlns:a16="http://schemas.microsoft.com/office/drawing/2014/main" id="{D601A102-6AE2-4951-9257-6381F01BDCBE}"/>
              </a:ext>
            </a:extLst>
          </p:cNvPr>
          <p:cNvSpPr>
            <a:spLocks xmlns:a="http://schemas.openxmlformats.org/drawingml/2006/main" noGrp="1"/>
          </p:cNvSpPr>
          <p:nvPr/>
        </p:nvSpPr>
        <p:spPr>
          <a:xfrm xmlns:a="http://schemas.openxmlformats.org/drawingml/2006/main">
            <a:off x="369417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A2138"/>
                </a:solidFill>
                <a:latin typeface="Cambria"/>
                <a:ea typeface="Cambria"/>
                <a:cs typeface="Cambria"/>
              </a:rPr>
              <a:t>~$0.09</a:t>
            </a:r>
            <a:endParaRPr sz="3300"/>
          </a:p>
        </p:txBody>
      </p:sp>
      <p:sp>
        <p:nvSpPr>
          <p:cNvPr id="24" name="Text 21">
            <a:extLst xmlns:a="http://schemas.openxmlformats.org/drawingml/2006/main">
              <a:ext uri="{FF2B5EF4-FFF2-40B4-BE49-F238E27FC236}">
                <a16:creationId xmlns:a16="http://schemas.microsoft.com/office/drawing/2014/main" id="{01781B07-E551-40E4-8D39-9DCA1B07A834}"/>
              </a:ext>
            </a:extLst>
          </p:cNvPr>
          <p:cNvSpPr>
            <a:spLocks xmlns:a="http://schemas.openxmlformats.org/drawingml/2006/main" noGrp="1"/>
          </p:cNvSpPr>
          <p:nvPr/>
        </p:nvSpPr>
        <p:spPr>
          <a:xfrm xmlns:a="http://schemas.openxmlformats.org/drawingml/2006/main">
            <a:off x="371246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B7280"/>
                </a:solidFill>
                <a:latin typeface="Arial"/>
                <a:ea typeface="Arial"/>
                <a:cs typeface="Arial"/>
              </a:rPr>
              <a:t>TikTok CPI</a:t>
            </a:r>
            <a:endParaRPr sz="1200"/>
          </a:p>
        </p:txBody>
      </p:sp>
      <p:sp>
        <p:nvSpPr>
          <p:cNvPr id="25" name="Shape 22">
            <a:extLst xmlns:a="http://schemas.openxmlformats.org/drawingml/2006/main">
              <a:ext uri="{FF2B5EF4-FFF2-40B4-BE49-F238E27FC236}">
                <a16:creationId xmlns:a16="http://schemas.microsoft.com/office/drawing/2014/main" id="{4E2CFD7B-0DE8-44AF-848C-8B924EEBA94D}"/>
              </a:ext>
            </a:extLst>
          </p:cNvPr>
          <p:cNvSpPr>
            <a:spLocks xmlns:a="http://schemas.openxmlformats.org/drawingml/2006/main" noGrp="1"/>
          </p:cNvSpPr>
          <p:nvPr/>
        </p:nvSpPr>
        <p:spPr>
          <a:xfrm xmlns:a="http://schemas.openxmlformats.org/drawingml/2006/main">
            <a:off x="630936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6" name="Text 23">
            <a:extLst xmlns:a="http://schemas.openxmlformats.org/drawingml/2006/main">
              <a:ext uri="{FF2B5EF4-FFF2-40B4-BE49-F238E27FC236}">
                <a16:creationId xmlns:a16="http://schemas.microsoft.com/office/drawing/2014/main" id="{29F315EE-7B15-445B-88BC-979EC4CF63FD}"/>
              </a:ext>
            </a:extLst>
          </p:cNvPr>
          <p:cNvSpPr>
            <a:spLocks xmlns:a="http://schemas.openxmlformats.org/drawingml/2006/main" noGrp="1"/>
          </p:cNvSpPr>
          <p:nvPr/>
        </p:nvSpPr>
        <p:spPr>
          <a:xfrm xmlns:a="http://schemas.openxmlformats.org/drawingml/2006/main">
            <a:off x="652881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A2138"/>
                </a:solidFill>
                <a:latin typeface="Cambria"/>
                <a:ea typeface="Cambria"/>
                <a:cs typeface="Cambria"/>
              </a:rPr>
              <a:t>$34</a:t>
            </a:r>
            <a:endParaRPr sz="3300"/>
          </a:p>
        </p:txBody>
      </p:sp>
      <p:sp>
        <p:nvSpPr>
          <p:cNvPr id="27" name="Text 24">
            <a:extLst xmlns:a="http://schemas.openxmlformats.org/drawingml/2006/main">
              <a:ext uri="{FF2B5EF4-FFF2-40B4-BE49-F238E27FC236}">
                <a16:creationId xmlns:a16="http://schemas.microsoft.com/office/drawing/2014/main" id="{B7546332-39E1-4052-92C0-0AAF8E591E08}"/>
              </a:ext>
            </a:extLst>
          </p:cNvPr>
          <p:cNvSpPr>
            <a:spLocks xmlns:a="http://schemas.openxmlformats.org/drawingml/2006/main" noGrp="1"/>
          </p:cNvSpPr>
          <p:nvPr/>
        </p:nvSpPr>
        <p:spPr>
          <a:xfrm xmlns:a="http://schemas.openxmlformats.org/drawingml/2006/main">
            <a:off x="654710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B7280"/>
                </a:solidFill>
                <a:latin typeface="Arial"/>
                <a:ea typeface="Arial"/>
                <a:cs typeface="Arial"/>
              </a:rPr>
              <a:t>Gross AOV ($27 net)</a:t>
            </a:r>
            <a:endParaRPr sz="1200"/>
          </a:p>
        </p:txBody>
      </p:sp>
      <p:sp>
        <p:nvSpPr>
          <p:cNvPr id="28" name="Shape 25">
            <a:extLst xmlns:a="http://schemas.openxmlformats.org/drawingml/2006/main">
              <a:ext uri="{FF2B5EF4-FFF2-40B4-BE49-F238E27FC236}">
                <a16:creationId xmlns:a16="http://schemas.microsoft.com/office/drawing/2014/main" id="{FFE0703B-040C-4B48-ADCC-1F5D6B03EC9C}"/>
              </a:ext>
            </a:extLst>
          </p:cNvPr>
          <p:cNvSpPr>
            <a:spLocks xmlns:a="http://schemas.openxmlformats.org/drawingml/2006/main" noGrp="1"/>
          </p:cNvSpPr>
          <p:nvPr/>
        </p:nvSpPr>
        <p:spPr>
          <a:xfrm xmlns:a="http://schemas.openxmlformats.org/drawingml/2006/main">
            <a:off x="9144000" y="3529584"/>
            <a:ext cx="2615184" cy="1417320"/>
          </a:xfrm>
          <a:prstGeom xmlns:a="http://schemas.openxmlformats.org/drawingml/2006/main" prst="roundRect">
            <a:avLst>
              <a:gd name="adj" fmla="val 5806"/>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9" name="Text 26">
            <a:extLst xmlns:a="http://schemas.openxmlformats.org/drawingml/2006/main">
              <a:ext uri="{FF2B5EF4-FFF2-40B4-BE49-F238E27FC236}">
                <a16:creationId xmlns:a16="http://schemas.microsoft.com/office/drawing/2014/main" id="{B7183B0E-D0FE-4C77-ABE6-4BAC14E63DCD}"/>
              </a:ext>
            </a:extLst>
          </p:cNvPr>
          <p:cNvSpPr>
            <a:spLocks xmlns:a="http://schemas.openxmlformats.org/drawingml/2006/main" noGrp="1"/>
          </p:cNvSpPr>
          <p:nvPr/>
        </p:nvSpPr>
        <p:spPr>
          <a:xfrm xmlns:a="http://schemas.openxmlformats.org/drawingml/2006/main">
            <a:off x="9363456" y="3767328"/>
            <a:ext cx="22037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A2138"/>
                </a:solidFill>
                <a:latin typeface="Cambria"/>
                <a:ea typeface="Cambria"/>
                <a:cs typeface="Cambria"/>
              </a:rPr>
              <a:t>11-13.5%</a:t>
            </a:r>
            <a:endParaRPr sz="3300"/>
          </a:p>
        </p:txBody>
      </p:sp>
      <p:sp>
        <p:nvSpPr>
          <p:cNvPr id="30" name="Text 27">
            <a:extLst xmlns:a="http://schemas.openxmlformats.org/drawingml/2006/main">
              <a:ext uri="{FF2B5EF4-FFF2-40B4-BE49-F238E27FC236}">
                <a16:creationId xmlns:a16="http://schemas.microsoft.com/office/drawing/2014/main" id="{18210A8F-2D6B-4B65-A4F1-72AC15492A85}"/>
              </a:ext>
            </a:extLst>
          </p:cNvPr>
          <p:cNvSpPr>
            <a:spLocks xmlns:a="http://schemas.openxmlformats.org/drawingml/2006/main" noGrp="1"/>
          </p:cNvSpPr>
          <p:nvPr/>
        </p:nvSpPr>
        <p:spPr>
          <a:xfrm xmlns:a="http://schemas.openxmlformats.org/drawingml/2006/main">
            <a:off x="9381744" y="4443984"/>
            <a:ext cx="2203704"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6B7280"/>
                </a:solidFill>
                <a:latin typeface="Arial"/>
                <a:ea typeface="Arial"/>
                <a:cs typeface="Arial"/>
              </a:rPr>
              <a:t>Repeat, first 3 mo</a:t>
            </a:r>
            <a:endParaRPr sz="1200"/>
          </a:p>
        </p:txBody>
      </p:sp>
      <p:sp>
        <p:nvSpPr>
          <p:cNvPr id="31" name="Text 28">
            <a:extLst xmlns:a="http://schemas.openxmlformats.org/drawingml/2006/main">
              <a:ext uri="{FF2B5EF4-FFF2-40B4-BE49-F238E27FC236}">
                <a16:creationId xmlns:a16="http://schemas.microsoft.com/office/drawing/2014/main" id="{E30CA29B-9F91-44B0-A487-DBEAF082BC59}"/>
              </a:ext>
            </a:extLst>
          </p:cNvPr>
          <p:cNvSpPr>
            <a:spLocks xmlns:a="http://schemas.openxmlformats.org/drawingml/2006/main" noGrp="1"/>
          </p:cNvSpPr>
          <p:nvPr/>
        </p:nvSpPr>
        <p:spPr>
          <a:xfrm xmlns:a="http://schemas.openxmlformats.org/drawingml/2006/main">
            <a:off x="640080" y="5440680"/>
            <a:ext cx="1088136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lnSpc>
                <a:spcPct val="112000"/>
              </a:lnSpc>
              <a:buNone/>
            </a:pPr>
            <a:r>
              <a:rPr sz="1250" b="1">
                <a:solidFill>
                  <a:srgbClr val="1A2138"/>
                </a:solidFill>
                <a:latin typeface="Arial"/>
                <a:ea typeface="Arial"/>
                <a:cs typeface="Arial"/>
              </a:rPr>
              <a:t>Achieved in our initial launch market with no trust layer at all. </a:t>
            </a:r>
            <a:r>
              <a:rPr sz="1250">
                <a:solidFill>
                  <a:srgbClr val="6B7280"/>
                </a:solidFill>
                <a:latin typeface="Arial"/>
                <a:ea typeface="Arial"/>
                <a:cs typeface="Arial"/>
              </a:rPr>
              <a:t>CAC was ≈ 23% of a single first order, with room to scale spend as repeat compounds. This is the operator's track record, the new entity starts at zero.</a:t>
            </a:r>
            <a:endParaRPr sz="1250"/>
          </a:p>
        </p:txBody>
      </p:sp>
      <p:sp>
        <p:nvSpPr>
          <p:cNvPr id="32" name="Text 29">
            <a:extLst xmlns:a="http://schemas.openxmlformats.org/drawingml/2006/main">
              <a:ext uri="{FF2B5EF4-FFF2-40B4-BE49-F238E27FC236}">
                <a16:creationId xmlns:a16="http://schemas.microsoft.com/office/drawing/2014/main" id="{6B8D5ED9-0A1C-44B8-8F85-A8990EFB7A58}"/>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280"/>
                </a:solidFill>
                <a:latin typeface="Arial"/>
                <a:ea typeface="Arial"/>
                <a:cs typeface="Arial"/>
              </a:rPr>
              <a:t>SuperCheap.market  ·  working name</a:t>
            </a:r>
            <a:endParaRPr sz="900"/>
          </a:p>
        </p:txBody>
      </p:sp>
      <p:sp>
        <p:nvSpPr>
          <p:cNvPr id="33" name="Text 30">
            <a:extLst xmlns:a="http://schemas.openxmlformats.org/drawingml/2006/main">
              <a:ext uri="{FF2B5EF4-FFF2-40B4-BE49-F238E27FC236}">
                <a16:creationId xmlns:a16="http://schemas.microsoft.com/office/drawing/2014/main" id="{187C0256-D82B-48FE-B385-17F715476C02}"/>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7280"/>
                </a:solidFill>
                <a:latin typeface="Arial"/>
                <a:ea typeface="Arial"/>
                <a:cs typeface="Arial"/>
              </a:rPr>
              <a:t>8</a:t>
            </a:r>
            <a:endParaRPr sz="900"/>
          </a:p>
        </p:txBody>
      </p:sp>
    </p:spTree>
    <p:extLst>
      <p:ext uri="{BB962C8B-B14F-4D97-AF65-F5344CB8AC3E}">
        <p14:creationId xmlns:p14="http://schemas.microsoft.com/office/powerpoint/2010/main" val="873989940"/>
      </p:ext>
    </p:extLst>
  </p:cSld>
</p:sld>
</file>

<file path=ppt/slides/slide9.xml><?xml version="1.0" encoding="utf-8"?>
<p:sld xmlns:p="http://schemas.openxmlformats.org/presentationml/2006/main">
  <p:cSld>
    <p:bg>
      <p:bgPr>
        <a:solidFill xmlns:a="http://schemas.openxmlformats.org/drawingml/2006/main">
          <a:srgbClr val="F7F5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1A11271-6537-4A53-9B9C-51AD3F710960}"/>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FF5A6E"/>
                </a:solidFill>
                <a:latin typeface="Arial"/>
                <a:ea typeface="Arial"/>
                <a:cs typeface="Arial"/>
              </a:rPr>
              <a:t>MARKET</a:t>
            </a:r>
            <a:endParaRPr sz="1200"/>
          </a:p>
        </p:txBody>
      </p:sp>
      <p:sp>
        <p:nvSpPr>
          <p:cNvPr id="3" name="Text 1">
            <a:extLst xmlns:a="http://schemas.openxmlformats.org/drawingml/2006/main">
              <a:ext uri="{FF2B5EF4-FFF2-40B4-BE49-F238E27FC236}">
                <a16:creationId xmlns:a16="http://schemas.microsoft.com/office/drawing/2014/main" id="{DEA6D2D7-ECA3-4615-A98B-7BF5885B2E4B}"/>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A2138"/>
                </a:solidFill>
                <a:latin typeface="Cambria"/>
                <a:ea typeface="Cambria"/>
                <a:cs typeface="Cambria"/>
              </a:rPr>
              <a:t>A large market where we don't fight incumbents head-on</a:t>
            </a:r>
            <a:endParaRPr sz="3200"/>
          </a:p>
        </p:txBody>
      </p:sp>
      <p:sp>
        <p:nvSpPr>
          <p:cNvPr id="4" name="Shape 2">
            <a:extLst xmlns:a="http://schemas.openxmlformats.org/drawingml/2006/main">
              <a:ext uri="{FF2B5EF4-FFF2-40B4-BE49-F238E27FC236}">
                <a16:creationId xmlns:a16="http://schemas.microsoft.com/office/drawing/2014/main" id="{194547FE-EB44-4EAD-AB32-89324732A793}"/>
              </a:ext>
            </a:extLst>
          </p:cNvPr>
          <p:cNvSpPr>
            <a:spLocks xmlns:a="http://schemas.openxmlformats.org/drawingml/2006/main" noGrp="1"/>
          </p:cNvSpPr>
          <p:nvPr/>
        </p:nvSpPr>
        <p:spPr>
          <a:xfrm xmlns:a="http://schemas.openxmlformats.org/drawingml/2006/main">
            <a:off x="640080" y="1874520"/>
            <a:ext cx="6766560" cy="1234440"/>
          </a:xfrm>
          <a:prstGeom xmlns:a="http://schemas.openxmlformats.org/drawingml/2006/main" prst="roundRect">
            <a:avLst>
              <a:gd name="adj" fmla="val 6667"/>
            </a:avLst>
          </a:prstGeom>
          <a:solidFill xmlns:a="http://schemas.openxmlformats.org/drawingml/2006/main">
            <a:srgbClr val="141B34"/>
          </a:solidFill>
        </p:spPr>
      </p:sp>
      <p:sp>
        <p:nvSpPr>
          <p:cNvPr id="5" name="Text 3">
            <a:extLst xmlns:a="http://schemas.openxmlformats.org/drawingml/2006/main">
              <a:ext uri="{FF2B5EF4-FFF2-40B4-BE49-F238E27FC236}">
                <a16:creationId xmlns:a16="http://schemas.microsoft.com/office/drawing/2014/main" id="{2577B636-A9CA-4087-873C-5A2CFD3EABB5}"/>
              </a:ext>
            </a:extLst>
          </p:cNvPr>
          <p:cNvSpPr>
            <a:spLocks xmlns:a="http://schemas.openxmlformats.org/drawingml/2006/main" noGrp="1"/>
          </p:cNvSpPr>
          <p:nvPr/>
        </p:nvSpPr>
        <p:spPr>
          <a:xfrm xmlns:a="http://schemas.openxmlformats.org/drawingml/2006/main">
            <a:off x="914400" y="2057400"/>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CBD5F0"/>
                </a:solidFill>
                <a:latin typeface="Arial"/>
                <a:ea typeface="Arial"/>
                <a:cs typeface="Arial"/>
              </a:rPr>
              <a:t>TAM</a:t>
            </a:r>
            <a:endParaRPr sz="1300"/>
          </a:p>
        </p:txBody>
      </p:sp>
      <p:sp>
        <p:nvSpPr>
          <p:cNvPr id="6" name="Text 4">
            <a:extLst xmlns:a="http://schemas.openxmlformats.org/drawingml/2006/main">
              <a:ext uri="{FF2B5EF4-FFF2-40B4-BE49-F238E27FC236}">
                <a16:creationId xmlns:a16="http://schemas.microsoft.com/office/drawing/2014/main" id="{E712B79E-AEB0-442E-A919-18DD1706F2A3}"/>
              </a:ext>
            </a:extLst>
          </p:cNvPr>
          <p:cNvSpPr>
            <a:spLocks xmlns:a="http://schemas.openxmlformats.org/drawingml/2006/main" noGrp="1"/>
          </p:cNvSpPr>
          <p:nvPr/>
        </p:nvSpPr>
        <p:spPr>
          <a:xfrm xmlns:a="http://schemas.openxmlformats.org/drawingml/2006/main">
            <a:off x="914400" y="2377440"/>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Cambria"/>
                <a:ea typeface="Cambria"/>
                <a:cs typeface="Cambria"/>
              </a:rPr>
              <a:t>$1.0T+</a:t>
            </a:r>
            <a:endParaRPr sz="2700"/>
          </a:p>
        </p:txBody>
      </p:sp>
      <p:sp>
        <p:nvSpPr>
          <p:cNvPr id="7" name="Text 5">
            <a:extLst xmlns:a="http://schemas.openxmlformats.org/drawingml/2006/main">
              <a:ext uri="{FF2B5EF4-FFF2-40B4-BE49-F238E27FC236}">
                <a16:creationId xmlns:a16="http://schemas.microsoft.com/office/drawing/2014/main" id="{F70308B1-2894-480C-A7BD-2F3F9CBCF00E}"/>
              </a:ext>
            </a:extLst>
          </p:cNvPr>
          <p:cNvSpPr>
            <a:spLocks xmlns:a="http://schemas.openxmlformats.org/drawingml/2006/main" noGrp="1"/>
          </p:cNvSpPr>
          <p:nvPr/>
        </p:nvSpPr>
        <p:spPr>
          <a:xfrm xmlns:a="http://schemas.openxmlformats.org/drawingml/2006/main">
            <a:off x="3429000" y="2057400"/>
            <a:ext cx="374904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CBD5F0"/>
                </a:solidFill>
                <a:latin typeface="Arial"/>
                <a:ea typeface="Arial"/>
                <a:cs typeface="Arial"/>
              </a:rPr>
              <a:t>Global fashion e-commerce (~$1.06T in 2025), the category Temu, Shein and Zara compete in.</a:t>
            </a:r>
            <a:endParaRPr sz="1100"/>
          </a:p>
        </p:txBody>
      </p:sp>
      <p:sp>
        <p:nvSpPr>
          <p:cNvPr id="8" name="Shape 6">
            <a:extLst xmlns:a="http://schemas.openxmlformats.org/drawingml/2006/main">
              <a:ext uri="{FF2B5EF4-FFF2-40B4-BE49-F238E27FC236}">
                <a16:creationId xmlns:a16="http://schemas.microsoft.com/office/drawing/2014/main" id="{50255EC4-9C93-406B-93F4-E801F454379E}"/>
              </a:ext>
            </a:extLst>
          </p:cNvPr>
          <p:cNvSpPr>
            <a:spLocks xmlns:a="http://schemas.openxmlformats.org/drawingml/2006/main" noGrp="1"/>
          </p:cNvSpPr>
          <p:nvPr/>
        </p:nvSpPr>
        <p:spPr>
          <a:xfrm xmlns:a="http://schemas.openxmlformats.org/drawingml/2006/main">
            <a:off x="640080" y="3310128"/>
            <a:ext cx="5943600" cy="1234440"/>
          </a:xfrm>
          <a:prstGeom xmlns:a="http://schemas.openxmlformats.org/drawingml/2006/main" prst="roundRect">
            <a:avLst>
              <a:gd name="adj" fmla="val 6667"/>
            </a:avLst>
          </a:prstGeom>
          <a:solidFill xmlns:a="http://schemas.openxmlformats.org/drawingml/2006/main">
            <a:srgbClr val="2A3557"/>
          </a:solidFill>
        </p:spPr>
      </p:sp>
      <p:sp>
        <p:nvSpPr>
          <p:cNvPr id="9" name="Text 7">
            <a:extLst xmlns:a="http://schemas.openxmlformats.org/drawingml/2006/main">
              <a:ext uri="{FF2B5EF4-FFF2-40B4-BE49-F238E27FC236}">
                <a16:creationId xmlns:a16="http://schemas.microsoft.com/office/drawing/2014/main" id="{7C118B23-F5D6-493F-9E1D-9AA9B473B3E0}"/>
              </a:ext>
            </a:extLst>
          </p:cNvPr>
          <p:cNvSpPr>
            <a:spLocks xmlns:a="http://schemas.openxmlformats.org/drawingml/2006/main" noGrp="1"/>
          </p:cNvSpPr>
          <p:nvPr/>
        </p:nvSpPr>
        <p:spPr>
          <a:xfrm xmlns:a="http://schemas.openxmlformats.org/drawingml/2006/main">
            <a:off x="914400" y="3493008"/>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CBD5F0"/>
                </a:solidFill>
                <a:latin typeface="Arial"/>
                <a:ea typeface="Arial"/>
                <a:cs typeface="Arial"/>
              </a:rPr>
              <a:t>SAM</a:t>
            </a:r>
            <a:endParaRPr sz="1300"/>
          </a:p>
        </p:txBody>
      </p:sp>
      <p:sp>
        <p:nvSpPr>
          <p:cNvPr id="10" name="Text 8">
            <a:extLst xmlns:a="http://schemas.openxmlformats.org/drawingml/2006/main">
              <a:ext uri="{FF2B5EF4-FFF2-40B4-BE49-F238E27FC236}">
                <a16:creationId xmlns:a16="http://schemas.microsoft.com/office/drawing/2014/main" id="{2ADF27BC-DF06-483E-8861-524EDD8D104D}"/>
              </a:ext>
            </a:extLst>
          </p:cNvPr>
          <p:cNvSpPr>
            <a:spLocks xmlns:a="http://schemas.openxmlformats.org/drawingml/2006/main" noGrp="1"/>
          </p:cNvSpPr>
          <p:nvPr/>
        </p:nvSpPr>
        <p:spPr>
          <a:xfrm xmlns:a="http://schemas.openxmlformats.org/drawingml/2006/main">
            <a:off x="914400" y="3813048"/>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Cambria"/>
                <a:ea typeface="Cambria"/>
                <a:cs typeface="Cambria"/>
              </a:rPr>
              <a:t>$150-200B</a:t>
            </a:r>
            <a:endParaRPr sz="2700"/>
          </a:p>
        </p:txBody>
      </p:sp>
      <p:sp>
        <p:nvSpPr>
          <p:cNvPr id="11" name="Text 9">
            <a:extLst xmlns:a="http://schemas.openxmlformats.org/drawingml/2006/main">
              <a:ext uri="{FF2B5EF4-FFF2-40B4-BE49-F238E27FC236}">
                <a16:creationId xmlns:a16="http://schemas.microsoft.com/office/drawing/2014/main" id="{CFAAABA6-98BF-4B1F-A751-A490CE8D0800}"/>
              </a:ext>
            </a:extLst>
          </p:cNvPr>
          <p:cNvSpPr>
            <a:spLocks xmlns:a="http://schemas.openxmlformats.org/drawingml/2006/main" noGrp="1"/>
          </p:cNvSpPr>
          <p:nvPr/>
        </p:nvSpPr>
        <p:spPr>
          <a:xfrm xmlns:a="http://schemas.openxmlformats.org/drawingml/2006/main">
            <a:off x="3429000" y="3493008"/>
            <a:ext cx="292608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CBD5F0"/>
                </a:solidFill>
                <a:latin typeface="Arial"/>
                <a:ea typeface="Arial"/>
                <a:cs typeface="Arial"/>
              </a:rPr>
              <a:t>Affordable, trend-driven fashion for young online shoppers, discovered through TikTok, Instagram and Pinterest.</a:t>
            </a:r>
            <a:endParaRPr sz="1100"/>
          </a:p>
        </p:txBody>
      </p:sp>
      <p:sp>
        <p:nvSpPr>
          <p:cNvPr id="12" name="Shape 10">
            <a:extLst xmlns:a="http://schemas.openxmlformats.org/drawingml/2006/main">
              <a:ext uri="{FF2B5EF4-FFF2-40B4-BE49-F238E27FC236}">
                <a16:creationId xmlns:a16="http://schemas.microsoft.com/office/drawing/2014/main" id="{446C88E4-9D80-48EF-89A8-2109134C6381}"/>
              </a:ext>
            </a:extLst>
          </p:cNvPr>
          <p:cNvSpPr>
            <a:spLocks xmlns:a="http://schemas.openxmlformats.org/drawingml/2006/main" noGrp="1"/>
          </p:cNvSpPr>
          <p:nvPr/>
        </p:nvSpPr>
        <p:spPr>
          <a:xfrm xmlns:a="http://schemas.openxmlformats.org/drawingml/2006/main">
            <a:off x="640080" y="4745736"/>
            <a:ext cx="5120640" cy="1234440"/>
          </a:xfrm>
          <a:prstGeom xmlns:a="http://schemas.openxmlformats.org/drawingml/2006/main" prst="roundRect">
            <a:avLst>
              <a:gd name="adj" fmla="val 6667"/>
            </a:avLst>
          </a:prstGeom>
          <a:solidFill xmlns:a="http://schemas.openxmlformats.org/drawingml/2006/main">
            <a:srgbClr val="FF5A6E"/>
          </a:solidFill>
        </p:spPr>
      </p:sp>
      <p:sp>
        <p:nvSpPr>
          <p:cNvPr id="13" name="Text 11">
            <a:extLst xmlns:a="http://schemas.openxmlformats.org/drawingml/2006/main">
              <a:ext uri="{FF2B5EF4-FFF2-40B4-BE49-F238E27FC236}">
                <a16:creationId xmlns:a16="http://schemas.microsoft.com/office/drawing/2014/main" id="{A53DB7C0-7F22-4E8A-A37D-0B692D73B971}"/>
              </a:ext>
            </a:extLst>
          </p:cNvPr>
          <p:cNvSpPr>
            <a:spLocks xmlns:a="http://schemas.openxmlformats.org/drawingml/2006/main" noGrp="1"/>
          </p:cNvSpPr>
          <p:nvPr/>
        </p:nvSpPr>
        <p:spPr>
          <a:xfrm xmlns:a="http://schemas.openxmlformats.org/drawingml/2006/main">
            <a:off x="914400" y="4928616"/>
            <a:ext cx="11887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ECEF"/>
                </a:solidFill>
                <a:latin typeface="Arial"/>
                <a:ea typeface="Arial"/>
                <a:cs typeface="Arial"/>
              </a:rPr>
              <a:t>SOM</a:t>
            </a:r>
            <a:endParaRPr sz="1300"/>
          </a:p>
        </p:txBody>
      </p:sp>
      <p:sp>
        <p:nvSpPr>
          <p:cNvPr id="14" name="Text 12">
            <a:extLst xmlns:a="http://schemas.openxmlformats.org/drawingml/2006/main">
              <a:ext uri="{FF2B5EF4-FFF2-40B4-BE49-F238E27FC236}">
                <a16:creationId xmlns:a16="http://schemas.microsoft.com/office/drawing/2014/main" id="{06C69A23-0717-45A5-BCA7-0C996170D2A8}"/>
              </a:ext>
            </a:extLst>
          </p:cNvPr>
          <p:cNvSpPr>
            <a:spLocks xmlns:a="http://schemas.openxmlformats.org/drawingml/2006/main" noGrp="1"/>
          </p:cNvSpPr>
          <p:nvPr/>
        </p:nvSpPr>
        <p:spPr>
          <a:xfrm xmlns:a="http://schemas.openxmlformats.org/drawingml/2006/main">
            <a:off x="914400" y="5248656"/>
            <a:ext cx="2377440" cy="5943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FFFFFF"/>
                </a:solidFill>
                <a:latin typeface="Cambria"/>
                <a:ea typeface="Cambria"/>
                <a:cs typeface="Cambria"/>
              </a:rPr>
              <a:t>$10-20B</a:t>
            </a:r>
            <a:endParaRPr sz="2700"/>
          </a:p>
        </p:txBody>
      </p:sp>
      <p:sp>
        <p:nvSpPr>
          <p:cNvPr id="15" name="Text 13">
            <a:extLst xmlns:a="http://schemas.openxmlformats.org/drawingml/2006/main">
              <a:ext uri="{FF2B5EF4-FFF2-40B4-BE49-F238E27FC236}">
                <a16:creationId xmlns:a16="http://schemas.microsoft.com/office/drawing/2014/main" id="{6D2DCF8F-D6C2-4E9C-9445-1EE41EF46982}"/>
              </a:ext>
            </a:extLst>
          </p:cNvPr>
          <p:cNvSpPr>
            <a:spLocks xmlns:a="http://schemas.openxmlformats.org/drawingml/2006/main" noGrp="1"/>
          </p:cNvSpPr>
          <p:nvPr/>
        </p:nvSpPr>
        <p:spPr>
          <a:xfrm xmlns:a="http://schemas.openxmlformats.org/drawingml/2006/main">
            <a:off x="3429000" y="4928616"/>
            <a:ext cx="2103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8000"/>
              </a:lnSpc>
              <a:buNone/>
            </a:pPr>
            <a:r>
              <a:rPr sz="1100">
                <a:solidFill>
                  <a:srgbClr val="FFECEF"/>
                </a:solidFill>
                <a:latin typeface="Arial"/>
                <a:ea typeface="Arial"/>
                <a:cs typeface="Arial"/>
              </a:rPr>
              <a:t>Mobile-first social commerce in our target markets with cross-border supply. Target: 1-2% of the segment in 3-5 years.</a:t>
            </a:r>
            <a:endParaRPr sz="1100"/>
          </a:p>
        </p:txBody>
      </p:sp>
      <p:sp>
        <p:nvSpPr>
          <p:cNvPr id="16" name="Shape 14">
            <a:extLst xmlns:a="http://schemas.openxmlformats.org/drawingml/2006/main">
              <a:ext uri="{FF2B5EF4-FFF2-40B4-BE49-F238E27FC236}">
                <a16:creationId xmlns:a16="http://schemas.microsoft.com/office/drawing/2014/main" id="{6880F043-8BC8-47A0-82E4-E5E190A09520}"/>
              </a:ext>
            </a:extLst>
          </p:cNvPr>
          <p:cNvSpPr>
            <a:spLocks xmlns:a="http://schemas.openxmlformats.org/drawingml/2006/main" noGrp="1"/>
          </p:cNvSpPr>
          <p:nvPr/>
        </p:nvSpPr>
        <p:spPr>
          <a:xfrm xmlns:a="http://schemas.openxmlformats.org/drawingml/2006/main">
            <a:off x="7818120" y="1874520"/>
            <a:ext cx="3703320" cy="3977640"/>
          </a:xfrm>
          <a:prstGeom xmlns:a="http://schemas.openxmlformats.org/drawingml/2006/main" prst="roundRect">
            <a:avLst>
              <a:gd name="adj" fmla="val 2222"/>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Text 15">
            <a:extLst xmlns:a="http://schemas.openxmlformats.org/drawingml/2006/main">
              <a:ext uri="{FF2B5EF4-FFF2-40B4-BE49-F238E27FC236}">
                <a16:creationId xmlns:a16="http://schemas.microsoft.com/office/drawing/2014/main" id="{2D85EA49-79C8-4990-92E3-5B20D11B45E8}"/>
              </a:ext>
            </a:extLst>
          </p:cNvPr>
          <p:cNvSpPr>
            <a:spLocks xmlns:a="http://schemas.openxmlformats.org/drawingml/2006/main" noGrp="1"/>
          </p:cNvSpPr>
          <p:nvPr/>
        </p:nvSpPr>
        <p:spPr>
          <a:xfrm xmlns:a="http://schemas.openxmlformats.org/drawingml/2006/main">
            <a:off x="8110728" y="2130552"/>
            <a:ext cx="31546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A2138"/>
                </a:solidFill>
                <a:latin typeface="Arial"/>
                <a:ea typeface="Arial"/>
                <a:cs typeface="Arial"/>
              </a:rPr>
              <a:t>Where we start</a:t>
            </a:r>
            <a:endParaRPr sz="1400"/>
          </a:p>
        </p:txBody>
      </p:sp>
      <p:sp>
        <p:nvSpPr>
          <p:cNvPr id="18" name="Shape 16">
            <a:extLst xmlns:a="http://schemas.openxmlformats.org/drawingml/2006/main">
              <a:ext uri="{FF2B5EF4-FFF2-40B4-BE49-F238E27FC236}">
                <a16:creationId xmlns:a16="http://schemas.microsoft.com/office/drawing/2014/main" id="{46BD02A8-878F-4919-8615-15D44031B72E}"/>
              </a:ext>
            </a:extLst>
          </p:cNvPr>
          <p:cNvSpPr>
            <a:spLocks xmlns:a="http://schemas.openxmlformats.org/drawingml/2006/main" noGrp="1"/>
          </p:cNvSpPr>
          <p:nvPr/>
        </p:nvSpPr>
        <p:spPr>
          <a:xfrm xmlns:a="http://schemas.openxmlformats.org/drawingml/2006/main">
            <a:off x="8110728" y="2670048"/>
            <a:ext cx="274320" cy="274320"/>
          </a:xfrm>
          <a:prstGeom xmlns:a="http://schemas.openxmlformats.org/drawingml/2006/main" prst="ellipse">
            <a:avLst/>
          </a:prstGeom>
          <a:solidFill xmlns:a="http://schemas.openxmlformats.org/drawingml/2006/main">
            <a:srgbClr val="FF5A6E"/>
          </a:solidFill>
        </p:spPr>
      </p:sp>
      <p:sp>
        <p:nvSpPr>
          <p:cNvPr id="19" name="Text 17">
            <a:extLst xmlns:a="http://schemas.openxmlformats.org/drawingml/2006/main">
              <a:ext uri="{FF2B5EF4-FFF2-40B4-BE49-F238E27FC236}">
                <a16:creationId xmlns:a16="http://schemas.microsoft.com/office/drawing/2014/main" id="{53FFB1DD-9F9F-4509-8382-7C9045965D9C}"/>
              </a:ext>
            </a:extLst>
          </p:cNvPr>
          <p:cNvSpPr>
            <a:spLocks xmlns:a="http://schemas.openxmlformats.org/drawingml/2006/main" noGrp="1"/>
          </p:cNvSpPr>
          <p:nvPr/>
        </p:nvSpPr>
        <p:spPr>
          <a:xfrm xmlns:a="http://schemas.openxmlformats.org/drawingml/2006/main">
            <a:off x="8503920" y="2606040"/>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A2138"/>
                </a:solidFill>
                <a:latin typeface="Arial"/>
                <a:ea typeface="Arial"/>
                <a:cs typeface="Arial"/>
              </a:rPr>
              <a:t>US</a:t>
            </a:r>
            <a:endParaRPr sz="1350"/>
          </a:p>
        </p:txBody>
      </p:sp>
      <p:sp>
        <p:nvSpPr>
          <p:cNvPr id="20" name="Text 18">
            <a:extLst xmlns:a="http://schemas.openxmlformats.org/drawingml/2006/main">
              <a:ext uri="{FF2B5EF4-FFF2-40B4-BE49-F238E27FC236}">
                <a16:creationId xmlns:a16="http://schemas.microsoft.com/office/drawing/2014/main" id="{7FB9E49A-6E72-4671-95A6-EC9B6D4E0C5C}"/>
              </a:ext>
            </a:extLst>
          </p:cNvPr>
          <p:cNvSpPr>
            <a:spLocks xmlns:a="http://schemas.openxmlformats.org/drawingml/2006/main" noGrp="1"/>
          </p:cNvSpPr>
          <p:nvPr/>
        </p:nvSpPr>
        <p:spPr>
          <a:xfrm xmlns:a="http://schemas.openxmlformats.org/drawingml/2006/main">
            <a:off x="8503920" y="2926080"/>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B7280"/>
                </a:solidFill>
                <a:latin typeface="Arial"/>
                <a:ea typeface="Arial"/>
                <a:cs typeface="Arial"/>
              </a:rPr>
              <a:t>One of the world's largest fashion e-commerce markets (~20% of global).</a:t>
            </a:r>
            <a:endParaRPr sz="1100"/>
          </a:p>
        </p:txBody>
      </p:sp>
      <p:sp>
        <p:nvSpPr>
          <p:cNvPr id="21" name="Shape 19">
            <a:extLst xmlns:a="http://schemas.openxmlformats.org/drawingml/2006/main">
              <a:ext uri="{FF2B5EF4-FFF2-40B4-BE49-F238E27FC236}">
                <a16:creationId xmlns:a16="http://schemas.microsoft.com/office/drawing/2014/main" id="{FE21CE25-DAD4-4FB0-A013-3B987F2E366E}"/>
              </a:ext>
            </a:extLst>
          </p:cNvPr>
          <p:cNvSpPr>
            <a:spLocks xmlns:a="http://schemas.openxmlformats.org/drawingml/2006/main" noGrp="1"/>
          </p:cNvSpPr>
          <p:nvPr/>
        </p:nvSpPr>
        <p:spPr>
          <a:xfrm xmlns:a="http://schemas.openxmlformats.org/drawingml/2006/main">
            <a:off x="8110728" y="3749040"/>
            <a:ext cx="274320" cy="274320"/>
          </a:xfrm>
          <a:prstGeom xmlns:a="http://schemas.openxmlformats.org/drawingml/2006/main" prst="ellipse">
            <a:avLst/>
          </a:prstGeom>
          <a:solidFill xmlns:a="http://schemas.openxmlformats.org/drawingml/2006/main">
            <a:srgbClr val="FF5A6E"/>
          </a:solidFill>
        </p:spPr>
      </p:sp>
      <p:sp>
        <p:nvSpPr>
          <p:cNvPr id="22" name="Text 20">
            <a:extLst xmlns:a="http://schemas.openxmlformats.org/drawingml/2006/main">
              <a:ext uri="{FF2B5EF4-FFF2-40B4-BE49-F238E27FC236}">
                <a16:creationId xmlns:a16="http://schemas.microsoft.com/office/drawing/2014/main" id="{9358EFDE-F733-4D51-B5DC-7C87667F5E97}"/>
              </a:ext>
            </a:extLst>
          </p:cNvPr>
          <p:cNvSpPr>
            <a:spLocks xmlns:a="http://schemas.openxmlformats.org/drawingml/2006/main" noGrp="1"/>
          </p:cNvSpPr>
          <p:nvPr/>
        </p:nvSpPr>
        <p:spPr>
          <a:xfrm xmlns:a="http://schemas.openxmlformats.org/drawingml/2006/main">
            <a:off x="8503920" y="3685032"/>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A2138"/>
                </a:solidFill>
                <a:latin typeface="Arial"/>
                <a:ea typeface="Arial"/>
                <a:cs typeface="Arial"/>
              </a:rPr>
              <a:t>Brazil</a:t>
            </a:r>
            <a:endParaRPr sz="1350"/>
          </a:p>
        </p:txBody>
      </p:sp>
      <p:sp>
        <p:nvSpPr>
          <p:cNvPr id="23" name="Text 21">
            <a:extLst xmlns:a="http://schemas.openxmlformats.org/drawingml/2006/main">
              <a:ext uri="{FF2B5EF4-FFF2-40B4-BE49-F238E27FC236}">
                <a16:creationId xmlns:a16="http://schemas.microsoft.com/office/drawing/2014/main" id="{04B8603B-9E52-4B17-8AC0-E11A0ED4B3C9}"/>
              </a:ext>
            </a:extLst>
          </p:cNvPr>
          <p:cNvSpPr>
            <a:spLocks xmlns:a="http://schemas.openxmlformats.org/drawingml/2006/main" noGrp="1"/>
          </p:cNvSpPr>
          <p:nvPr/>
        </p:nvSpPr>
        <p:spPr>
          <a:xfrm xmlns:a="http://schemas.openxmlformats.org/drawingml/2006/main">
            <a:off x="8503920" y="4005072"/>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B7280"/>
                </a:solidFill>
                <a:latin typeface="Arial"/>
                <a:ea typeface="Arial"/>
                <a:cs typeface="Arial"/>
              </a:rPr>
              <a:t>Among the fastest-growing, TikTok-native, cross-border demand rising.</a:t>
            </a:r>
            <a:endParaRPr sz="1100"/>
          </a:p>
        </p:txBody>
      </p:sp>
      <p:sp>
        <p:nvSpPr>
          <p:cNvPr id="24" name="Shape 22">
            <a:extLst xmlns:a="http://schemas.openxmlformats.org/drawingml/2006/main">
              <a:ext uri="{FF2B5EF4-FFF2-40B4-BE49-F238E27FC236}">
                <a16:creationId xmlns:a16="http://schemas.microsoft.com/office/drawing/2014/main" id="{28D48849-3CDA-4B13-A434-6C0822924972}"/>
              </a:ext>
            </a:extLst>
          </p:cNvPr>
          <p:cNvSpPr>
            <a:spLocks xmlns:a="http://schemas.openxmlformats.org/drawingml/2006/main" noGrp="1"/>
          </p:cNvSpPr>
          <p:nvPr/>
        </p:nvSpPr>
        <p:spPr>
          <a:xfrm xmlns:a="http://schemas.openxmlformats.org/drawingml/2006/main">
            <a:off x="8110728" y="4828032"/>
            <a:ext cx="274320" cy="274320"/>
          </a:xfrm>
          <a:prstGeom xmlns:a="http://schemas.openxmlformats.org/drawingml/2006/main" prst="ellipse">
            <a:avLst/>
          </a:prstGeom>
          <a:solidFill xmlns:a="http://schemas.openxmlformats.org/drawingml/2006/main">
            <a:srgbClr val="FF5A6E"/>
          </a:solidFill>
        </p:spPr>
      </p:sp>
      <p:sp>
        <p:nvSpPr>
          <p:cNvPr id="25" name="Text 23">
            <a:extLst xmlns:a="http://schemas.openxmlformats.org/drawingml/2006/main">
              <a:ext uri="{FF2B5EF4-FFF2-40B4-BE49-F238E27FC236}">
                <a16:creationId xmlns:a16="http://schemas.microsoft.com/office/drawing/2014/main" id="{0AFF5BA0-4C38-4F69-8694-58DAEFF958D7}"/>
              </a:ext>
            </a:extLst>
          </p:cNvPr>
          <p:cNvSpPr>
            <a:spLocks xmlns:a="http://schemas.openxmlformats.org/drawingml/2006/main" noGrp="1"/>
          </p:cNvSpPr>
          <p:nvPr/>
        </p:nvSpPr>
        <p:spPr>
          <a:xfrm xmlns:a="http://schemas.openxmlformats.org/drawingml/2006/main">
            <a:off x="8503920" y="4764024"/>
            <a:ext cx="27889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1A2138"/>
                </a:solidFill>
                <a:latin typeface="Arial"/>
                <a:ea typeface="Arial"/>
                <a:cs typeface="Arial"/>
              </a:rPr>
              <a:t>Mexico</a:t>
            </a:r>
            <a:endParaRPr sz="1350"/>
          </a:p>
        </p:txBody>
      </p:sp>
      <p:sp>
        <p:nvSpPr>
          <p:cNvPr id="26" name="Text 24">
            <a:extLst xmlns:a="http://schemas.openxmlformats.org/drawingml/2006/main">
              <a:ext uri="{FF2B5EF4-FFF2-40B4-BE49-F238E27FC236}">
                <a16:creationId xmlns:a16="http://schemas.microsoft.com/office/drawing/2014/main" id="{20D2CBFD-C262-407E-BFE2-58F9E55A94DF}"/>
              </a:ext>
            </a:extLst>
          </p:cNvPr>
          <p:cNvSpPr>
            <a:spLocks xmlns:a="http://schemas.openxmlformats.org/drawingml/2006/main" noGrp="1"/>
          </p:cNvSpPr>
          <p:nvPr/>
        </p:nvSpPr>
        <p:spPr>
          <a:xfrm xmlns:a="http://schemas.openxmlformats.org/drawingml/2006/main">
            <a:off x="8503920" y="5084064"/>
            <a:ext cx="27432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100">
                <a:solidFill>
                  <a:srgbClr val="6B7280"/>
                </a:solidFill>
                <a:latin typeface="Arial"/>
                <a:ea typeface="Arial"/>
                <a:cs typeface="Arial"/>
              </a:rPr>
              <a:t>Same profile as Brazil; Stripe/dLocal rails already in place.</a:t>
            </a:r>
            <a:endParaRPr sz="1100"/>
          </a:p>
        </p:txBody>
      </p:sp>
      <p:sp>
        <p:nvSpPr>
          <p:cNvPr id="27" name="Text 25">
            <a:extLst xmlns:a="http://schemas.openxmlformats.org/drawingml/2006/main">
              <a:ext uri="{FF2B5EF4-FFF2-40B4-BE49-F238E27FC236}">
                <a16:creationId xmlns:a16="http://schemas.microsoft.com/office/drawing/2014/main" id="{9263700C-993A-4D18-B49F-F585FD9B4D70}"/>
              </a:ext>
            </a:extLst>
          </p:cNvPr>
          <p:cNvSpPr>
            <a:spLocks xmlns:a="http://schemas.openxmlformats.org/drawingml/2006/main" noGrp="1"/>
          </p:cNvSpPr>
          <p:nvPr/>
        </p:nvSpPr>
        <p:spPr>
          <a:xfrm xmlns:a="http://schemas.openxmlformats.org/drawingml/2006/main">
            <a:off x="640080" y="6144768"/>
            <a:ext cx="108813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280"/>
                </a:solidFill>
                <a:latin typeface="Arial"/>
                <a:ea typeface="Arial"/>
                <a:cs typeface="Arial"/>
              </a:rPr>
              <a:t>Sources: Statista · ECDB · Research and Markets · The Business Research Company</a:t>
            </a:r>
            <a:endParaRPr sz="900"/>
          </a:p>
        </p:txBody>
      </p:sp>
      <p:sp>
        <p:nvSpPr>
          <p:cNvPr id="28" name="Text 26">
            <a:extLst xmlns:a="http://schemas.openxmlformats.org/drawingml/2006/main">
              <a:ext uri="{FF2B5EF4-FFF2-40B4-BE49-F238E27FC236}">
                <a16:creationId xmlns:a16="http://schemas.microsoft.com/office/drawing/2014/main" id="{1FEAC201-7573-4666-96C5-DCC04F2202E2}"/>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280"/>
                </a:solidFill>
                <a:latin typeface="Arial"/>
                <a:ea typeface="Arial"/>
                <a:cs typeface="Arial"/>
              </a:rPr>
              <a:t>SuperCheap.market  ·  working name</a:t>
            </a:r>
            <a:endParaRPr sz="900"/>
          </a:p>
        </p:txBody>
      </p:sp>
      <p:sp>
        <p:nvSpPr>
          <p:cNvPr id="29" name="Text 27">
            <a:extLst xmlns:a="http://schemas.openxmlformats.org/drawingml/2006/main">
              <a:ext uri="{FF2B5EF4-FFF2-40B4-BE49-F238E27FC236}">
                <a16:creationId xmlns:a16="http://schemas.microsoft.com/office/drawing/2014/main" id="{5812D89A-5082-40DA-9BE7-E7D65A176BB9}"/>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7280"/>
                </a:solidFill>
                <a:latin typeface="Arial"/>
                <a:ea typeface="Arial"/>
                <a:cs typeface="Arial"/>
              </a:rPr>
              <a:t>9</a:t>
            </a:r>
            <a:endParaRPr sz="900"/>
          </a:p>
        </p:txBody>
      </p:sp>
    </p:spTree>
    <p:extLst>
      <p:ext uri="{BB962C8B-B14F-4D97-AF65-F5344CB8AC3E}">
        <p14:creationId xmlns:p14="http://schemas.microsoft.com/office/powerpoint/2010/main" val="266274173"/>
      </p:ext>
    </p:extLst>
  </p:cSld>
</p:sld>
</file>

<file path=ppt/slides/slide10.xml><?xml version="1.0" encoding="utf-8"?>
<p:sld xmlns:p="http://schemas.openxmlformats.org/presentationml/2006/main">
  <p:cSld>
    <p:bg>
      <p:bgPr>
        <a:solidFill xmlns:a="http://schemas.openxmlformats.org/drawingml/2006/main">
          <a:srgbClr val="F7F5F2"/>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444B6A7-6C1B-4BCB-B5DE-B466028E450A}"/>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FF5A6E"/>
                </a:solidFill>
                <a:latin typeface="Arial"/>
                <a:ea typeface="Arial"/>
                <a:cs typeface="Arial"/>
              </a:rPr>
              <a:t>BUSINESS MODEL</a:t>
            </a:r>
            <a:endParaRPr sz="1200"/>
          </a:p>
        </p:txBody>
      </p:sp>
      <p:sp>
        <p:nvSpPr>
          <p:cNvPr id="3" name="Text 1">
            <a:extLst xmlns:a="http://schemas.openxmlformats.org/drawingml/2006/main">
              <a:ext uri="{FF2B5EF4-FFF2-40B4-BE49-F238E27FC236}">
                <a16:creationId xmlns:a16="http://schemas.microsoft.com/office/drawing/2014/main" id="{95D476F6-34FC-4AA3-B52E-ED7C1672D6BD}"/>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1A2138"/>
                </a:solidFill>
                <a:latin typeface="Cambria"/>
                <a:ea typeface="Cambria"/>
                <a:cs typeface="Cambria"/>
              </a:rPr>
              <a:t>Margin now, platform revenue later</a:t>
            </a:r>
            <a:endParaRPr sz="3200"/>
          </a:p>
        </p:txBody>
      </p:sp>
      <p:sp>
        <p:nvSpPr>
          <p:cNvPr id="4" name="Shape 2">
            <a:extLst xmlns:a="http://schemas.openxmlformats.org/drawingml/2006/main">
              <a:ext uri="{FF2B5EF4-FFF2-40B4-BE49-F238E27FC236}">
                <a16:creationId xmlns:a16="http://schemas.microsoft.com/office/drawing/2014/main" id="{B5F27790-292B-446C-996F-D12DE7E61BDA}"/>
              </a:ext>
            </a:extLst>
          </p:cNvPr>
          <p:cNvSpPr>
            <a:spLocks xmlns:a="http://schemas.openxmlformats.org/drawingml/2006/main" noGrp="1"/>
          </p:cNvSpPr>
          <p:nvPr/>
        </p:nvSpPr>
        <p:spPr>
          <a:xfrm xmlns:a="http://schemas.openxmlformats.org/drawingml/2006/main">
            <a:off x="640080" y="1920240"/>
            <a:ext cx="5074920" cy="3108960"/>
          </a:xfrm>
          <a:prstGeom xmlns:a="http://schemas.openxmlformats.org/drawingml/2006/main" prst="roundRect">
            <a:avLst>
              <a:gd name="adj" fmla="val 2647"/>
            </a:avLst>
          </a:prstGeom>
          <a:solidFill xmlns:a="http://schemas.openxmlformats.org/drawingml/2006/main">
            <a:srgbClr val="141B34"/>
          </a:solidFill>
        </p:spPr>
      </p:sp>
      <p:sp>
        <p:nvSpPr>
          <p:cNvPr id="5" name="Text 3">
            <a:extLst xmlns:a="http://schemas.openxmlformats.org/drawingml/2006/main">
              <a:ext uri="{FF2B5EF4-FFF2-40B4-BE49-F238E27FC236}">
                <a16:creationId xmlns:a16="http://schemas.microsoft.com/office/drawing/2014/main" id="{0CAE7DF5-413C-4482-B721-EC928CCC9242}"/>
              </a:ext>
            </a:extLst>
          </p:cNvPr>
          <p:cNvSpPr>
            <a:spLocks xmlns:a="http://schemas.openxmlformats.org/drawingml/2006/main" noGrp="1"/>
          </p:cNvSpPr>
          <p:nvPr/>
        </p:nvSpPr>
        <p:spPr>
          <a:xfrm xmlns:a="http://schemas.openxmlformats.org/drawingml/2006/main">
            <a:off x="1005840" y="224028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FF8494"/>
                </a:solidFill>
                <a:latin typeface="Arial"/>
                <a:ea typeface="Arial"/>
                <a:cs typeface="Arial"/>
              </a:rPr>
              <a:t>CORE TODAY</a:t>
            </a:r>
            <a:endParaRPr sz="1200"/>
          </a:p>
        </p:txBody>
      </p:sp>
      <p:sp>
        <p:nvSpPr>
          <p:cNvPr id="6" name="Text 4">
            <a:extLst xmlns:a="http://schemas.openxmlformats.org/drawingml/2006/main">
              <a:ext uri="{FF2B5EF4-FFF2-40B4-BE49-F238E27FC236}">
                <a16:creationId xmlns:a16="http://schemas.microsoft.com/office/drawing/2014/main" id="{6143AB76-01AA-46DC-A80B-0B43CA10903F}"/>
              </a:ext>
            </a:extLst>
          </p:cNvPr>
          <p:cNvSpPr>
            <a:spLocks xmlns:a="http://schemas.openxmlformats.org/drawingml/2006/main" noGrp="1"/>
          </p:cNvSpPr>
          <p:nvPr/>
        </p:nvSpPr>
        <p:spPr>
          <a:xfrm xmlns:a="http://schemas.openxmlformats.org/drawingml/2006/main">
            <a:off x="1005840" y="2697480"/>
            <a:ext cx="43434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500" b="1">
                <a:solidFill>
                  <a:srgbClr val="FFFFFF"/>
                </a:solidFill>
                <a:latin typeface="Cambria"/>
                <a:ea typeface="Cambria"/>
                <a:cs typeface="Cambria"/>
              </a:rPr>
              <a:t>Margin on every order</a:t>
            </a:r>
            <a:endParaRPr sz="2500"/>
          </a:p>
        </p:txBody>
      </p:sp>
      <p:sp>
        <p:nvSpPr>
          <p:cNvPr id="7" name="Text 5">
            <a:extLst xmlns:a="http://schemas.openxmlformats.org/drawingml/2006/main">
              <a:ext uri="{FF2B5EF4-FFF2-40B4-BE49-F238E27FC236}">
                <a16:creationId xmlns:a16="http://schemas.microsoft.com/office/drawing/2014/main" id="{EA0FA882-DAB8-427A-B0DA-A2472AA13A8A}"/>
              </a:ext>
            </a:extLst>
          </p:cNvPr>
          <p:cNvSpPr>
            <a:spLocks xmlns:a="http://schemas.openxmlformats.org/drawingml/2006/main" noGrp="1"/>
          </p:cNvSpPr>
          <p:nvPr/>
        </p:nvSpPr>
        <p:spPr>
          <a:xfrm xmlns:a="http://schemas.openxmlformats.org/drawingml/2006/main">
            <a:off x="1005840" y="3383280"/>
            <a:ext cx="43434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350">
                <a:solidFill>
                  <a:srgbClr val="CBD5F0"/>
                </a:solidFill>
                <a:latin typeface="Arial"/>
                <a:ea typeface="Arial"/>
                <a:cs typeface="Arial"/>
              </a:rPr>
              <a:t>Buy directly from vetted manufacturers, with no reseller layer. Sell at a curated markup still below Shein. Gross AOV $34 / net $27 in the previous version.</a:t>
            </a:r>
            <a:endParaRPr sz="1350"/>
          </a:p>
        </p:txBody>
      </p:sp>
      <p:sp>
        <p:nvSpPr>
          <p:cNvPr id="8" name="Shape 6">
            <a:extLst xmlns:a="http://schemas.openxmlformats.org/drawingml/2006/main">
              <a:ext uri="{FF2B5EF4-FFF2-40B4-BE49-F238E27FC236}">
                <a16:creationId xmlns:a16="http://schemas.microsoft.com/office/drawing/2014/main" id="{B27A10A3-7AC5-4CA1-9244-72A2B7FD04E9}"/>
              </a:ext>
            </a:extLst>
          </p:cNvPr>
          <p:cNvSpPr>
            <a:spLocks xmlns:a="http://schemas.openxmlformats.org/drawingml/2006/main" noGrp="1"/>
          </p:cNvSpPr>
          <p:nvPr/>
        </p:nvSpPr>
        <p:spPr>
          <a:xfrm xmlns:a="http://schemas.openxmlformats.org/drawingml/2006/main">
            <a:off x="1005840" y="4389120"/>
            <a:ext cx="4343400" cy="457200"/>
          </a:xfrm>
          <a:prstGeom xmlns:a="http://schemas.openxmlformats.org/drawingml/2006/main" prst="roundRect">
            <a:avLst>
              <a:gd name="adj" fmla="val 50000"/>
            </a:avLst>
          </a:prstGeom>
          <a:solidFill xmlns:a="http://schemas.openxmlformats.org/drawingml/2006/main">
            <a:srgbClr val="23305A"/>
          </a:solidFill>
        </p:spPr>
      </p:sp>
      <p:sp>
        <p:nvSpPr>
          <p:cNvPr id="9" name="Text 7">
            <a:extLst xmlns:a="http://schemas.openxmlformats.org/drawingml/2006/main">
              <a:ext uri="{FF2B5EF4-FFF2-40B4-BE49-F238E27FC236}">
                <a16:creationId xmlns:a16="http://schemas.microsoft.com/office/drawing/2014/main" id="{527C35F7-855E-4262-9BC3-BD16DB491F37}"/>
              </a:ext>
            </a:extLst>
          </p:cNvPr>
          <p:cNvSpPr>
            <a:spLocks xmlns:a="http://schemas.openxmlformats.org/drawingml/2006/main" noGrp="1"/>
          </p:cNvSpPr>
          <p:nvPr/>
        </p:nvSpPr>
        <p:spPr>
          <a:xfrm xmlns:a="http://schemas.openxmlformats.org/drawingml/2006/main">
            <a:off x="1005840" y="4389120"/>
            <a:ext cx="43434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50" b="1">
                <a:solidFill>
                  <a:srgbClr val="37D3A8"/>
                </a:solidFill>
                <a:latin typeface="Arial"/>
                <a:ea typeface="Arial"/>
                <a:cs typeface="Arial"/>
              </a:rPr>
              <a:t>Positive ROI at 6-12 months on paid social</a:t>
            </a:r>
            <a:endParaRPr sz="1150"/>
          </a:p>
        </p:txBody>
      </p:sp>
      <p:sp>
        <p:nvSpPr>
          <p:cNvPr id="10" name="Text 8">
            <a:extLst xmlns:a="http://schemas.openxmlformats.org/drawingml/2006/main">
              <a:ext uri="{FF2B5EF4-FFF2-40B4-BE49-F238E27FC236}">
                <a16:creationId xmlns:a16="http://schemas.microsoft.com/office/drawing/2014/main" id="{56634472-8D5A-4AD4-A537-5044F7B2422D}"/>
              </a:ext>
            </a:extLst>
          </p:cNvPr>
          <p:cNvSpPr>
            <a:spLocks xmlns:a="http://schemas.openxmlformats.org/drawingml/2006/main" noGrp="1"/>
          </p:cNvSpPr>
          <p:nvPr/>
        </p:nvSpPr>
        <p:spPr>
          <a:xfrm xmlns:a="http://schemas.openxmlformats.org/drawingml/2006/main">
            <a:off x="6217920" y="1965960"/>
            <a:ext cx="534924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150">
                <a:solidFill>
                  <a:srgbClr val="6B7280"/>
                </a:solidFill>
                <a:latin typeface="Arial"/>
                <a:ea typeface="Arial"/>
                <a:cs typeface="Arial"/>
              </a:rPr>
              <a:t>EXPANSION REVENUE (planned)</a:t>
            </a:r>
            <a:endParaRPr sz="1200"/>
          </a:p>
        </p:txBody>
      </p:sp>
      <p:sp>
        <p:nvSpPr>
          <p:cNvPr id="11" name="Shape 9">
            <a:extLst xmlns:a="http://schemas.openxmlformats.org/drawingml/2006/main">
              <a:ext uri="{FF2B5EF4-FFF2-40B4-BE49-F238E27FC236}">
                <a16:creationId xmlns:a16="http://schemas.microsoft.com/office/drawing/2014/main" id="{6C3F67C0-B05D-494B-98C4-4B72645D547B}"/>
              </a:ext>
            </a:extLst>
          </p:cNvPr>
          <p:cNvSpPr>
            <a:spLocks xmlns:a="http://schemas.openxmlformats.org/drawingml/2006/main" noGrp="1"/>
          </p:cNvSpPr>
          <p:nvPr/>
        </p:nvSpPr>
        <p:spPr>
          <a:xfrm xmlns:a="http://schemas.openxmlformats.org/drawingml/2006/main">
            <a:off x="6172200" y="2423160"/>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2" name="Shape 10">
            <a:extLst xmlns:a="http://schemas.openxmlformats.org/drawingml/2006/main">
              <a:ext uri="{FF2B5EF4-FFF2-40B4-BE49-F238E27FC236}">
                <a16:creationId xmlns:a16="http://schemas.microsoft.com/office/drawing/2014/main" id="{A9299472-A6FC-41CC-8697-BF0BB48ABD11}"/>
              </a:ext>
            </a:extLst>
          </p:cNvPr>
          <p:cNvSpPr>
            <a:spLocks xmlns:a="http://schemas.openxmlformats.org/drawingml/2006/main" noGrp="1"/>
          </p:cNvSpPr>
          <p:nvPr/>
        </p:nvSpPr>
        <p:spPr>
          <a:xfrm xmlns:a="http://schemas.openxmlformats.org/drawingml/2006/main">
            <a:off x="6355080" y="2523744"/>
            <a:ext cx="457200" cy="457200"/>
          </a:xfrm>
          <a:prstGeom xmlns:a="http://schemas.openxmlformats.org/drawingml/2006/main" prst="ellipse">
            <a:avLst/>
          </a:prstGeom>
          <a:solidFill xmlns:a="http://schemas.openxmlformats.org/drawingml/2006/main">
            <a:srgbClr val="FF5A6E"/>
          </a:solidFill>
        </p:spPr>
      </p:sp>
      <p:pic>
        <p:nvPicPr>
          <p:cNvPr id="48" name="Image 0"/>
          <p:cNvPicPr>
            <a:picLocks xmlns:a="http://schemas.openxmlformats.org/drawingml/2006/main" noChangeAspect="1"/>
          </p:cNvPicPr>
          <p:nvPr/>
        </p:nvPicPr>
        <p:blipFill>
          <a:blip xmlns:r="http://schemas.openxmlformats.org/officeDocument/2006/relationships" xmlns:a="http://schemas.openxmlformats.org/drawingml/2006/main" r:embed="R7a834e85644f4511"/>
          <a:stretch xmlns:a="http://schemas.openxmlformats.org/drawingml/2006/main">
            <a:fillRect l="0" t="0" r="0" b="0"/>
          </a:stretch>
        </p:blipFill>
        <p:spPr>
          <a:xfrm xmlns:a="http://schemas.openxmlformats.org/drawingml/2006/main">
            <a:off x="6473952" y="2642616"/>
            <a:ext cx="219456" cy="219456"/>
          </a:xfrm>
          <a:prstGeom xmlns:a="http://schemas.openxmlformats.org/drawingml/2006/main" prst="rect">
            <a:avLst/>
          </a:prstGeom>
        </p:spPr>
      </p:pic>
      <p:sp>
        <p:nvSpPr>
          <p:cNvPr id="14" name="Text 11">
            <a:extLst xmlns:a="http://schemas.openxmlformats.org/drawingml/2006/main">
              <a:ext uri="{FF2B5EF4-FFF2-40B4-BE49-F238E27FC236}">
                <a16:creationId xmlns:a16="http://schemas.microsoft.com/office/drawing/2014/main" id="{7B0582B3-A045-45C2-8584-5D55701756E7}"/>
              </a:ext>
            </a:extLst>
          </p:cNvPr>
          <p:cNvSpPr>
            <a:spLocks xmlns:a="http://schemas.openxmlformats.org/drawingml/2006/main" noGrp="1"/>
          </p:cNvSpPr>
          <p:nvPr/>
        </p:nvSpPr>
        <p:spPr>
          <a:xfrm xmlns:a="http://schemas.openxmlformats.org/drawingml/2006/main">
            <a:off x="6949440" y="2496312"/>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A2138"/>
                </a:solidFill>
                <a:latin typeface="Arial"/>
                <a:ea typeface="Arial"/>
                <a:cs typeface="Arial"/>
              </a:rPr>
              <a:t>Seller onboarding → commission</a:t>
            </a:r>
            <a:endParaRPr sz="1300"/>
          </a:p>
        </p:txBody>
      </p:sp>
      <p:sp>
        <p:nvSpPr>
          <p:cNvPr id="15" name="Text 12">
            <a:extLst xmlns:a="http://schemas.openxmlformats.org/drawingml/2006/main">
              <a:ext uri="{FF2B5EF4-FFF2-40B4-BE49-F238E27FC236}">
                <a16:creationId xmlns:a16="http://schemas.microsoft.com/office/drawing/2014/main" id="{DC055C17-DEFE-4B0E-8C62-C0B7AB7ED604}"/>
              </a:ext>
            </a:extLst>
          </p:cNvPr>
          <p:cNvSpPr>
            <a:spLocks xmlns:a="http://schemas.openxmlformats.org/drawingml/2006/main" noGrp="1"/>
          </p:cNvSpPr>
          <p:nvPr/>
        </p:nvSpPr>
        <p:spPr>
          <a:xfrm xmlns:a="http://schemas.openxmlformats.org/drawingml/2006/main">
            <a:off x="6949440" y="2788920"/>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Arial"/>
                <a:ea typeface="Arial"/>
                <a:cs typeface="Arial"/>
              </a:rPr>
              <a:t>Open the vetted pool to more suppliers on take-rate.</a:t>
            </a:r>
            <a:endParaRPr sz="1050"/>
          </a:p>
        </p:txBody>
      </p:sp>
      <p:sp>
        <p:nvSpPr>
          <p:cNvPr id="16" name="Shape 13">
            <a:extLst xmlns:a="http://schemas.openxmlformats.org/drawingml/2006/main">
              <a:ext uri="{FF2B5EF4-FFF2-40B4-BE49-F238E27FC236}">
                <a16:creationId xmlns:a16="http://schemas.microsoft.com/office/drawing/2014/main" id="{36258405-0177-4064-A531-0E8EB801C877}"/>
              </a:ext>
            </a:extLst>
          </p:cNvPr>
          <p:cNvSpPr>
            <a:spLocks xmlns:a="http://schemas.openxmlformats.org/drawingml/2006/main" noGrp="1"/>
          </p:cNvSpPr>
          <p:nvPr/>
        </p:nvSpPr>
        <p:spPr>
          <a:xfrm xmlns:a="http://schemas.openxmlformats.org/drawingml/2006/main">
            <a:off x="6172200" y="3172968"/>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17" name="Shape 14">
            <a:extLst xmlns:a="http://schemas.openxmlformats.org/drawingml/2006/main">
              <a:ext uri="{FF2B5EF4-FFF2-40B4-BE49-F238E27FC236}">
                <a16:creationId xmlns:a16="http://schemas.microsoft.com/office/drawing/2014/main" id="{99DE51D7-2EEC-4742-8B27-73271B4D051B}"/>
              </a:ext>
            </a:extLst>
          </p:cNvPr>
          <p:cNvSpPr>
            <a:spLocks xmlns:a="http://schemas.openxmlformats.org/drawingml/2006/main" noGrp="1"/>
          </p:cNvSpPr>
          <p:nvPr/>
        </p:nvSpPr>
        <p:spPr>
          <a:xfrm xmlns:a="http://schemas.openxmlformats.org/drawingml/2006/main">
            <a:off x="6355080" y="3273552"/>
            <a:ext cx="457200" cy="457200"/>
          </a:xfrm>
          <a:prstGeom xmlns:a="http://schemas.openxmlformats.org/drawingml/2006/main" prst="ellipse">
            <a:avLst/>
          </a:prstGeom>
          <a:solidFill xmlns:a="http://schemas.openxmlformats.org/drawingml/2006/main">
            <a:srgbClr val="FF5A6E"/>
          </a:solidFill>
        </p:spPr>
      </p:sp>
      <p:pic>
        <p:nvPicPr>
          <p:cNvPr id="53" name="Image 1"/>
          <p:cNvPicPr>
            <a:picLocks xmlns:a="http://schemas.openxmlformats.org/drawingml/2006/main" noChangeAspect="1"/>
          </p:cNvPicPr>
          <p:nvPr/>
        </p:nvPicPr>
        <p:blipFill>
          <a:blip xmlns:r="http://schemas.openxmlformats.org/officeDocument/2006/relationships" xmlns:a="http://schemas.openxmlformats.org/drawingml/2006/main" r:embed="Rce6ee82b694547b2"/>
          <a:stretch xmlns:a="http://schemas.openxmlformats.org/drawingml/2006/main">
            <a:fillRect l="0" t="0" r="0" b="0"/>
          </a:stretch>
        </p:blipFill>
        <p:spPr>
          <a:xfrm xmlns:a="http://schemas.openxmlformats.org/drawingml/2006/main">
            <a:off x="6473952" y="3392424"/>
            <a:ext cx="219456" cy="219456"/>
          </a:xfrm>
          <a:prstGeom xmlns:a="http://schemas.openxmlformats.org/drawingml/2006/main" prst="rect">
            <a:avLst/>
          </a:prstGeom>
        </p:spPr>
      </p:pic>
      <p:sp>
        <p:nvSpPr>
          <p:cNvPr id="19" name="Text 15">
            <a:extLst xmlns:a="http://schemas.openxmlformats.org/drawingml/2006/main">
              <a:ext uri="{FF2B5EF4-FFF2-40B4-BE49-F238E27FC236}">
                <a16:creationId xmlns:a16="http://schemas.microsoft.com/office/drawing/2014/main" id="{9BC18E79-CEAB-4719-8866-2098ABAE7A46}"/>
              </a:ext>
            </a:extLst>
          </p:cNvPr>
          <p:cNvSpPr>
            <a:spLocks xmlns:a="http://schemas.openxmlformats.org/drawingml/2006/main" noGrp="1"/>
          </p:cNvSpPr>
          <p:nvPr/>
        </p:nvSpPr>
        <p:spPr>
          <a:xfrm xmlns:a="http://schemas.openxmlformats.org/drawingml/2006/main">
            <a:off x="6949440" y="3246120"/>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A2138"/>
                </a:solidFill>
                <a:latin typeface="Arial"/>
                <a:ea typeface="Arial"/>
                <a:cs typeface="Arial"/>
              </a:rPr>
              <a:t>Ads &amp; promoted placements</a:t>
            </a:r>
            <a:endParaRPr sz="1300"/>
          </a:p>
        </p:txBody>
      </p:sp>
      <p:sp>
        <p:nvSpPr>
          <p:cNvPr id="20" name="Text 16">
            <a:extLst xmlns:a="http://schemas.openxmlformats.org/drawingml/2006/main">
              <a:ext uri="{FF2B5EF4-FFF2-40B4-BE49-F238E27FC236}">
                <a16:creationId xmlns:a16="http://schemas.microsoft.com/office/drawing/2014/main" id="{9F9767E5-D80C-4219-AAAD-0EB022A903AA}"/>
              </a:ext>
            </a:extLst>
          </p:cNvPr>
          <p:cNvSpPr>
            <a:spLocks xmlns:a="http://schemas.openxmlformats.org/drawingml/2006/main" noGrp="1"/>
          </p:cNvSpPr>
          <p:nvPr/>
        </p:nvSpPr>
        <p:spPr>
          <a:xfrm xmlns:a="http://schemas.openxmlformats.org/drawingml/2006/main">
            <a:off x="6949440" y="3538728"/>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Arial"/>
                <a:ea typeface="Arial"/>
                <a:cs typeface="Arial"/>
              </a:rPr>
              <a:t>Sponsored slots once demand density is there.</a:t>
            </a:r>
            <a:endParaRPr sz="1050"/>
          </a:p>
        </p:txBody>
      </p:sp>
      <p:sp>
        <p:nvSpPr>
          <p:cNvPr id="21" name="Shape 17">
            <a:extLst xmlns:a="http://schemas.openxmlformats.org/drawingml/2006/main">
              <a:ext uri="{FF2B5EF4-FFF2-40B4-BE49-F238E27FC236}">
                <a16:creationId xmlns:a16="http://schemas.microsoft.com/office/drawing/2014/main" id="{A49C6AEA-02B2-45C8-9058-069BBACF7EC6}"/>
              </a:ext>
            </a:extLst>
          </p:cNvPr>
          <p:cNvSpPr>
            <a:spLocks xmlns:a="http://schemas.openxmlformats.org/drawingml/2006/main" noGrp="1"/>
          </p:cNvSpPr>
          <p:nvPr/>
        </p:nvSpPr>
        <p:spPr>
          <a:xfrm xmlns:a="http://schemas.openxmlformats.org/drawingml/2006/main">
            <a:off x="6172200" y="3922776"/>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2" name="Shape 18">
            <a:extLst xmlns:a="http://schemas.openxmlformats.org/drawingml/2006/main">
              <a:ext uri="{FF2B5EF4-FFF2-40B4-BE49-F238E27FC236}">
                <a16:creationId xmlns:a16="http://schemas.microsoft.com/office/drawing/2014/main" id="{36C7BDBC-B6B1-4BF7-A021-84D1B254A03D}"/>
              </a:ext>
            </a:extLst>
          </p:cNvPr>
          <p:cNvSpPr>
            <a:spLocks xmlns:a="http://schemas.openxmlformats.org/drawingml/2006/main" noGrp="1"/>
          </p:cNvSpPr>
          <p:nvPr/>
        </p:nvSpPr>
        <p:spPr>
          <a:xfrm xmlns:a="http://schemas.openxmlformats.org/drawingml/2006/main">
            <a:off x="6355080" y="4023360"/>
            <a:ext cx="457200" cy="457200"/>
          </a:xfrm>
          <a:prstGeom xmlns:a="http://schemas.openxmlformats.org/drawingml/2006/main" prst="ellipse">
            <a:avLst/>
          </a:prstGeom>
          <a:solidFill xmlns:a="http://schemas.openxmlformats.org/drawingml/2006/main">
            <a:srgbClr val="FF5A6E"/>
          </a:solidFill>
        </p:spPr>
      </p:sp>
      <p:pic>
        <p:nvPicPr>
          <p:cNvPr id="58" name="Image 2"/>
          <p:cNvPicPr>
            <a:picLocks xmlns:a="http://schemas.openxmlformats.org/drawingml/2006/main" noChangeAspect="1"/>
          </p:cNvPicPr>
          <p:nvPr/>
        </p:nvPicPr>
        <p:blipFill>
          <a:blip xmlns:r="http://schemas.openxmlformats.org/officeDocument/2006/relationships" xmlns:a="http://schemas.openxmlformats.org/drawingml/2006/main" r:embed="Rbf5560e993484f42"/>
          <a:stretch xmlns:a="http://schemas.openxmlformats.org/drawingml/2006/main">
            <a:fillRect l="0" t="0" r="0" b="0"/>
          </a:stretch>
        </p:blipFill>
        <p:spPr>
          <a:xfrm xmlns:a="http://schemas.openxmlformats.org/drawingml/2006/main">
            <a:off x="6473952" y="4142232"/>
            <a:ext cx="219456" cy="219456"/>
          </a:xfrm>
          <a:prstGeom xmlns:a="http://schemas.openxmlformats.org/drawingml/2006/main" prst="rect">
            <a:avLst/>
          </a:prstGeom>
        </p:spPr>
      </p:pic>
      <p:sp>
        <p:nvSpPr>
          <p:cNvPr id="24" name="Text 19">
            <a:extLst xmlns:a="http://schemas.openxmlformats.org/drawingml/2006/main">
              <a:ext uri="{FF2B5EF4-FFF2-40B4-BE49-F238E27FC236}">
                <a16:creationId xmlns:a16="http://schemas.microsoft.com/office/drawing/2014/main" id="{CF30684A-E6BD-49F6-8CFF-1E287E46F384}"/>
              </a:ext>
            </a:extLst>
          </p:cNvPr>
          <p:cNvSpPr>
            <a:spLocks xmlns:a="http://schemas.openxmlformats.org/drawingml/2006/main" noGrp="1"/>
          </p:cNvSpPr>
          <p:nvPr/>
        </p:nvSpPr>
        <p:spPr>
          <a:xfrm xmlns:a="http://schemas.openxmlformats.org/drawingml/2006/main">
            <a:off x="6949440" y="3995928"/>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A2138"/>
                </a:solidFill>
                <a:latin typeface="Arial"/>
                <a:ea typeface="Arial"/>
                <a:cs typeface="Arial"/>
              </a:rPr>
              <a:t>B2B wholesale</a:t>
            </a:r>
            <a:endParaRPr sz="1300"/>
          </a:p>
        </p:txBody>
      </p:sp>
      <p:sp>
        <p:nvSpPr>
          <p:cNvPr id="25" name="Text 20">
            <a:extLst xmlns:a="http://schemas.openxmlformats.org/drawingml/2006/main">
              <a:ext uri="{FF2B5EF4-FFF2-40B4-BE49-F238E27FC236}">
                <a16:creationId xmlns:a16="http://schemas.microsoft.com/office/drawing/2014/main" id="{71A35C03-1CA9-4492-A2B0-5C022383DFDF}"/>
              </a:ext>
            </a:extLst>
          </p:cNvPr>
          <p:cNvSpPr>
            <a:spLocks xmlns:a="http://schemas.openxmlformats.org/drawingml/2006/main" noGrp="1"/>
          </p:cNvSpPr>
          <p:nvPr/>
        </p:nvSpPr>
        <p:spPr>
          <a:xfrm xmlns:a="http://schemas.openxmlformats.org/drawingml/2006/main">
            <a:off x="6949440" y="4288536"/>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Arial"/>
                <a:ea typeface="Arial"/>
                <a:cs typeface="Arial"/>
              </a:rPr>
              <a:t>Bulk supply for small businesses and resellers.</a:t>
            </a:r>
            <a:endParaRPr sz="1050"/>
          </a:p>
        </p:txBody>
      </p:sp>
      <p:sp>
        <p:nvSpPr>
          <p:cNvPr id="26" name="Shape 21">
            <a:extLst xmlns:a="http://schemas.openxmlformats.org/drawingml/2006/main">
              <a:ext uri="{FF2B5EF4-FFF2-40B4-BE49-F238E27FC236}">
                <a16:creationId xmlns:a16="http://schemas.microsoft.com/office/drawing/2014/main" id="{9BD8DAA4-B88E-4663-B5A8-0CC19C8CAE13}"/>
              </a:ext>
            </a:extLst>
          </p:cNvPr>
          <p:cNvSpPr>
            <a:spLocks xmlns:a="http://schemas.openxmlformats.org/drawingml/2006/main" noGrp="1"/>
          </p:cNvSpPr>
          <p:nvPr/>
        </p:nvSpPr>
        <p:spPr>
          <a:xfrm xmlns:a="http://schemas.openxmlformats.org/drawingml/2006/main">
            <a:off x="6172200" y="4672584"/>
            <a:ext cx="5349240" cy="658368"/>
          </a:xfrm>
          <a:prstGeom xmlns:a="http://schemas.openxmlformats.org/drawingml/2006/main" prst="roundRect">
            <a:avLst>
              <a:gd name="adj" fmla="val 12500"/>
            </a:avLst>
          </a:prstGeom>
          <a:solidFill xmlns:a="http://schemas.openxmlformats.org/drawingml/2006/main">
            <a:srgbClr val="FFFFFF"/>
          </a:solidFill>
          <a:effectLst xmlns:a="http://schemas.openxmlformats.org/drawingml/2006/main">
            <a:outerShdw blurRad="114300" dist="38100" dir="5400000" sx="100000" sy="100000" kx="0" ky="0" algn="bl" rotWithShape="0">
              <a:srgbClr val="9AA3B2">
                <a:alpha val="16000"/>
              </a:srgbClr>
            </a:outerShdw>
          </a:effectLst>
        </p:spPr>
      </p:sp>
      <p:sp>
        <p:nvSpPr>
          <p:cNvPr id="27" name="Shape 22">
            <a:extLst xmlns:a="http://schemas.openxmlformats.org/drawingml/2006/main">
              <a:ext uri="{FF2B5EF4-FFF2-40B4-BE49-F238E27FC236}">
                <a16:creationId xmlns:a16="http://schemas.microsoft.com/office/drawing/2014/main" id="{34541DFC-2C11-442F-ACA0-6292CA829268}"/>
              </a:ext>
            </a:extLst>
          </p:cNvPr>
          <p:cNvSpPr>
            <a:spLocks xmlns:a="http://schemas.openxmlformats.org/drawingml/2006/main" noGrp="1"/>
          </p:cNvSpPr>
          <p:nvPr/>
        </p:nvSpPr>
        <p:spPr>
          <a:xfrm xmlns:a="http://schemas.openxmlformats.org/drawingml/2006/main">
            <a:off x="6355080" y="4773168"/>
            <a:ext cx="457200" cy="457200"/>
          </a:xfrm>
          <a:prstGeom xmlns:a="http://schemas.openxmlformats.org/drawingml/2006/main" prst="ellipse">
            <a:avLst/>
          </a:prstGeom>
          <a:solidFill xmlns:a="http://schemas.openxmlformats.org/drawingml/2006/main">
            <a:srgbClr val="FF5A6E"/>
          </a:solidFill>
        </p:spPr>
      </p:sp>
      <p:pic>
        <p:nvPicPr>
          <p:cNvPr id="63" name="Image 3"/>
          <p:cNvPicPr>
            <a:picLocks xmlns:a="http://schemas.openxmlformats.org/drawingml/2006/main" noChangeAspect="1"/>
          </p:cNvPicPr>
          <p:nvPr/>
        </p:nvPicPr>
        <p:blipFill>
          <a:blip xmlns:r="http://schemas.openxmlformats.org/officeDocument/2006/relationships" xmlns:a="http://schemas.openxmlformats.org/drawingml/2006/main" r:embed="R3c6bd9e1d6d34a22"/>
          <a:stretch xmlns:a="http://schemas.openxmlformats.org/drawingml/2006/main">
            <a:fillRect l="0" t="0" r="0" b="0"/>
          </a:stretch>
        </p:blipFill>
        <p:spPr>
          <a:xfrm xmlns:a="http://schemas.openxmlformats.org/drawingml/2006/main">
            <a:off x="6473952" y="4892040"/>
            <a:ext cx="219456" cy="219456"/>
          </a:xfrm>
          <a:prstGeom xmlns:a="http://schemas.openxmlformats.org/drawingml/2006/main" prst="rect">
            <a:avLst/>
          </a:prstGeom>
        </p:spPr>
      </p:pic>
      <p:sp>
        <p:nvSpPr>
          <p:cNvPr id="29" name="Text 23">
            <a:extLst xmlns:a="http://schemas.openxmlformats.org/drawingml/2006/main">
              <a:ext uri="{FF2B5EF4-FFF2-40B4-BE49-F238E27FC236}">
                <a16:creationId xmlns:a16="http://schemas.microsoft.com/office/drawing/2014/main" id="{42F72FB2-DFA3-4009-BDB8-115CB78FCD61}"/>
              </a:ext>
            </a:extLst>
          </p:cNvPr>
          <p:cNvSpPr>
            <a:spLocks xmlns:a="http://schemas.openxmlformats.org/drawingml/2006/main" noGrp="1"/>
          </p:cNvSpPr>
          <p:nvPr/>
        </p:nvSpPr>
        <p:spPr>
          <a:xfrm xmlns:a="http://schemas.openxmlformats.org/drawingml/2006/main">
            <a:off x="6949440" y="4745736"/>
            <a:ext cx="44348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A2138"/>
                </a:solidFill>
                <a:latin typeface="Arial"/>
                <a:ea typeface="Arial"/>
                <a:cs typeface="Arial"/>
              </a:rPr>
              <a:t>Adjacent categories</a:t>
            </a:r>
            <a:endParaRPr sz="1300"/>
          </a:p>
        </p:txBody>
      </p:sp>
      <p:sp>
        <p:nvSpPr>
          <p:cNvPr id="30" name="Text 24">
            <a:extLst xmlns:a="http://schemas.openxmlformats.org/drawingml/2006/main">
              <a:ext uri="{FF2B5EF4-FFF2-40B4-BE49-F238E27FC236}">
                <a16:creationId xmlns:a16="http://schemas.microsoft.com/office/drawing/2014/main" id="{38590939-5921-4111-8CA7-E816364B8C3D}"/>
              </a:ext>
            </a:extLst>
          </p:cNvPr>
          <p:cNvSpPr>
            <a:spLocks xmlns:a="http://schemas.openxmlformats.org/drawingml/2006/main" noGrp="1"/>
          </p:cNvSpPr>
          <p:nvPr/>
        </p:nvSpPr>
        <p:spPr>
          <a:xfrm xmlns:a="http://schemas.openxmlformats.org/drawingml/2006/main">
            <a:off x="6949440" y="5038344"/>
            <a:ext cx="44348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B7280"/>
                </a:solidFill>
                <a:latin typeface="Arial"/>
                <a:ea typeface="Arial"/>
                <a:cs typeface="Arial"/>
              </a:rPr>
              <a:t>Beauty, accessories, room decor on the same audience.</a:t>
            </a:r>
            <a:endParaRPr sz="1050"/>
          </a:p>
        </p:txBody>
      </p:sp>
      <p:sp>
        <p:nvSpPr>
          <p:cNvPr id="31" name="Text 25">
            <a:extLst xmlns:a="http://schemas.openxmlformats.org/drawingml/2006/main">
              <a:ext uri="{FF2B5EF4-FFF2-40B4-BE49-F238E27FC236}">
                <a16:creationId xmlns:a16="http://schemas.microsoft.com/office/drawing/2014/main" id="{FA58B216-06A4-4611-B465-CA9E0C61F502}"/>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6B7280"/>
                </a:solidFill>
                <a:latin typeface="Arial"/>
                <a:ea typeface="Arial"/>
                <a:cs typeface="Arial"/>
              </a:rPr>
              <a:t>SuperCheap.market  ·  working name</a:t>
            </a:r>
            <a:endParaRPr sz="900"/>
          </a:p>
        </p:txBody>
      </p:sp>
      <p:sp>
        <p:nvSpPr>
          <p:cNvPr id="32" name="Text 26">
            <a:extLst xmlns:a="http://schemas.openxmlformats.org/drawingml/2006/main">
              <a:ext uri="{FF2B5EF4-FFF2-40B4-BE49-F238E27FC236}">
                <a16:creationId xmlns:a16="http://schemas.microsoft.com/office/drawing/2014/main" id="{EDE4AC80-3F54-4E9D-85D6-CA5398301AFD}"/>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6B7280"/>
                </a:solidFill>
                <a:latin typeface="Arial"/>
                <a:ea typeface="Arial"/>
                <a:cs typeface="Arial"/>
              </a:rPr>
              <a:t>10</a:t>
            </a:r>
            <a:endParaRPr sz="900"/>
          </a:p>
        </p:txBody>
      </p:sp>
    </p:spTree>
    <p:extLst>
      <p:ext uri="{BB962C8B-B14F-4D97-AF65-F5344CB8AC3E}">
        <p14:creationId xmlns:p14="http://schemas.microsoft.com/office/powerpoint/2010/main" val="1850086570"/>
      </p:ext>
    </p:extLst>
  </p:cSld>
</p:sld>
</file>

<file path=ppt/slides/slide11.xml><?xml version="1.0" encoding="utf-8"?>
<p:sld xmlns:p="http://schemas.openxmlformats.org/presentationml/2006/main">
  <p:cSld>
    <p:bg>
      <p:bgPr>
        <a:solidFill xmlns:a="http://schemas.openxmlformats.org/drawingml/2006/main">
          <a:srgbClr val="141B34"/>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6AE1B21-C76F-4D50-8B25-793B5AE91E80}"/>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FF5A6E"/>
                </a:solidFill>
                <a:latin typeface="Arial"/>
                <a:ea typeface="Arial"/>
                <a:cs typeface="Arial"/>
              </a:rPr>
              <a:t>FOUNDER</a:t>
            </a:r>
            <a:endParaRPr sz="1200"/>
          </a:p>
        </p:txBody>
      </p:sp>
      <p:sp>
        <p:nvSpPr>
          <p:cNvPr id="3" name="Text 1">
            <a:extLst xmlns:a="http://schemas.openxmlformats.org/drawingml/2006/main">
              <a:ext uri="{FF2B5EF4-FFF2-40B4-BE49-F238E27FC236}">
                <a16:creationId xmlns:a16="http://schemas.microsoft.com/office/drawing/2014/main" id="{7ACF6D7F-7A5C-412D-962C-7C5D89D48A91}"/>
              </a:ext>
            </a:extLst>
          </p:cNvPr>
          <p:cNvSpPr>
            <a:spLocks xmlns:a="http://schemas.openxmlformats.org/drawingml/2006/main" noGrp="1"/>
          </p:cNvSpPr>
          <p:nvPr/>
        </p:nvSpPr>
        <p:spPr>
          <a:xfrm xmlns:a="http://schemas.openxmlformats.org/drawingml/2006/main">
            <a:off x="640080" y="868680"/>
            <a:ext cx="108813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lnSpc>
                <a:spcPct val="100000"/>
              </a:lnSpc>
              <a:buNone/>
            </a:pPr>
            <a:r>
              <a:rPr sz="3200" b="1">
                <a:solidFill>
                  <a:srgbClr val="FFFFFF"/>
                </a:solidFill>
                <a:latin typeface="Cambria"/>
                <a:ea typeface="Cambria"/>
                <a:cs typeface="Cambria"/>
              </a:rPr>
              <a:t>Solo founder who has built and sold this kind of company</a:t>
            </a:r>
            <a:endParaRPr sz="3200"/>
          </a:p>
        </p:txBody>
      </p:sp>
      <p:sp>
        <p:nvSpPr>
          <p:cNvPr id="4" name="Shape 2">
            <a:extLst xmlns:a="http://schemas.openxmlformats.org/drawingml/2006/main">
              <a:ext uri="{FF2B5EF4-FFF2-40B4-BE49-F238E27FC236}">
                <a16:creationId xmlns:a16="http://schemas.microsoft.com/office/drawing/2014/main" id="{DAA16FC7-E43A-47B8-8CCB-1A29B04F6DB0}"/>
              </a:ext>
            </a:extLst>
          </p:cNvPr>
          <p:cNvSpPr>
            <a:spLocks xmlns:a="http://schemas.openxmlformats.org/drawingml/2006/main" noGrp="1"/>
          </p:cNvSpPr>
          <p:nvPr/>
        </p:nvSpPr>
        <p:spPr>
          <a:xfrm xmlns:a="http://schemas.openxmlformats.org/drawingml/2006/main">
            <a:off x="585216" y="1956816"/>
            <a:ext cx="1847088" cy="1847088"/>
          </a:xfrm>
          <a:prstGeom xmlns:a="http://schemas.openxmlformats.org/drawingml/2006/main" prst="ellipse">
            <a:avLst/>
          </a:prstGeom>
          <a:solidFill xmlns:a="http://schemas.openxmlformats.org/drawingml/2006/main">
            <a:srgbClr val="FF5A6E"/>
          </a:solidFill>
        </p:spPr>
      </p:sp>
      <p:pic>
        <p:nvPicPr>
          <p:cNvPr id="39" name="Image 0"/>
          <p:cNvPicPr>
            <a:picLocks xmlns:a="http://schemas.openxmlformats.org/drawingml/2006/main" noChangeAspect="1"/>
          </p:cNvPicPr>
          <p:nvPr/>
        </p:nvPicPr>
        <p:blipFill>
          <a:blip xmlns:r="http://schemas.openxmlformats.org/officeDocument/2006/relationships" xmlns:a="http://schemas.openxmlformats.org/drawingml/2006/main" r:embed="Rdc27a2785843420f"/>
          <a:stretch xmlns:a="http://schemas.openxmlformats.org/drawingml/2006/main">
            <a:fillRect l="0" t="0" r="0" b="0"/>
          </a:stretch>
        </p:blipFill>
        <p:spPr>
          <a:xfrm xmlns:a="http://schemas.openxmlformats.org/drawingml/2006/main">
            <a:off x="640080" y="2011680"/>
            <a:ext cx="1737360" cy="1737360"/>
          </a:xfrm>
          <a:prstGeom xmlns:a="http://schemas.openxmlformats.org/drawingml/2006/main" prst="ellipse">
            <a:avLst/>
          </a:prstGeom>
        </p:spPr>
      </p:pic>
      <p:sp>
        <p:nvSpPr>
          <p:cNvPr id="6" name="Text 3">
            <a:extLst xmlns:a="http://schemas.openxmlformats.org/drawingml/2006/main">
              <a:ext uri="{FF2B5EF4-FFF2-40B4-BE49-F238E27FC236}">
                <a16:creationId xmlns:a16="http://schemas.microsoft.com/office/drawing/2014/main" id="{63E1C5A1-8941-43A2-92E1-3F6EACDCA668}"/>
              </a:ext>
            </a:extLst>
          </p:cNvPr>
          <p:cNvSpPr>
            <a:spLocks xmlns:a="http://schemas.openxmlformats.org/drawingml/2006/main" noGrp="1"/>
          </p:cNvSpPr>
          <p:nvPr/>
        </p:nvSpPr>
        <p:spPr>
          <a:xfrm xmlns:a="http://schemas.openxmlformats.org/drawingml/2006/main">
            <a:off x="2606040" y="224028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400" b="1">
                <a:solidFill>
                  <a:srgbClr val="FFFFFF"/>
                </a:solidFill>
                <a:latin typeface="Cambria"/>
                <a:ea typeface="Cambria"/>
                <a:cs typeface="Cambria"/>
              </a:rPr>
              <a:t>Aleksei Balchunas</a:t>
            </a:r>
            <a:endParaRPr sz="2400"/>
          </a:p>
        </p:txBody>
      </p:sp>
      <p:sp>
        <p:nvSpPr>
          <p:cNvPr id="7" name="Text 4">
            <a:extLst xmlns:a="http://schemas.openxmlformats.org/drawingml/2006/main">
              <a:ext uri="{FF2B5EF4-FFF2-40B4-BE49-F238E27FC236}">
                <a16:creationId xmlns:a16="http://schemas.microsoft.com/office/drawing/2014/main" id="{2C1668B6-8DBF-44AF-9EA3-52161B7BC972}"/>
              </a:ext>
            </a:extLst>
          </p:cNvPr>
          <p:cNvSpPr>
            <a:spLocks xmlns:a="http://schemas.openxmlformats.org/drawingml/2006/main" noGrp="1"/>
          </p:cNvSpPr>
          <p:nvPr/>
        </p:nvSpPr>
        <p:spPr>
          <a:xfrm xmlns:a="http://schemas.openxmlformats.org/drawingml/2006/main">
            <a:off x="2624328" y="2788920"/>
            <a:ext cx="40233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FF8494"/>
                </a:solidFill>
                <a:latin typeface="Arial"/>
                <a:ea typeface="Arial"/>
                <a:cs typeface="Arial"/>
              </a:rPr>
              <a:t>Founder · CEO / CTO</a:t>
            </a:r>
            <a:endParaRPr sz="1400"/>
          </a:p>
        </p:txBody>
      </p:sp>
      <p:sp>
        <p:nvSpPr>
          <p:cNvPr id="8" name="Text 5">
            <a:extLst xmlns:a="http://schemas.openxmlformats.org/drawingml/2006/main">
              <a:ext uri="{FF2B5EF4-FFF2-40B4-BE49-F238E27FC236}">
                <a16:creationId xmlns:a16="http://schemas.microsoft.com/office/drawing/2014/main" id="{59A88BAD-998E-4BDE-A1AE-9F6B45D38CE1}"/>
              </a:ext>
            </a:extLst>
          </p:cNvPr>
          <p:cNvSpPr>
            <a:spLocks xmlns:a="http://schemas.openxmlformats.org/drawingml/2006/main" noGrp="1"/>
          </p:cNvSpPr>
          <p:nvPr/>
        </p:nvSpPr>
        <p:spPr>
          <a:xfrm xmlns:a="http://schemas.openxmlformats.org/drawingml/2006/main">
            <a:off x="2606040" y="3200400"/>
            <a:ext cx="411480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300">
                <a:solidFill>
                  <a:srgbClr val="CBD5F0"/>
                </a:solidFill>
                <a:latin typeface="Arial"/>
                <a:ea typeface="Arial"/>
                <a:cs typeface="Arial"/>
              </a:rPr>
              <a:t>16+ years shipping consumer apps, AI/ML, social and cross-border e-commerce. Hands-on across product, engineering and growth.</a:t>
            </a:r>
            <a:endParaRPr sz="1300"/>
          </a:p>
        </p:txBody>
      </p:sp>
      <p:sp>
        <p:nvSpPr>
          <p:cNvPr id="9" name="Shape 6">
            <a:extLst xmlns:a="http://schemas.openxmlformats.org/drawingml/2006/main">
              <a:ext uri="{FF2B5EF4-FFF2-40B4-BE49-F238E27FC236}">
                <a16:creationId xmlns:a16="http://schemas.microsoft.com/office/drawing/2014/main" id="{4E7531C3-63CE-4D36-BE38-804FEA0619B5}"/>
              </a:ext>
            </a:extLst>
          </p:cNvPr>
          <p:cNvSpPr>
            <a:spLocks xmlns:a="http://schemas.openxmlformats.org/drawingml/2006/main" noGrp="1"/>
          </p:cNvSpPr>
          <p:nvPr/>
        </p:nvSpPr>
        <p:spPr>
          <a:xfrm xmlns:a="http://schemas.openxmlformats.org/drawingml/2006/main">
            <a:off x="6720840" y="2011680"/>
            <a:ext cx="4800600" cy="932688"/>
          </a:xfrm>
          <a:prstGeom xmlns:a="http://schemas.openxmlformats.org/drawingml/2006/main" prst="roundRect">
            <a:avLst>
              <a:gd name="adj" fmla="val 7843"/>
            </a:avLst>
          </a:prstGeom>
          <a:solidFill xmlns:a="http://schemas.openxmlformats.org/drawingml/2006/main">
            <a:srgbClr val="1E2747"/>
          </a:solidFill>
          <a:ln xmlns:a="http://schemas.openxmlformats.org/drawingml/2006/main" w="12700">
            <a:solidFill>
              <a:srgbClr val="31406E"/>
            </a:solidFill>
            <a:prstDash val="solid"/>
          </a:ln>
        </p:spPr>
      </p:sp>
      <p:sp>
        <p:nvSpPr>
          <p:cNvPr id="10" name="Shape 7">
            <a:extLst xmlns:a="http://schemas.openxmlformats.org/drawingml/2006/main">
              <a:ext uri="{FF2B5EF4-FFF2-40B4-BE49-F238E27FC236}">
                <a16:creationId xmlns:a16="http://schemas.microsoft.com/office/drawing/2014/main" id="{FC344FFC-E10C-4225-8FA4-43526C156738}"/>
              </a:ext>
            </a:extLst>
          </p:cNvPr>
          <p:cNvSpPr>
            <a:spLocks xmlns:a="http://schemas.openxmlformats.org/drawingml/2006/main" noGrp="1"/>
          </p:cNvSpPr>
          <p:nvPr/>
        </p:nvSpPr>
        <p:spPr>
          <a:xfrm xmlns:a="http://schemas.openxmlformats.org/drawingml/2006/main">
            <a:off x="6949440" y="2249424"/>
            <a:ext cx="457200" cy="457200"/>
          </a:xfrm>
          <a:prstGeom xmlns:a="http://schemas.openxmlformats.org/drawingml/2006/main" prst="ellipse">
            <a:avLst/>
          </a:prstGeom>
          <a:solidFill xmlns:a="http://schemas.openxmlformats.org/drawingml/2006/main">
            <a:srgbClr val="FF5A6E"/>
          </a:solidFill>
        </p:spPr>
      </p:sp>
      <p:pic>
        <p:nvPicPr>
          <p:cNvPr id="45" name="Image 1"/>
          <p:cNvPicPr>
            <a:picLocks xmlns:a="http://schemas.openxmlformats.org/drawingml/2006/main" noChangeAspect="1"/>
          </p:cNvPicPr>
          <p:nvPr/>
        </p:nvPicPr>
        <p:blipFill>
          <a:blip xmlns:r="http://schemas.openxmlformats.org/officeDocument/2006/relationships" xmlns:a="http://schemas.openxmlformats.org/drawingml/2006/main" r:embed="R12cebdb7043c4ef2"/>
          <a:stretch xmlns:a="http://schemas.openxmlformats.org/drawingml/2006/main">
            <a:fillRect l="0" t="0" r="0" b="0"/>
          </a:stretch>
        </p:blipFill>
        <p:spPr>
          <a:xfrm xmlns:a="http://schemas.openxmlformats.org/drawingml/2006/main">
            <a:off x="7068312" y="2368296"/>
            <a:ext cx="219456" cy="219456"/>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83549044-253B-442C-8CBC-C104BA2EF0F3}"/>
              </a:ext>
            </a:extLst>
          </p:cNvPr>
          <p:cNvSpPr>
            <a:spLocks xmlns:a="http://schemas.openxmlformats.org/drawingml/2006/main" noGrp="1"/>
          </p:cNvSpPr>
          <p:nvPr/>
        </p:nvSpPr>
        <p:spPr>
          <a:xfrm xmlns:a="http://schemas.openxmlformats.org/drawingml/2006/main">
            <a:off x="7543800" y="2157984"/>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FFFFF"/>
                </a:solidFill>
                <a:latin typeface="Arial"/>
                <a:ea typeface="Arial"/>
                <a:cs typeface="Arial"/>
              </a:rPr>
              <a:t>Two exits</a:t>
            </a:r>
            <a:endParaRPr sz="1400"/>
          </a:p>
        </p:txBody>
      </p:sp>
      <p:sp>
        <p:nvSpPr>
          <p:cNvPr id="13" name="Text 9">
            <a:extLst xmlns:a="http://schemas.openxmlformats.org/drawingml/2006/main">
              <a:ext uri="{FF2B5EF4-FFF2-40B4-BE49-F238E27FC236}">
                <a16:creationId xmlns:a16="http://schemas.microsoft.com/office/drawing/2014/main" id="{CC4CFE46-83C3-4D78-AF2E-C4C440046734}"/>
              </a:ext>
            </a:extLst>
          </p:cNvPr>
          <p:cNvSpPr>
            <a:spLocks xmlns:a="http://schemas.openxmlformats.org/drawingml/2006/main" noGrp="1"/>
          </p:cNvSpPr>
          <p:nvPr/>
        </p:nvSpPr>
        <p:spPr>
          <a:xfrm xmlns:a="http://schemas.openxmlformats.org/drawingml/2006/main">
            <a:off x="7543800" y="2468880"/>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CBD5F0"/>
                </a:solidFill>
                <a:latin typeface="Arial"/>
                <a:ea typeface="Arial"/>
                <a:cs typeface="Arial"/>
              </a:rPr>
              <a:t>Hypee → sold to Yandex (~$3.1M). AI Boost (~$450K).</a:t>
            </a:r>
            <a:endParaRPr sz="1100"/>
          </a:p>
        </p:txBody>
      </p:sp>
      <p:sp>
        <p:nvSpPr>
          <p:cNvPr id="14" name="Shape 10">
            <a:extLst xmlns:a="http://schemas.openxmlformats.org/drawingml/2006/main">
              <a:ext uri="{FF2B5EF4-FFF2-40B4-BE49-F238E27FC236}">
                <a16:creationId xmlns:a16="http://schemas.microsoft.com/office/drawing/2014/main" id="{157BDBF7-0404-4A82-BA8A-442046ABF0CC}"/>
              </a:ext>
            </a:extLst>
          </p:cNvPr>
          <p:cNvSpPr>
            <a:spLocks xmlns:a="http://schemas.openxmlformats.org/drawingml/2006/main" noGrp="1"/>
          </p:cNvSpPr>
          <p:nvPr/>
        </p:nvSpPr>
        <p:spPr>
          <a:xfrm xmlns:a="http://schemas.openxmlformats.org/drawingml/2006/main">
            <a:off x="6720840" y="3054096"/>
            <a:ext cx="4800600" cy="932688"/>
          </a:xfrm>
          <a:prstGeom xmlns:a="http://schemas.openxmlformats.org/drawingml/2006/main" prst="roundRect">
            <a:avLst>
              <a:gd name="adj" fmla="val 7843"/>
            </a:avLst>
          </a:prstGeom>
          <a:solidFill xmlns:a="http://schemas.openxmlformats.org/drawingml/2006/main">
            <a:srgbClr val="1E2747"/>
          </a:solidFill>
          <a:ln xmlns:a="http://schemas.openxmlformats.org/drawingml/2006/main" w="12700">
            <a:solidFill>
              <a:srgbClr val="31406E"/>
            </a:solidFill>
            <a:prstDash val="solid"/>
          </a:ln>
        </p:spPr>
      </p:sp>
      <p:sp>
        <p:nvSpPr>
          <p:cNvPr id="15" name="Shape 11">
            <a:extLst xmlns:a="http://schemas.openxmlformats.org/drawingml/2006/main">
              <a:ext uri="{FF2B5EF4-FFF2-40B4-BE49-F238E27FC236}">
                <a16:creationId xmlns:a16="http://schemas.microsoft.com/office/drawing/2014/main" id="{F61FBEEB-C7E7-451F-901B-F74192291DDB}"/>
              </a:ext>
            </a:extLst>
          </p:cNvPr>
          <p:cNvSpPr>
            <a:spLocks xmlns:a="http://schemas.openxmlformats.org/drawingml/2006/main" noGrp="1"/>
          </p:cNvSpPr>
          <p:nvPr/>
        </p:nvSpPr>
        <p:spPr>
          <a:xfrm xmlns:a="http://schemas.openxmlformats.org/drawingml/2006/main">
            <a:off x="6949440" y="3291840"/>
            <a:ext cx="457200" cy="457200"/>
          </a:xfrm>
          <a:prstGeom xmlns:a="http://schemas.openxmlformats.org/drawingml/2006/main" prst="ellipse">
            <a:avLst/>
          </a:prstGeom>
          <a:solidFill xmlns:a="http://schemas.openxmlformats.org/drawingml/2006/main">
            <a:srgbClr val="FF5A6E"/>
          </a:solidFill>
        </p:spPr>
      </p:sp>
      <p:pic>
        <p:nvPicPr>
          <p:cNvPr id="50" name="Image 2"/>
          <p:cNvPicPr>
            <a:picLocks xmlns:a="http://schemas.openxmlformats.org/drawingml/2006/main" noChangeAspect="1"/>
          </p:cNvPicPr>
          <p:nvPr/>
        </p:nvPicPr>
        <p:blipFill>
          <a:blip xmlns:r="http://schemas.openxmlformats.org/officeDocument/2006/relationships" xmlns:a="http://schemas.openxmlformats.org/drawingml/2006/main" r:embed="R441d1ce1267649ab"/>
          <a:stretch xmlns:a="http://schemas.openxmlformats.org/drawingml/2006/main">
            <a:fillRect l="0" t="0" r="0" b="0"/>
          </a:stretch>
        </p:blipFill>
        <p:spPr>
          <a:xfrm xmlns:a="http://schemas.openxmlformats.org/drawingml/2006/main">
            <a:off x="7068312" y="3410712"/>
            <a:ext cx="219456" cy="219456"/>
          </a:xfrm>
          <a:prstGeom xmlns:a="http://schemas.openxmlformats.org/drawingml/2006/main" prst="rect">
            <a:avLst/>
          </a:prstGeom>
        </p:spPr>
      </p:pic>
      <p:sp>
        <p:nvSpPr>
          <p:cNvPr id="17" name="Text 12">
            <a:extLst xmlns:a="http://schemas.openxmlformats.org/drawingml/2006/main">
              <a:ext uri="{FF2B5EF4-FFF2-40B4-BE49-F238E27FC236}">
                <a16:creationId xmlns:a16="http://schemas.microsoft.com/office/drawing/2014/main" id="{F7B57611-9F2A-4FBE-9D91-FFAB248D17D5}"/>
              </a:ext>
            </a:extLst>
          </p:cNvPr>
          <p:cNvSpPr>
            <a:spLocks xmlns:a="http://schemas.openxmlformats.org/drawingml/2006/main" noGrp="1"/>
          </p:cNvSpPr>
          <p:nvPr/>
        </p:nvSpPr>
        <p:spPr>
          <a:xfrm xmlns:a="http://schemas.openxmlformats.org/drawingml/2006/main">
            <a:off x="7543800" y="3200400"/>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FFFFF"/>
                </a:solidFill>
                <a:latin typeface="Arial"/>
                <a:ea typeface="Arial"/>
                <a:cs typeface="Arial"/>
              </a:rPr>
              <a:t>Built the AI stack himself</a:t>
            </a:r>
            <a:endParaRPr sz="1400"/>
          </a:p>
        </p:txBody>
      </p:sp>
      <p:sp>
        <p:nvSpPr>
          <p:cNvPr id="18" name="Text 13">
            <a:extLst xmlns:a="http://schemas.openxmlformats.org/drawingml/2006/main">
              <a:ext uri="{FF2B5EF4-FFF2-40B4-BE49-F238E27FC236}">
                <a16:creationId xmlns:a16="http://schemas.microsoft.com/office/drawing/2014/main" id="{F803ECD8-4BD7-4144-8A52-9C332B0DB4AA}"/>
              </a:ext>
            </a:extLst>
          </p:cNvPr>
          <p:cNvSpPr>
            <a:spLocks xmlns:a="http://schemas.openxmlformats.org/drawingml/2006/main" noGrp="1"/>
          </p:cNvSpPr>
          <p:nvPr/>
        </p:nvSpPr>
        <p:spPr>
          <a:xfrm xmlns:a="http://schemas.openxmlformats.org/drawingml/2006/main">
            <a:off x="7543800" y="3511296"/>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CBD5F0"/>
                </a:solidFill>
                <a:latin typeface="Arial"/>
                <a:ea typeface="Arial"/>
                <a:cs typeface="Arial"/>
              </a:rPr>
              <a:t>13M-SKU pipeline, embeddings search, recommender. SD image API in 2 days at AI Boost.</a:t>
            </a:r>
            <a:endParaRPr sz="1100"/>
          </a:p>
        </p:txBody>
      </p:sp>
      <p:sp>
        <p:nvSpPr>
          <p:cNvPr id="19" name="Shape 14">
            <a:extLst xmlns:a="http://schemas.openxmlformats.org/drawingml/2006/main">
              <a:ext uri="{FF2B5EF4-FFF2-40B4-BE49-F238E27FC236}">
                <a16:creationId xmlns:a16="http://schemas.microsoft.com/office/drawing/2014/main" id="{277307AE-4F55-497B-9EB2-E24F71E643A4}"/>
              </a:ext>
            </a:extLst>
          </p:cNvPr>
          <p:cNvSpPr>
            <a:spLocks xmlns:a="http://schemas.openxmlformats.org/drawingml/2006/main" noGrp="1"/>
          </p:cNvSpPr>
          <p:nvPr/>
        </p:nvSpPr>
        <p:spPr>
          <a:xfrm xmlns:a="http://schemas.openxmlformats.org/drawingml/2006/main">
            <a:off x="6720840" y="4096512"/>
            <a:ext cx="4800600" cy="932688"/>
          </a:xfrm>
          <a:prstGeom xmlns:a="http://schemas.openxmlformats.org/drawingml/2006/main" prst="roundRect">
            <a:avLst>
              <a:gd name="adj" fmla="val 7843"/>
            </a:avLst>
          </a:prstGeom>
          <a:solidFill xmlns:a="http://schemas.openxmlformats.org/drawingml/2006/main">
            <a:srgbClr val="1E2747"/>
          </a:solidFill>
          <a:ln xmlns:a="http://schemas.openxmlformats.org/drawingml/2006/main" w="12700">
            <a:solidFill>
              <a:srgbClr val="31406E"/>
            </a:solidFill>
            <a:prstDash val="solid"/>
          </a:ln>
        </p:spPr>
      </p:sp>
      <p:sp>
        <p:nvSpPr>
          <p:cNvPr id="20" name="Shape 15">
            <a:extLst xmlns:a="http://schemas.openxmlformats.org/drawingml/2006/main">
              <a:ext uri="{FF2B5EF4-FFF2-40B4-BE49-F238E27FC236}">
                <a16:creationId xmlns:a16="http://schemas.microsoft.com/office/drawing/2014/main" id="{B90ED889-DC2A-4BE7-85AA-1B29CFC0BF38}"/>
              </a:ext>
            </a:extLst>
          </p:cNvPr>
          <p:cNvSpPr>
            <a:spLocks xmlns:a="http://schemas.openxmlformats.org/drawingml/2006/main" noGrp="1"/>
          </p:cNvSpPr>
          <p:nvPr/>
        </p:nvSpPr>
        <p:spPr>
          <a:xfrm xmlns:a="http://schemas.openxmlformats.org/drawingml/2006/main">
            <a:off x="6949440" y="4334256"/>
            <a:ext cx="457200" cy="457200"/>
          </a:xfrm>
          <a:prstGeom xmlns:a="http://schemas.openxmlformats.org/drawingml/2006/main" prst="ellipse">
            <a:avLst/>
          </a:prstGeom>
          <a:solidFill xmlns:a="http://schemas.openxmlformats.org/drawingml/2006/main">
            <a:srgbClr val="FF5A6E"/>
          </a:solidFill>
        </p:spPr>
      </p:sp>
      <p:pic>
        <p:nvPicPr>
          <p:cNvPr id="55" name="Image 3"/>
          <p:cNvPicPr>
            <a:picLocks xmlns:a="http://schemas.openxmlformats.org/drawingml/2006/main" noChangeAspect="1"/>
          </p:cNvPicPr>
          <p:nvPr/>
        </p:nvPicPr>
        <p:blipFill>
          <a:blip xmlns:r="http://schemas.openxmlformats.org/officeDocument/2006/relationships" xmlns:a="http://schemas.openxmlformats.org/drawingml/2006/main" r:embed="R15d5867b49034d07"/>
          <a:stretch xmlns:a="http://schemas.openxmlformats.org/drawingml/2006/main">
            <a:fillRect l="0" t="0" r="0" b="0"/>
          </a:stretch>
        </p:blipFill>
        <p:spPr>
          <a:xfrm xmlns:a="http://schemas.openxmlformats.org/drawingml/2006/main">
            <a:off x="7068312" y="4453128"/>
            <a:ext cx="219456" cy="219456"/>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88D2CAF2-2036-435D-B4F8-A85E8EB5EB2C}"/>
              </a:ext>
            </a:extLst>
          </p:cNvPr>
          <p:cNvSpPr>
            <a:spLocks xmlns:a="http://schemas.openxmlformats.org/drawingml/2006/main" noGrp="1"/>
          </p:cNvSpPr>
          <p:nvPr/>
        </p:nvSpPr>
        <p:spPr>
          <a:xfrm xmlns:a="http://schemas.openxmlformats.org/drawingml/2006/main">
            <a:off x="7543800" y="4242816"/>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FFFFF"/>
                </a:solidFill>
                <a:latin typeface="Arial"/>
                <a:ea typeface="Arial"/>
                <a:cs typeface="Arial"/>
              </a:rPr>
              <a:t>Proven operator range</a:t>
            </a:r>
            <a:endParaRPr sz="1400"/>
          </a:p>
        </p:txBody>
      </p:sp>
      <p:sp>
        <p:nvSpPr>
          <p:cNvPr id="23" name="Text 17">
            <a:extLst xmlns:a="http://schemas.openxmlformats.org/drawingml/2006/main">
              <a:ext uri="{FF2B5EF4-FFF2-40B4-BE49-F238E27FC236}">
                <a16:creationId xmlns:a16="http://schemas.microsoft.com/office/drawing/2014/main" id="{37400866-3ECA-429D-8F53-D39B032C86BC}"/>
              </a:ext>
            </a:extLst>
          </p:cNvPr>
          <p:cNvSpPr>
            <a:spLocks xmlns:a="http://schemas.openxmlformats.org/drawingml/2006/main" noGrp="1"/>
          </p:cNvSpPr>
          <p:nvPr/>
        </p:nvSpPr>
        <p:spPr>
          <a:xfrm xmlns:a="http://schemas.openxmlformats.org/drawingml/2006/main">
            <a:off x="7543800" y="4553712"/>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CBD5F0"/>
                </a:solidFill>
                <a:latin typeface="Arial"/>
                <a:ea typeface="Arial"/>
                <a:cs typeface="Arial"/>
              </a:rPr>
              <a:t>TikTok/Meta performance, funnel analytics, scalable serverless-to-server backends.</a:t>
            </a:r>
            <a:endParaRPr sz="1100"/>
          </a:p>
        </p:txBody>
      </p:sp>
      <p:sp>
        <p:nvSpPr>
          <p:cNvPr id="24" name="Shape 18">
            <a:extLst xmlns:a="http://schemas.openxmlformats.org/drawingml/2006/main">
              <a:ext uri="{FF2B5EF4-FFF2-40B4-BE49-F238E27FC236}">
                <a16:creationId xmlns:a16="http://schemas.microsoft.com/office/drawing/2014/main" id="{4DCDCAB2-0A3E-421C-BDFB-3CD3CFA8E7F8}"/>
              </a:ext>
            </a:extLst>
          </p:cNvPr>
          <p:cNvSpPr>
            <a:spLocks xmlns:a="http://schemas.openxmlformats.org/drawingml/2006/main" noGrp="1"/>
          </p:cNvSpPr>
          <p:nvPr/>
        </p:nvSpPr>
        <p:spPr>
          <a:xfrm xmlns:a="http://schemas.openxmlformats.org/drawingml/2006/main">
            <a:off x="6720840" y="5138928"/>
            <a:ext cx="4800600" cy="932688"/>
          </a:xfrm>
          <a:prstGeom xmlns:a="http://schemas.openxmlformats.org/drawingml/2006/main" prst="roundRect">
            <a:avLst>
              <a:gd name="adj" fmla="val 7843"/>
            </a:avLst>
          </a:prstGeom>
          <a:solidFill xmlns:a="http://schemas.openxmlformats.org/drawingml/2006/main">
            <a:srgbClr val="1E2747"/>
          </a:solidFill>
          <a:ln xmlns:a="http://schemas.openxmlformats.org/drawingml/2006/main" w="12700">
            <a:solidFill>
              <a:srgbClr val="31406E"/>
            </a:solidFill>
            <a:prstDash val="solid"/>
          </a:ln>
        </p:spPr>
      </p:sp>
      <p:sp>
        <p:nvSpPr>
          <p:cNvPr id="25" name="Shape 19">
            <a:extLst xmlns:a="http://schemas.openxmlformats.org/drawingml/2006/main">
              <a:ext uri="{FF2B5EF4-FFF2-40B4-BE49-F238E27FC236}">
                <a16:creationId xmlns:a16="http://schemas.microsoft.com/office/drawing/2014/main" id="{12D4E08E-D6B0-43D2-998A-D43B6743D249}"/>
              </a:ext>
            </a:extLst>
          </p:cNvPr>
          <p:cNvSpPr>
            <a:spLocks xmlns:a="http://schemas.openxmlformats.org/drawingml/2006/main" noGrp="1"/>
          </p:cNvSpPr>
          <p:nvPr/>
        </p:nvSpPr>
        <p:spPr>
          <a:xfrm xmlns:a="http://schemas.openxmlformats.org/drawingml/2006/main">
            <a:off x="6949440" y="5376672"/>
            <a:ext cx="457200" cy="457200"/>
          </a:xfrm>
          <a:prstGeom xmlns:a="http://schemas.openxmlformats.org/drawingml/2006/main" prst="ellipse">
            <a:avLst/>
          </a:prstGeom>
          <a:solidFill xmlns:a="http://schemas.openxmlformats.org/drawingml/2006/main">
            <a:srgbClr val="FF5A6E"/>
          </a:solidFill>
        </p:spPr>
      </p:sp>
      <p:pic>
        <p:nvPicPr>
          <p:cNvPr id="60" name="Image 4"/>
          <p:cNvPicPr>
            <a:picLocks xmlns:a="http://schemas.openxmlformats.org/drawingml/2006/main" noChangeAspect="1"/>
          </p:cNvPicPr>
          <p:nvPr/>
        </p:nvPicPr>
        <p:blipFill>
          <a:blip xmlns:r="http://schemas.openxmlformats.org/officeDocument/2006/relationships" xmlns:a="http://schemas.openxmlformats.org/drawingml/2006/main" r:embed="R8d93d05c2fec450d"/>
          <a:stretch xmlns:a="http://schemas.openxmlformats.org/drawingml/2006/main">
            <a:fillRect l="0" t="0" r="0" b="0"/>
          </a:stretch>
        </p:blipFill>
        <p:spPr>
          <a:xfrm xmlns:a="http://schemas.openxmlformats.org/drawingml/2006/main">
            <a:off x="7068312" y="5495544"/>
            <a:ext cx="219456" cy="219456"/>
          </a:xfrm>
          <a:prstGeom xmlns:a="http://schemas.openxmlformats.org/drawingml/2006/main" prst="rect">
            <a:avLst/>
          </a:prstGeom>
        </p:spPr>
      </p:pic>
      <p:sp>
        <p:nvSpPr>
          <p:cNvPr id="27" name="Text 20">
            <a:extLst xmlns:a="http://schemas.openxmlformats.org/drawingml/2006/main">
              <a:ext uri="{FF2B5EF4-FFF2-40B4-BE49-F238E27FC236}">
                <a16:creationId xmlns:a16="http://schemas.microsoft.com/office/drawing/2014/main" id="{2401DA73-0634-4B91-8A76-EBFDAEA50285}"/>
              </a:ext>
            </a:extLst>
          </p:cNvPr>
          <p:cNvSpPr>
            <a:spLocks xmlns:a="http://schemas.openxmlformats.org/drawingml/2006/main" noGrp="1"/>
          </p:cNvSpPr>
          <p:nvPr/>
        </p:nvSpPr>
        <p:spPr>
          <a:xfrm xmlns:a="http://schemas.openxmlformats.org/drawingml/2006/main">
            <a:off x="7543800" y="5285232"/>
            <a:ext cx="379476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FFFFF"/>
                </a:solidFill>
                <a:latin typeface="Arial"/>
                <a:ea typeface="Arial"/>
                <a:cs typeface="Arial"/>
              </a:rPr>
              <a:t>This exact playbook</a:t>
            </a:r>
            <a:endParaRPr sz="1400"/>
          </a:p>
        </p:txBody>
      </p:sp>
      <p:sp>
        <p:nvSpPr>
          <p:cNvPr id="28" name="Text 21">
            <a:extLst xmlns:a="http://schemas.openxmlformats.org/drawingml/2006/main">
              <a:ext uri="{FF2B5EF4-FFF2-40B4-BE49-F238E27FC236}">
                <a16:creationId xmlns:a16="http://schemas.microsoft.com/office/drawing/2014/main" id="{E2FE3203-6981-444F-8499-071622D698F6}"/>
              </a:ext>
            </a:extLst>
          </p:cNvPr>
          <p:cNvSpPr>
            <a:spLocks xmlns:a="http://schemas.openxmlformats.org/drawingml/2006/main" noGrp="1"/>
          </p:cNvSpPr>
          <p:nvPr/>
        </p:nvSpPr>
        <p:spPr>
          <a:xfrm xmlns:a="http://schemas.openxmlformats.org/drawingml/2006/main">
            <a:off x="7543800" y="5596128"/>
            <a:ext cx="37947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100">
                <a:solidFill>
                  <a:srgbClr val="CBD5F0"/>
                </a:solidFill>
                <a:latin typeface="Arial"/>
                <a:ea typeface="Arial"/>
                <a:cs typeface="Arial"/>
              </a:rPr>
              <a:t>Reached top App Store rank in Brazil at AI Boost, already knows how to launch in LATAM.</a:t>
            </a:r>
            <a:endParaRPr sz="1100"/>
          </a:p>
        </p:txBody>
      </p:sp>
      <p:sp>
        <p:nvSpPr>
          <p:cNvPr id="29" name="Text 22">
            <a:extLst xmlns:a="http://schemas.openxmlformats.org/drawingml/2006/main">
              <a:ext uri="{FF2B5EF4-FFF2-40B4-BE49-F238E27FC236}">
                <a16:creationId xmlns:a16="http://schemas.microsoft.com/office/drawing/2014/main" id="{48BDE90E-EC58-403C-A101-B0AF85A81A76}"/>
              </a:ext>
            </a:extLst>
          </p:cNvPr>
          <p:cNvSpPr>
            <a:spLocks xmlns:a="http://schemas.openxmlformats.org/drawingml/2006/main" noGrp="1"/>
          </p:cNvSpPr>
          <p:nvPr/>
        </p:nvSpPr>
        <p:spPr>
          <a:xfrm xmlns:a="http://schemas.openxmlformats.org/drawingml/2006/main">
            <a:off x="640080" y="6400800"/>
            <a:ext cx="54864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a:solidFill>
                  <a:srgbClr val="9AA3B2"/>
                </a:solidFill>
                <a:latin typeface="Arial"/>
                <a:ea typeface="Arial"/>
                <a:cs typeface="Arial"/>
              </a:rPr>
              <a:t>SuperCheap.market  ·  working name</a:t>
            </a:r>
            <a:endParaRPr sz="900"/>
          </a:p>
        </p:txBody>
      </p:sp>
      <p:sp>
        <p:nvSpPr>
          <p:cNvPr id="30" name="Text 23">
            <a:extLst xmlns:a="http://schemas.openxmlformats.org/drawingml/2006/main">
              <a:ext uri="{FF2B5EF4-FFF2-40B4-BE49-F238E27FC236}">
                <a16:creationId xmlns:a16="http://schemas.microsoft.com/office/drawing/2014/main" id="{E71F71B3-3545-4858-9635-611A66BB6CB6}"/>
              </a:ext>
            </a:extLst>
          </p:cNvPr>
          <p:cNvSpPr>
            <a:spLocks xmlns:a="http://schemas.openxmlformats.org/drawingml/2006/main" noGrp="1"/>
          </p:cNvSpPr>
          <p:nvPr/>
        </p:nvSpPr>
        <p:spPr>
          <a:xfrm xmlns:a="http://schemas.openxmlformats.org/drawingml/2006/main">
            <a:off x="11155680" y="640080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a:solidFill>
                  <a:srgbClr val="9AA3B2"/>
                </a:solidFill>
                <a:latin typeface="Arial"/>
                <a:ea typeface="Arial"/>
                <a:cs typeface="Arial"/>
              </a:rPr>
              <a:t>11</a:t>
            </a:r>
            <a:endParaRPr sz="900"/>
          </a:p>
        </p:txBody>
      </p:sp>
    </p:spTree>
    <p:extLst>
      <p:ext uri="{BB962C8B-B14F-4D97-AF65-F5344CB8AC3E}">
        <p14:creationId xmlns:p14="http://schemas.microsoft.com/office/powerpoint/2010/main" val="1598664316"/>
      </p:ext>
    </p:extLst>
  </p:cSld>
</p:sld>
</file>

<file path=ppt/slides/slide12.xml><?xml version="1.0" encoding="utf-8"?>
<p:sld xmlns:p="http://schemas.openxmlformats.org/presentationml/2006/main">
  <p:cSld>
    <p:bg>
      <p:bgPr>
        <a:solidFill xmlns:a="http://schemas.openxmlformats.org/drawingml/2006/main">
          <a:srgbClr val="141B34"/>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529200FE-0343-48D9-8978-D080737AE39B}"/>
              </a:ext>
            </a:extLst>
          </p:cNvPr>
          <p:cNvSpPr>
            <a:spLocks xmlns:a="http://schemas.openxmlformats.org/drawingml/2006/main" noGrp="1"/>
          </p:cNvSpPr>
          <p:nvPr/>
        </p:nvSpPr>
        <p:spPr>
          <a:xfrm xmlns:a="http://schemas.openxmlformats.org/drawingml/2006/main">
            <a:off x="-1371600" y="4206240"/>
            <a:ext cx="4114800" cy="4114800"/>
          </a:xfrm>
          <a:prstGeom xmlns:a="http://schemas.openxmlformats.org/drawingml/2006/main" prst="ellipse">
            <a:avLst/>
          </a:prstGeom>
          <a:solidFill xmlns:a="http://schemas.openxmlformats.org/drawingml/2006/main">
            <a:srgbClr val="1E2747"/>
          </a:solidFill>
        </p:spPr>
      </p:sp>
      <p:sp>
        <p:nvSpPr>
          <p:cNvPr id="3" name="Text 1">
            <a:extLst xmlns:a="http://schemas.openxmlformats.org/drawingml/2006/main">
              <a:ext uri="{FF2B5EF4-FFF2-40B4-BE49-F238E27FC236}">
                <a16:creationId xmlns:a16="http://schemas.microsoft.com/office/drawing/2014/main" id="{BDD6871B-3AB1-42DD-AD44-CDA9E9D610C5}"/>
              </a:ext>
            </a:extLst>
          </p:cNvPr>
          <p:cNvSpPr>
            <a:spLocks xmlns:a="http://schemas.openxmlformats.org/drawingml/2006/main" noGrp="1"/>
          </p:cNvSpPr>
          <p:nvPr/>
        </p:nvSpPr>
        <p:spPr>
          <a:xfrm xmlns:a="http://schemas.openxmlformats.org/drawingml/2006/main">
            <a:off x="640080" y="502920"/>
            <a:ext cx="73152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spc="300">
                <a:solidFill>
                  <a:srgbClr val="FF5A6E"/>
                </a:solidFill>
                <a:latin typeface="Arial"/>
                <a:ea typeface="Arial"/>
                <a:cs typeface="Arial"/>
              </a:rPr>
              <a:t>THE ASK</a:t>
            </a:r>
            <a:endParaRPr sz="1200"/>
          </a:p>
        </p:txBody>
      </p:sp>
      <p:sp>
        <p:nvSpPr>
          <p:cNvPr id="4" name="Text 2">
            <a:extLst xmlns:a="http://schemas.openxmlformats.org/drawingml/2006/main">
              <a:ext uri="{FF2B5EF4-FFF2-40B4-BE49-F238E27FC236}">
                <a16:creationId xmlns:a16="http://schemas.microsoft.com/office/drawing/2014/main" id="{55275C13-5B9F-471E-AC24-B5DA00C04C4A}"/>
              </a:ext>
            </a:extLst>
          </p:cNvPr>
          <p:cNvSpPr>
            <a:spLocks xmlns:a="http://schemas.openxmlformats.org/drawingml/2006/main" noGrp="1"/>
          </p:cNvSpPr>
          <p:nvPr/>
        </p:nvSpPr>
        <p:spPr>
          <a:xfrm xmlns:a="http://schemas.openxmlformats.org/drawingml/2006/main">
            <a:off x="640080" y="868680"/>
            <a:ext cx="75895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3000" b="1">
                <a:solidFill>
                  <a:srgbClr val="FFFFFF"/>
                </a:solidFill>
                <a:latin typeface="Cambria"/>
                <a:ea typeface="Cambria"/>
                <a:cs typeface="Cambria"/>
              </a:rPr>
              <a:t>Fuel to take the category while the window is open</a:t>
            </a:r>
            <a:endParaRPr sz="3000"/>
          </a:p>
        </p:txBody>
      </p:sp>
      <p:sp>
        <p:nvSpPr>
          <p:cNvPr id="5" name="Text 3">
            <a:extLst xmlns:a="http://schemas.openxmlformats.org/drawingml/2006/main">
              <a:ext uri="{FF2B5EF4-FFF2-40B4-BE49-F238E27FC236}">
                <a16:creationId xmlns:a16="http://schemas.microsoft.com/office/drawing/2014/main" id="{913F0CE2-0E3D-4041-B9C0-AE1C50733979}"/>
              </a:ext>
            </a:extLst>
          </p:cNvPr>
          <p:cNvSpPr>
            <a:spLocks xmlns:a="http://schemas.openxmlformats.org/drawingml/2006/main" noGrp="1"/>
          </p:cNvSpPr>
          <p:nvPr/>
        </p:nvSpPr>
        <p:spPr>
          <a:xfrm xmlns:a="http://schemas.openxmlformats.org/drawingml/2006/main">
            <a:off x="640080" y="2286000"/>
            <a:ext cx="7772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FFFFFF"/>
                </a:solidFill>
                <a:latin typeface="Arial"/>
                <a:ea typeface="Arial"/>
                <a:cs typeface="Arial"/>
              </a:rPr>
              <a:t>Raising pre-seed</a:t>
            </a:r>
            <a:r>
              <a:rPr sz="1500">
                <a:solidFill>
                  <a:srgbClr val="9AA3B2"/>
                </a:solidFill>
                <a:latin typeface="Arial"/>
                <a:ea typeface="Arial"/>
                <a:cs typeface="Arial"/>
              </a:rPr>
              <a:t>   ·   open on structure: SAFE / convertible / equity</a:t>
            </a:r>
            <a:endParaRPr sz="1500"/>
          </a:p>
        </p:txBody>
      </p:sp>
      <p:sp>
        <p:nvSpPr>
          <p:cNvPr id="6" name="Text 4">
            <a:extLst xmlns:a="http://schemas.openxmlformats.org/drawingml/2006/main">
              <a:ext uri="{FF2B5EF4-FFF2-40B4-BE49-F238E27FC236}">
                <a16:creationId xmlns:a16="http://schemas.microsoft.com/office/drawing/2014/main" id="{33EAED60-A22E-4AB6-BC50-4B901F24E364}"/>
              </a:ext>
            </a:extLst>
          </p:cNvPr>
          <p:cNvSpPr>
            <a:spLocks xmlns:a="http://schemas.openxmlformats.org/drawingml/2006/main" noGrp="1"/>
          </p:cNvSpPr>
          <p:nvPr/>
        </p:nvSpPr>
        <p:spPr>
          <a:xfrm xmlns:a="http://schemas.openxmlformats.org/drawingml/2006/main">
            <a:off x="640080" y="3063240"/>
            <a:ext cx="45720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FF8494"/>
                </a:solidFill>
                <a:latin typeface="Arial"/>
                <a:ea typeface="Arial"/>
                <a:cs typeface="Arial"/>
              </a:rPr>
              <a:t>USE OF FUNDS</a:t>
            </a:r>
            <a:endParaRPr sz="1200"/>
          </a:p>
        </p:txBody>
      </p:sp>
      <p:sp>
        <p:nvSpPr>
          <p:cNvPr id="7" name="Shape 5">
            <a:extLst xmlns:a="http://schemas.openxmlformats.org/drawingml/2006/main">
              <a:ext uri="{FF2B5EF4-FFF2-40B4-BE49-F238E27FC236}">
                <a16:creationId xmlns:a16="http://schemas.microsoft.com/office/drawing/2014/main" id="{C1D8B7AC-74EB-407C-B424-561AB94A08D6}"/>
              </a:ext>
            </a:extLst>
          </p:cNvPr>
          <p:cNvSpPr>
            <a:spLocks xmlns:a="http://schemas.openxmlformats.org/drawingml/2006/main" noGrp="1"/>
          </p:cNvSpPr>
          <p:nvPr/>
        </p:nvSpPr>
        <p:spPr>
          <a:xfrm xmlns:a="http://schemas.openxmlformats.org/drawingml/2006/main">
            <a:off x="640080" y="3538728"/>
            <a:ext cx="402336" cy="402336"/>
          </a:xfrm>
          <a:prstGeom xmlns:a="http://schemas.openxmlformats.org/drawingml/2006/main" prst="ellipse">
            <a:avLst/>
          </a:prstGeom>
          <a:solidFill xmlns:a="http://schemas.openxmlformats.org/drawingml/2006/main">
            <a:srgbClr val="FF5A6E"/>
          </a:solidFill>
        </p:spPr>
      </p:sp>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64b2d9204d734995"/>
          <a:stretch xmlns:a="http://schemas.openxmlformats.org/drawingml/2006/main">
            <a:fillRect l="0" t="0" r="0" b="0"/>
          </a:stretch>
        </p:blipFill>
        <p:spPr>
          <a:xfrm xmlns:a="http://schemas.openxmlformats.org/drawingml/2006/main">
            <a:off x="749808" y="3648456"/>
            <a:ext cx="182880" cy="182880"/>
          </a:xfrm>
          <a:prstGeom xmlns:a="http://schemas.openxmlformats.org/drawingml/2006/main" prst="rect">
            <a:avLst/>
          </a:prstGeom>
        </p:spPr>
      </p:pic>
      <p:sp>
        <p:nvSpPr>
          <p:cNvPr id="9" name="Text 6">
            <a:extLst xmlns:a="http://schemas.openxmlformats.org/drawingml/2006/main">
              <a:ext uri="{FF2B5EF4-FFF2-40B4-BE49-F238E27FC236}">
                <a16:creationId xmlns:a16="http://schemas.microsoft.com/office/drawing/2014/main" id="{694C1EFC-32A4-4E76-856D-5E2123357871}"/>
              </a:ext>
            </a:extLst>
          </p:cNvPr>
          <p:cNvSpPr>
            <a:spLocks xmlns:a="http://schemas.openxmlformats.org/drawingml/2006/main" noGrp="1"/>
          </p:cNvSpPr>
          <p:nvPr/>
        </p:nvSpPr>
        <p:spPr>
          <a:xfrm xmlns:a="http://schemas.openxmlformats.org/drawingml/2006/main">
            <a:off x="1207008" y="3520440"/>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CBD5F0"/>
                </a:solidFill>
                <a:latin typeface="Arial"/>
                <a:ea typeface="Arial"/>
                <a:cs typeface="Arial"/>
              </a:rPr>
              <a:t>Build the trust layer (photo studio + refuse-at-warehouse)</a:t>
            </a:r>
            <a:endParaRPr sz="1350"/>
          </a:p>
        </p:txBody>
      </p:sp>
      <p:sp>
        <p:nvSpPr>
          <p:cNvPr id="10" name="Shape 7">
            <a:extLst xmlns:a="http://schemas.openxmlformats.org/drawingml/2006/main">
              <a:ext uri="{FF2B5EF4-FFF2-40B4-BE49-F238E27FC236}">
                <a16:creationId xmlns:a16="http://schemas.microsoft.com/office/drawing/2014/main" id="{C803C555-099D-4A4D-BD9F-A2B11BBBFFE8}"/>
              </a:ext>
            </a:extLst>
          </p:cNvPr>
          <p:cNvSpPr>
            <a:spLocks xmlns:a="http://schemas.openxmlformats.org/drawingml/2006/main" noGrp="1"/>
          </p:cNvSpPr>
          <p:nvPr/>
        </p:nvSpPr>
        <p:spPr>
          <a:xfrm xmlns:a="http://schemas.openxmlformats.org/drawingml/2006/main">
            <a:off x="640080" y="4142232"/>
            <a:ext cx="402336" cy="402336"/>
          </a:xfrm>
          <a:prstGeom xmlns:a="http://schemas.openxmlformats.org/drawingml/2006/main" prst="ellipse">
            <a:avLst/>
          </a:prstGeom>
          <a:solidFill xmlns:a="http://schemas.openxmlformats.org/drawingml/2006/main">
            <a:srgbClr val="FF5A6E"/>
          </a:solidFill>
        </p:spPr>
      </p:sp>
      <p:pic>
        <p:nvPicPr>
          <p:cNvPr id="37" name="Image 1"/>
          <p:cNvPicPr>
            <a:picLocks xmlns:a="http://schemas.openxmlformats.org/drawingml/2006/main" noChangeAspect="1"/>
          </p:cNvPicPr>
          <p:nvPr/>
        </p:nvPicPr>
        <p:blipFill>
          <a:blip xmlns:r="http://schemas.openxmlformats.org/officeDocument/2006/relationships" xmlns:a="http://schemas.openxmlformats.org/drawingml/2006/main" r:embed="R5d9e99048c6a4ed4"/>
          <a:stretch xmlns:a="http://schemas.openxmlformats.org/drawingml/2006/main">
            <a:fillRect l="0" t="0" r="0" b="0"/>
          </a:stretch>
        </p:blipFill>
        <p:spPr>
          <a:xfrm xmlns:a="http://schemas.openxmlformats.org/drawingml/2006/main">
            <a:off x="749808" y="4251960"/>
            <a:ext cx="182880" cy="182880"/>
          </a:xfrm>
          <a:prstGeom xmlns:a="http://schemas.openxmlformats.org/drawingml/2006/main" prst="rect">
            <a:avLst/>
          </a:prstGeom>
        </p:spPr>
      </p:pic>
      <p:sp>
        <p:nvSpPr>
          <p:cNvPr id="12" name="Text 8">
            <a:extLst xmlns:a="http://schemas.openxmlformats.org/drawingml/2006/main">
              <a:ext uri="{FF2B5EF4-FFF2-40B4-BE49-F238E27FC236}">
                <a16:creationId xmlns:a16="http://schemas.microsoft.com/office/drawing/2014/main" id="{2E6B175F-E280-470E-8D4C-0DB000303489}"/>
              </a:ext>
            </a:extLst>
          </p:cNvPr>
          <p:cNvSpPr>
            <a:spLocks xmlns:a="http://schemas.openxmlformats.org/drawingml/2006/main" noGrp="1"/>
          </p:cNvSpPr>
          <p:nvPr/>
        </p:nvSpPr>
        <p:spPr>
          <a:xfrm xmlns:a="http://schemas.openxmlformats.org/drawingml/2006/main">
            <a:off x="1207008" y="4123944"/>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CBD5F0"/>
                </a:solidFill>
                <a:latin typeface="Arial"/>
                <a:ea typeface="Arial"/>
                <a:cs typeface="Arial"/>
              </a:rPr>
              <a:t>Rebuild AI catalog, search &amp; recommendations, clean</a:t>
            </a:r>
            <a:endParaRPr sz="1350"/>
          </a:p>
        </p:txBody>
      </p:sp>
      <p:sp>
        <p:nvSpPr>
          <p:cNvPr id="13" name="Shape 9">
            <a:extLst xmlns:a="http://schemas.openxmlformats.org/drawingml/2006/main">
              <a:ext uri="{FF2B5EF4-FFF2-40B4-BE49-F238E27FC236}">
                <a16:creationId xmlns:a16="http://schemas.microsoft.com/office/drawing/2014/main" id="{B90F8CCC-6D80-4AEA-B6A8-26FB28C8B376}"/>
              </a:ext>
            </a:extLst>
          </p:cNvPr>
          <p:cNvSpPr>
            <a:spLocks xmlns:a="http://schemas.openxmlformats.org/drawingml/2006/main" noGrp="1"/>
          </p:cNvSpPr>
          <p:nvPr/>
        </p:nvSpPr>
        <p:spPr>
          <a:xfrm xmlns:a="http://schemas.openxmlformats.org/drawingml/2006/main">
            <a:off x="640080" y="4745736"/>
            <a:ext cx="402336" cy="402336"/>
          </a:xfrm>
          <a:prstGeom xmlns:a="http://schemas.openxmlformats.org/drawingml/2006/main" prst="ellipse">
            <a:avLst/>
          </a:prstGeom>
          <a:solidFill xmlns:a="http://schemas.openxmlformats.org/drawingml/2006/main">
            <a:srgbClr val="FF5A6E"/>
          </a:solidFill>
        </p:spPr>
      </p:sp>
      <p:pic>
        <p:nvPicPr>
          <p:cNvPr id="40" name="Image 2"/>
          <p:cNvPicPr>
            <a:picLocks xmlns:a="http://schemas.openxmlformats.org/drawingml/2006/main" noChangeAspect="1"/>
          </p:cNvPicPr>
          <p:nvPr/>
        </p:nvPicPr>
        <p:blipFill>
          <a:blip xmlns:r="http://schemas.openxmlformats.org/officeDocument/2006/relationships" xmlns:a="http://schemas.openxmlformats.org/drawingml/2006/main" r:embed="Rf6b607c4d96c4746"/>
          <a:stretch xmlns:a="http://schemas.openxmlformats.org/drawingml/2006/main">
            <a:fillRect l="0" t="0" r="0" b="0"/>
          </a:stretch>
        </p:blipFill>
        <p:spPr>
          <a:xfrm xmlns:a="http://schemas.openxmlformats.org/drawingml/2006/main">
            <a:off x="749808" y="4855464"/>
            <a:ext cx="182880" cy="18288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29765DA7-8112-480F-90E6-CBCB65FDE8F6}"/>
              </a:ext>
            </a:extLst>
          </p:cNvPr>
          <p:cNvSpPr>
            <a:spLocks xmlns:a="http://schemas.openxmlformats.org/drawingml/2006/main" noGrp="1"/>
          </p:cNvSpPr>
          <p:nvPr/>
        </p:nvSpPr>
        <p:spPr>
          <a:xfrm xmlns:a="http://schemas.openxmlformats.org/drawingml/2006/main">
            <a:off x="1207008" y="4727448"/>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CBD5F0"/>
                </a:solidFill>
                <a:latin typeface="Arial"/>
                <a:ea typeface="Arial"/>
                <a:cs typeface="Arial"/>
              </a:rPr>
              <a:t>Scale TikTok acquisition in US, Brazil, Mexico</a:t>
            </a:r>
            <a:endParaRPr sz="1350"/>
          </a:p>
        </p:txBody>
      </p:sp>
      <p:sp>
        <p:nvSpPr>
          <p:cNvPr id="16" name="Shape 11">
            <a:extLst xmlns:a="http://schemas.openxmlformats.org/drawingml/2006/main">
              <a:ext uri="{FF2B5EF4-FFF2-40B4-BE49-F238E27FC236}">
                <a16:creationId xmlns:a16="http://schemas.microsoft.com/office/drawing/2014/main" id="{13B8C011-B7AC-4762-8262-86DCEE6CA851}"/>
              </a:ext>
            </a:extLst>
          </p:cNvPr>
          <p:cNvSpPr>
            <a:spLocks xmlns:a="http://schemas.openxmlformats.org/drawingml/2006/main" noGrp="1"/>
          </p:cNvSpPr>
          <p:nvPr/>
        </p:nvSpPr>
        <p:spPr>
          <a:xfrm xmlns:a="http://schemas.openxmlformats.org/drawingml/2006/main">
            <a:off x="640080" y="5349240"/>
            <a:ext cx="402336" cy="402336"/>
          </a:xfrm>
          <a:prstGeom xmlns:a="http://schemas.openxmlformats.org/drawingml/2006/main" prst="ellipse">
            <a:avLst/>
          </a:prstGeom>
          <a:solidFill xmlns:a="http://schemas.openxmlformats.org/drawingml/2006/main">
            <a:srgbClr val="FF5A6E"/>
          </a:solidFill>
        </p:spPr>
      </p:sp>
      <p:pic>
        <p:nvPicPr>
          <p:cNvPr id="43" name="Image 3"/>
          <p:cNvPicPr>
            <a:picLocks xmlns:a="http://schemas.openxmlformats.org/drawingml/2006/main" noChangeAspect="1"/>
          </p:cNvPicPr>
          <p:nvPr/>
        </p:nvPicPr>
        <p:blipFill>
          <a:blip xmlns:r="http://schemas.openxmlformats.org/officeDocument/2006/relationships" xmlns:a="http://schemas.openxmlformats.org/drawingml/2006/main" r:embed="R80aa3e538ac04553"/>
          <a:stretch xmlns:a="http://schemas.openxmlformats.org/drawingml/2006/main">
            <a:fillRect l="0" t="0" r="0" b="0"/>
          </a:stretch>
        </p:blipFill>
        <p:spPr>
          <a:xfrm xmlns:a="http://schemas.openxmlformats.org/drawingml/2006/main">
            <a:off x="749808" y="5458968"/>
            <a:ext cx="182880" cy="18288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D375294C-9AE2-4FC7-9F57-3C5B398CC688}"/>
              </a:ext>
            </a:extLst>
          </p:cNvPr>
          <p:cNvSpPr>
            <a:spLocks xmlns:a="http://schemas.openxmlformats.org/drawingml/2006/main" noGrp="1"/>
          </p:cNvSpPr>
          <p:nvPr/>
        </p:nvSpPr>
        <p:spPr>
          <a:xfrm xmlns:a="http://schemas.openxmlformats.org/drawingml/2006/main">
            <a:off x="1207008" y="5330952"/>
            <a:ext cx="70408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a:solidFill>
                  <a:srgbClr val="CBD5F0"/>
                </a:solidFill>
                <a:latin typeface="Arial"/>
                <a:ea typeface="Arial"/>
                <a:cs typeface="Arial"/>
              </a:rPr>
              <a:t>QC and cross-border logistics</a:t>
            </a:r>
            <a:endParaRPr sz="1350"/>
          </a:p>
        </p:txBody>
      </p:sp>
      <p:sp>
        <p:nvSpPr>
          <p:cNvPr id="19" name="Shape 13">
            <a:extLst xmlns:a="http://schemas.openxmlformats.org/drawingml/2006/main">
              <a:ext uri="{FF2B5EF4-FFF2-40B4-BE49-F238E27FC236}">
                <a16:creationId xmlns:a16="http://schemas.microsoft.com/office/drawing/2014/main" id="{0AB3472F-E7AB-49AF-ABCF-A175DBD5F8D3}"/>
              </a:ext>
            </a:extLst>
          </p:cNvPr>
          <p:cNvSpPr>
            <a:spLocks xmlns:a="http://schemas.openxmlformats.org/drawingml/2006/main" noGrp="1"/>
          </p:cNvSpPr>
          <p:nvPr/>
        </p:nvSpPr>
        <p:spPr>
          <a:xfrm xmlns:a="http://schemas.openxmlformats.org/drawingml/2006/main">
            <a:off x="8549640" y="868680"/>
            <a:ext cx="2971800" cy="5074920"/>
          </a:xfrm>
          <a:prstGeom xmlns:a="http://schemas.openxmlformats.org/drawingml/2006/main" prst="roundRect">
            <a:avLst>
              <a:gd name="adj" fmla="val 3077"/>
            </a:avLst>
          </a:prstGeom>
          <a:solidFill xmlns:a="http://schemas.openxmlformats.org/drawingml/2006/main">
            <a:srgbClr val="FF5A6E"/>
          </a:solidFill>
        </p:spPr>
      </p:sp>
      <p:sp>
        <p:nvSpPr>
          <p:cNvPr id="20" name="Text 14">
            <a:extLst xmlns:a="http://schemas.openxmlformats.org/drawingml/2006/main">
              <a:ext uri="{FF2B5EF4-FFF2-40B4-BE49-F238E27FC236}">
                <a16:creationId xmlns:a16="http://schemas.microsoft.com/office/drawing/2014/main" id="{3BC4BCBC-BE58-4B9E-A18F-6B6D8C5A7834}"/>
              </a:ext>
            </a:extLst>
          </p:cNvPr>
          <p:cNvSpPr>
            <a:spLocks xmlns:a="http://schemas.openxmlformats.org/drawingml/2006/main" noGrp="1"/>
          </p:cNvSpPr>
          <p:nvPr/>
        </p:nvSpPr>
        <p:spPr>
          <a:xfrm xmlns:a="http://schemas.openxmlformats.org/drawingml/2006/main">
            <a:off x="8869680" y="1188720"/>
            <a:ext cx="23317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spc="200">
                <a:solidFill>
                  <a:srgbClr val="FFFFFF"/>
                </a:solidFill>
                <a:latin typeface="Arial"/>
                <a:ea typeface="Arial"/>
                <a:cs typeface="Arial"/>
              </a:rPr>
              <a:t>VISION</a:t>
            </a:r>
            <a:endParaRPr sz="1200"/>
          </a:p>
        </p:txBody>
      </p:sp>
      <p:sp>
        <p:nvSpPr>
          <p:cNvPr id="21" name="Text 15">
            <a:extLst xmlns:a="http://schemas.openxmlformats.org/drawingml/2006/main">
              <a:ext uri="{FF2B5EF4-FFF2-40B4-BE49-F238E27FC236}">
                <a16:creationId xmlns:a16="http://schemas.microsoft.com/office/drawing/2014/main" id="{1BAC8062-27C7-4E01-A221-A2C10ED6A396}"/>
              </a:ext>
            </a:extLst>
          </p:cNvPr>
          <p:cNvSpPr>
            <a:spLocks xmlns:a="http://schemas.openxmlformats.org/drawingml/2006/main" noGrp="1"/>
          </p:cNvSpPr>
          <p:nvPr/>
        </p:nvSpPr>
        <p:spPr>
          <a:xfrm xmlns:a="http://schemas.openxmlformats.org/drawingml/2006/main">
            <a:off x="8869680" y="1600200"/>
            <a:ext cx="2331720" cy="13716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2200" b="1">
                <a:solidFill>
                  <a:srgbClr val="FFFFFF"/>
                </a:solidFill>
                <a:latin typeface="Cambria"/>
                <a:ea typeface="Cambria"/>
                <a:cs typeface="Cambria"/>
              </a:rPr>
              <a:t>Native shopping for the feed generation</a:t>
            </a:r>
            <a:endParaRPr sz="2200"/>
          </a:p>
        </p:txBody>
      </p:sp>
      <p:sp>
        <p:nvSpPr>
          <p:cNvPr id="22" name="Text 16">
            <a:extLst xmlns:a="http://schemas.openxmlformats.org/drawingml/2006/main">
              <a:ext uri="{FF2B5EF4-FFF2-40B4-BE49-F238E27FC236}">
                <a16:creationId xmlns:a16="http://schemas.microsoft.com/office/drawing/2014/main" id="{C132513F-FF37-44FD-9DD3-322456348F73}"/>
              </a:ext>
            </a:extLst>
          </p:cNvPr>
          <p:cNvSpPr>
            <a:spLocks xmlns:a="http://schemas.openxmlformats.org/drawingml/2006/main" noGrp="1"/>
          </p:cNvSpPr>
          <p:nvPr/>
        </p:nvSpPr>
        <p:spPr>
          <a:xfrm xmlns:a="http://schemas.openxmlformats.org/drawingml/2006/main">
            <a:off x="8869680" y="2880360"/>
            <a:ext cx="2331720" cy="2743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250">
                <a:solidFill>
                  <a:srgbClr val="FFECEF"/>
                </a:solidFill>
                <a:latin typeface="Arial"/>
                <a:ea typeface="Arial"/>
                <a:cs typeface="Arial"/>
              </a:rPr>
              <a:t>Not “search for a product,” but a personal stream of trend pieces with clear prices, real photos, and safe checkout.</a:t>
            </a:r>
            <a:endParaRPr sz="1250"/>
          </a:p>
          <a:p xmlns:a="http://schemas.openxmlformats.org/drawingml/2006/main">
            <a:pPr marL="0" indent="0">
              <a:lnSpc>
                <a:spcPct val="120000"/>
              </a:lnSpc>
              <a:buNone/>
            </a:pPr>
            <a:endParaRPr sz="1250"/>
          </a:p>
          <a:p xmlns:a="http://schemas.openxmlformats.org/drawingml/2006/main">
            <a:pPr marL="0" indent="0">
              <a:lnSpc>
                <a:spcPct val="120000"/>
              </a:lnSpc>
              <a:buNone/>
            </a:pPr>
            <a:r>
              <a:rPr sz="1250">
                <a:solidFill>
                  <a:srgbClr val="FFECEF"/>
                </a:solidFill>
                <a:latin typeface="Arial"/>
                <a:ea typeface="Arial"/>
                <a:cs typeface="Arial"/>
              </a:rPr>
              <a:t>In 3-5 years: millions of young women, a proprietary trend + AI layer, deep supplier network and localized logistics.</a:t>
            </a:r>
            <a:endParaRPr sz="1250"/>
          </a:p>
        </p:txBody>
      </p:sp>
      <p:sp>
        <p:nvSpPr>
          <p:cNvPr id="23" name="Text 17">
            <a:extLst xmlns:a="http://schemas.openxmlformats.org/drawingml/2006/main">
              <a:ext uri="{FF2B5EF4-FFF2-40B4-BE49-F238E27FC236}">
                <a16:creationId xmlns:a16="http://schemas.microsoft.com/office/drawing/2014/main" id="{858A45A0-1FDD-4381-838A-84E4622785A7}"/>
              </a:ext>
            </a:extLst>
          </p:cNvPr>
          <p:cNvSpPr>
            <a:spLocks xmlns:a="http://schemas.openxmlformats.org/drawingml/2006/main" noGrp="1"/>
          </p:cNvSpPr>
          <p:nvPr/>
        </p:nvSpPr>
        <p:spPr>
          <a:xfrm xmlns:a="http://schemas.openxmlformats.org/drawingml/2006/main">
            <a:off x="640080" y="6172200"/>
            <a:ext cx="77724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FFFFFF"/>
                </a:solidFill>
                <a:latin typeface="Arial"/>
                <a:ea typeface="Arial"/>
                <a:cs typeface="Arial"/>
              </a:rPr>
              <a:t>Aleksei Balchunas     me@alekseibalchunas.com     ·     +66 82 664 5215</a:t>
            </a:r>
            <a:endParaRPr sz="1200"/>
          </a:p>
        </p:txBody>
      </p:sp>
    </p:spTree>
    <p:extLst>
      <p:ext uri="{BB962C8B-B14F-4D97-AF65-F5344CB8AC3E}">
        <p14:creationId xmlns:p14="http://schemas.microsoft.com/office/powerpoint/2010/main" val="514392671"/>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2026-08-20T05:24:57.2710000Z</dcterms:created>
  <dcterms:modified xsi:type="dcterms:W3CDTF">2026-08-20T05:24:57.2710000Z</dcterms:modified>
</coreProperties>
</file>